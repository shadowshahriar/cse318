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36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37" r:id="rId64"/>
    <p:sldId id="317" r:id="rId65"/>
    <p:sldId id="318" r:id="rId66"/>
    <p:sldId id="339" r:id="rId67"/>
    <p:sldId id="319" r:id="rId68"/>
    <p:sldId id="340" r:id="rId69"/>
    <p:sldId id="321" r:id="rId70"/>
    <p:sldId id="320" r:id="rId71"/>
    <p:sldId id="322" r:id="rId72"/>
    <p:sldId id="323" r:id="rId73"/>
    <p:sldId id="324" r:id="rId74"/>
    <p:sldId id="325" r:id="rId75"/>
    <p:sldId id="341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8" d="100"/>
          <a:sy n="78" d="100"/>
        </p:scale>
        <p:origin x="306" y="-27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tableStyles" Target="tableStyle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DF173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fld id="{81D60167-4931-47E6-BA6A-407CBD079E47}" type="slidenum">
              <a:rPr spc="-35" dirty="0"/>
              <a:t>‹#›</a:t>
            </a:fld>
            <a:endParaRPr spc="-3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DF173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fld id="{81D60167-4931-47E6-BA6A-407CBD079E47}" type="slidenum">
              <a:rPr spc="-35" dirty="0"/>
              <a:t>‹#›</a:t>
            </a:fld>
            <a:endParaRPr spc="-3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DF173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fld id="{81D60167-4931-47E6-BA6A-407CBD079E47}" type="slidenum">
              <a:rPr spc="-35" dirty="0"/>
              <a:t>‹#›</a:t>
            </a:fld>
            <a:endParaRPr spc="-3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DF173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fld id="{81D60167-4931-47E6-BA6A-407CBD079E47}" type="slidenum">
              <a:rPr spc="-35" dirty="0"/>
              <a:t>‹#›</a:t>
            </a:fld>
            <a:endParaRPr spc="-3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fld id="{81D60167-4931-47E6-BA6A-407CBD079E47}" type="slidenum">
              <a:rPr spc="-35" dirty="0"/>
              <a:t>‹#›</a:t>
            </a:fld>
            <a:endParaRPr spc="-3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7525" y="411226"/>
            <a:ext cx="8308949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DF173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953659"/>
            <a:ext cx="8220075" cy="3800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8145" y="6572137"/>
            <a:ext cx="314959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fld id="{81D60167-4931-47E6-BA6A-407CBD079E47}" type="slidenum">
              <a:rPr spc="-35" dirty="0"/>
              <a:t>‹#›</a:t>
            </a:fld>
            <a:endParaRPr spc="-3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56726" y="6495999"/>
            <a:ext cx="2089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1-</a:t>
            </a: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77885" y="560273"/>
            <a:ext cx="58102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50" dirty="0">
                <a:solidFill>
                  <a:srgbClr val="D60027"/>
                </a:solidFill>
              </a:rPr>
              <a:t>1</a:t>
            </a:r>
            <a:endParaRPr sz="8000"/>
          </a:p>
        </p:txBody>
      </p:sp>
      <p:sp>
        <p:nvSpPr>
          <p:cNvPr id="4" name="object 4"/>
          <p:cNvSpPr txBox="1"/>
          <p:nvPr/>
        </p:nvSpPr>
        <p:spPr>
          <a:xfrm>
            <a:off x="1298194" y="3490340"/>
            <a:ext cx="4989195" cy="203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DF1738"/>
                </a:solidFill>
                <a:latin typeface="Tahoma"/>
                <a:cs typeface="Tahoma"/>
              </a:rPr>
              <a:t>Systems, Roles,</a:t>
            </a:r>
            <a:r>
              <a:rPr sz="4400" spc="-4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4400" spc="-25" dirty="0">
                <a:solidFill>
                  <a:srgbClr val="DF1738"/>
                </a:solidFill>
                <a:latin typeface="Tahoma"/>
                <a:cs typeface="Tahoma"/>
              </a:rPr>
              <a:t>and </a:t>
            </a:r>
            <a:r>
              <a:rPr sz="4400" spc="-10" dirty="0">
                <a:solidFill>
                  <a:srgbClr val="DF1738"/>
                </a:solidFill>
                <a:latin typeface="Tahoma"/>
                <a:cs typeface="Tahoma"/>
              </a:rPr>
              <a:t>Development Methodologies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297889"/>
            <a:ext cx="5512435" cy="1368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1404620" algn="l"/>
                <a:tab pos="2884805" algn="l"/>
              </a:tabLst>
            </a:pPr>
            <a:r>
              <a:rPr sz="4400" dirty="0">
                <a:solidFill>
                  <a:srgbClr val="2541D6"/>
                </a:solidFill>
                <a:latin typeface="Arial MT"/>
                <a:cs typeface="Arial MT"/>
              </a:rPr>
              <a:t>S</a:t>
            </a:r>
            <a:r>
              <a:rPr sz="4400" spc="-630" dirty="0">
                <a:solidFill>
                  <a:srgbClr val="2541D6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2541D6"/>
                </a:solidFill>
                <a:latin typeface="Arial MT"/>
                <a:cs typeface="Arial MT"/>
              </a:rPr>
              <a:t>y</a:t>
            </a:r>
            <a:r>
              <a:rPr sz="4400" spc="-625" dirty="0">
                <a:solidFill>
                  <a:srgbClr val="2541D6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2541D6"/>
                </a:solidFill>
                <a:latin typeface="Arial MT"/>
                <a:cs typeface="Arial MT"/>
              </a:rPr>
              <a:t>s</a:t>
            </a:r>
            <a:r>
              <a:rPr sz="4400" spc="-625" dirty="0">
                <a:solidFill>
                  <a:srgbClr val="2541D6"/>
                </a:solidFill>
                <a:latin typeface="Arial MT"/>
                <a:cs typeface="Arial MT"/>
              </a:rPr>
              <a:t> </a:t>
            </a:r>
            <a:r>
              <a:rPr sz="4400" spc="-20" dirty="0">
                <a:solidFill>
                  <a:srgbClr val="2541D6"/>
                </a:solidFill>
                <a:latin typeface="Arial MT"/>
                <a:cs typeface="Arial MT"/>
              </a:rPr>
              <a:t>t</a:t>
            </a:r>
            <a:r>
              <a:rPr sz="4400" spc="-625" dirty="0">
                <a:solidFill>
                  <a:srgbClr val="2541D6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2541D6"/>
                </a:solidFill>
                <a:latin typeface="Arial MT"/>
                <a:cs typeface="Arial MT"/>
              </a:rPr>
              <a:t>e</a:t>
            </a:r>
            <a:r>
              <a:rPr sz="4400" spc="-630" dirty="0">
                <a:solidFill>
                  <a:srgbClr val="2541D6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2541D6"/>
                </a:solidFill>
                <a:latin typeface="Arial MT"/>
                <a:cs typeface="Arial MT"/>
              </a:rPr>
              <a:t>m</a:t>
            </a:r>
            <a:r>
              <a:rPr sz="4400" spc="-625" dirty="0">
                <a:solidFill>
                  <a:srgbClr val="2541D6"/>
                </a:solidFill>
                <a:latin typeface="Arial MT"/>
                <a:cs typeface="Arial MT"/>
              </a:rPr>
              <a:t> </a:t>
            </a:r>
            <a:r>
              <a:rPr sz="4400" spc="-50" dirty="0">
                <a:solidFill>
                  <a:srgbClr val="2541D6"/>
                </a:solidFill>
                <a:latin typeface="Arial MT"/>
                <a:cs typeface="Arial MT"/>
              </a:rPr>
              <a:t>s</a:t>
            </a:r>
            <a:r>
              <a:rPr sz="4400" dirty="0">
                <a:solidFill>
                  <a:srgbClr val="2541D6"/>
                </a:solidFill>
                <a:latin typeface="Arial MT"/>
                <a:cs typeface="Arial MT"/>
              </a:rPr>
              <a:t>	A</a:t>
            </a:r>
            <a:r>
              <a:rPr sz="4400" spc="-640" dirty="0">
                <a:solidFill>
                  <a:srgbClr val="2541D6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2541D6"/>
                </a:solidFill>
                <a:latin typeface="Arial MT"/>
                <a:cs typeface="Arial MT"/>
              </a:rPr>
              <a:t>n</a:t>
            </a:r>
            <a:r>
              <a:rPr sz="4400" spc="-630" dirty="0">
                <a:solidFill>
                  <a:srgbClr val="2541D6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2541D6"/>
                </a:solidFill>
                <a:latin typeface="Arial MT"/>
                <a:cs typeface="Arial MT"/>
              </a:rPr>
              <a:t>a</a:t>
            </a:r>
            <a:r>
              <a:rPr sz="4400" spc="-630" dirty="0">
                <a:solidFill>
                  <a:srgbClr val="2541D6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2541D6"/>
                </a:solidFill>
                <a:latin typeface="Arial MT"/>
                <a:cs typeface="Arial MT"/>
              </a:rPr>
              <a:t>l</a:t>
            </a:r>
            <a:r>
              <a:rPr sz="4400" spc="-625" dirty="0">
                <a:solidFill>
                  <a:srgbClr val="2541D6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2541D6"/>
                </a:solidFill>
                <a:latin typeface="Arial MT"/>
                <a:cs typeface="Arial MT"/>
              </a:rPr>
              <a:t>y</a:t>
            </a:r>
            <a:r>
              <a:rPr sz="4400" spc="-625" dirty="0">
                <a:solidFill>
                  <a:srgbClr val="2541D6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2541D6"/>
                </a:solidFill>
                <a:latin typeface="Arial MT"/>
                <a:cs typeface="Arial MT"/>
              </a:rPr>
              <a:t>s</a:t>
            </a:r>
            <a:r>
              <a:rPr sz="4400" spc="-625" dirty="0">
                <a:solidFill>
                  <a:srgbClr val="2541D6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2541D6"/>
                </a:solidFill>
                <a:latin typeface="Arial MT"/>
                <a:cs typeface="Arial MT"/>
              </a:rPr>
              <a:t>i</a:t>
            </a:r>
            <a:r>
              <a:rPr sz="4400" spc="-625" dirty="0">
                <a:solidFill>
                  <a:srgbClr val="2541D6"/>
                </a:solidFill>
                <a:latin typeface="Arial MT"/>
                <a:cs typeface="Arial MT"/>
              </a:rPr>
              <a:t> </a:t>
            </a:r>
            <a:r>
              <a:rPr sz="4400" spc="-50" dirty="0">
                <a:solidFill>
                  <a:srgbClr val="2541D6"/>
                </a:solidFill>
                <a:latin typeface="Arial MT"/>
                <a:cs typeface="Arial MT"/>
              </a:rPr>
              <a:t>s </a:t>
            </a:r>
            <a:r>
              <a:rPr sz="4400" spc="-30" dirty="0">
                <a:solidFill>
                  <a:srgbClr val="2541D6"/>
                </a:solidFill>
                <a:latin typeface="Arial MT"/>
                <a:cs typeface="Arial MT"/>
              </a:rPr>
              <a:t>a</a:t>
            </a:r>
            <a:r>
              <a:rPr sz="4400" spc="-625" dirty="0">
                <a:solidFill>
                  <a:srgbClr val="2541D6"/>
                </a:solidFill>
                <a:latin typeface="Arial MT"/>
                <a:cs typeface="Arial MT"/>
              </a:rPr>
              <a:t> </a:t>
            </a:r>
            <a:r>
              <a:rPr sz="4400" spc="-30" dirty="0">
                <a:solidFill>
                  <a:srgbClr val="2541D6"/>
                </a:solidFill>
                <a:latin typeface="Arial MT"/>
                <a:cs typeface="Arial MT"/>
              </a:rPr>
              <a:t>n</a:t>
            </a:r>
            <a:r>
              <a:rPr sz="4400" spc="-625" dirty="0">
                <a:solidFill>
                  <a:srgbClr val="2541D6"/>
                </a:solidFill>
                <a:latin typeface="Arial MT"/>
                <a:cs typeface="Arial MT"/>
              </a:rPr>
              <a:t> </a:t>
            </a:r>
            <a:r>
              <a:rPr sz="4400" spc="-50" dirty="0">
                <a:solidFill>
                  <a:srgbClr val="2541D6"/>
                </a:solidFill>
                <a:latin typeface="Arial MT"/>
                <a:cs typeface="Arial MT"/>
              </a:rPr>
              <a:t>d</a:t>
            </a:r>
            <a:r>
              <a:rPr sz="4400" dirty="0">
                <a:solidFill>
                  <a:srgbClr val="2541D6"/>
                </a:solidFill>
                <a:latin typeface="Arial MT"/>
                <a:cs typeface="Arial MT"/>
              </a:rPr>
              <a:t>	D</a:t>
            </a:r>
            <a:r>
              <a:rPr sz="4400" spc="-625" dirty="0">
                <a:solidFill>
                  <a:srgbClr val="2541D6"/>
                </a:solidFill>
                <a:latin typeface="Arial MT"/>
                <a:cs typeface="Arial MT"/>
              </a:rPr>
              <a:t> </a:t>
            </a:r>
            <a:r>
              <a:rPr sz="4400" spc="-30" dirty="0">
                <a:solidFill>
                  <a:srgbClr val="2541D6"/>
                </a:solidFill>
                <a:latin typeface="Arial MT"/>
                <a:cs typeface="Arial MT"/>
              </a:rPr>
              <a:t>e</a:t>
            </a:r>
            <a:r>
              <a:rPr sz="4400" spc="-630" dirty="0">
                <a:solidFill>
                  <a:srgbClr val="2541D6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2541D6"/>
                </a:solidFill>
                <a:latin typeface="Arial MT"/>
                <a:cs typeface="Arial MT"/>
              </a:rPr>
              <a:t>s</a:t>
            </a:r>
            <a:r>
              <a:rPr sz="4400" spc="-615" dirty="0">
                <a:solidFill>
                  <a:srgbClr val="2541D6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2541D6"/>
                </a:solidFill>
                <a:latin typeface="Arial MT"/>
                <a:cs typeface="Arial MT"/>
              </a:rPr>
              <a:t>i</a:t>
            </a:r>
            <a:r>
              <a:rPr sz="4400" spc="-620" dirty="0">
                <a:solidFill>
                  <a:srgbClr val="2541D6"/>
                </a:solidFill>
                <a:latin typeface="Arial MT"/>
                <a:cs typeface="Arial MT"/>
              </a:rPr>
              <a:t> </a:t>
            </a:r>
            <a:r>
              <a:rPr sz="4400" spc="-30" dirty="0">
                <a:solidFill>
                  <a:srgbClr val="2541D6"/>
                </a:solidFill>
                <a:latin typeface="Arial MT"/>
                <a:cs typeface="Arial MT"/>
              </a:rPr>
              <a:t>g</a:t>
            </a:r>
            <a:r>
              <a:rPr sz="4400" spc="-625" dirty="0">
                <a:solidFill>
                  <a:srgbClr val="2541D6"/>
                </a:solidFill>
                <a:latin typeface="Arial MT"/>
                <a:cs typeface="Arial MT"/>
              </a:rPr>
              <a:t> </a:t>
            </a:r>
            <a:r>
              <a:rPr sz="4400" spc="-50" dirty="0">
                <a:solidFill>
                  <a:srgbClr val="2541D6"/>
                </a:solidFill>
                <a:latin typeface="Arial MT"/>
                <a:cs typeface="Arial MT"/>
              </a:rPr>
              <a:t>n</a:t>
            </a:r>
            <a:endParaRPr sz="4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spc="-50" dirty="0"/>
              <a:t> </a:t>
            </a:r>
            <a:r>
              <a:rPr dirty="0"/>
              <a:t>Project</a:t>
            </a:r>
            <a:r>
              <a:rPr spc="-15" dirty="0"/>
              <a:t> </a:t>
            </a:r>
            <a:r>
              <a:rPr spc="-10" dirty="0"/>
              <a:t>Fails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249426"/>
            <a:ext cx="8171815" cy="5586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369695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Did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not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support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business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strategy</a:t>
            </a:r>
            <a:r>
              <a:rPr sz="3200" spc="-50" dirty="0">
                <a:latin typeface="Tahoma"/>
                <a:cs typeface="Tahoma"/>
              </a:rPr>
              <a:t> &amp; </a:t>
            </a:r>
            <a:r>
              <a:rPr sz="3200" spc="-10" dirty="0">
                <a:latin typeface="Tahoma"/>
                <a:cs typeface="Tahoma"/>
              </a:rPr>
              <a:t>objectives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Poor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planning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and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project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management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Failure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understand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user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requirement</a:t>
            </a:r>
            <a:endParaRPr sz="3200">
              <a:latin typeface="Tahoma"/>
              <a:cs typeface="Tahoma"/>
            </a:endParaRPr>
          </a:p>
          <a:p>
            <a:pPr marL="481965" indent="-469265">
              <a:lnSpc>
                <a:spcPct val="100000"/>
              </a:lnSpc>
              <a:spcBef>
                <a:spcPts val="770"/>
              </a:spcBef>
              <a:buChar char="•"/>
              <a:tabLst>
                <a:tab pos="481965" algn="l"/>
              </a:tabLst>
            </a:pPr>
            <a:r>
              <a:rPr sz="3200" dirty="0">
                <a:latin typeface="Tahoma"/>
                <a:cs typeface="Tahoma"/>
              </a:rPr>
              <a:t>inadequate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cost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vs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benefit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analysis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Myriad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design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defect/errors</a:t>
            </a:r>
            <a:endParaRPr sz="3200">
              <a:latin typeface="Tahoma"/>
              <a:cs typeface="Tahoma"/>
            </a:endParaRPr>
          </a:p>
          <a:p>
            <a:pPr marL="355600" marR="32766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Installation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incompatible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or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inadequate technology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7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No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adequate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control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implemented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Unstructured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and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un-</a:t>
            </a:r>
            <a:r>
              <a:rPr sz="3200" dirty="0">
                <a:latin typeface="Tahoma"/>
                <a:cs typeface="Tahoma"/>
              </a:rPr>
              <a:t>maintainable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software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40" dirty="0"/>
              <a:t> </a:t>
            </a:r>
            <a:r>
              <a:rPr dirty="0"/>
              <a:t>Bad</a:t>
            </a:r>
            <a:r>
              <a:rPr spc="-35" dirty="0"/>
              <a:t> </a:t>
            </a:r>
            <a:r>
              <a:rPr spc="-20" dirty="0"/>
              <a:t>News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250949"/>
            <a:ext cx="7176134" cy="5146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30%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of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large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IT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projects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are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b="1" spc="-10" dirty="0">
                <a:latin typeface="Tahoma"/>
                <a:cs typeface="Tahoma"/>
              </a:rPr>
              <a:t>cancelled</a:t>
            </a:r>
            <a:endParaRPr sz="28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2800" dirty="0">
                <a:latin typeface="Tahoma"/>
                <a:cs typeface="Tahoma"/>
              </a:rPr>
              <a:t>before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completion</a:t>
            </a:r>
            <a:endParaRPr sz="2800">
              <a:latin typeface="Tahoma"/>
              <a:cs typeface="Tahoma"/>
            </a:endParaRPr>
          </a:p>
          <a:p>
            <a:pPr marL="355600" marR="441325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50%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of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IT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projects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are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b="1" spc="-25" dirty="0">
                <a:latin typeface="Tahoma"/>
                <a:cs typeface="Tahoma"/>
              </a:rPr>
              <a:t>over-</a:t>
            </a:r>
            <a:r>
              <a:rPr sz="2800" b="1" dirty="0">
                <a:latin typeface="Tahoma"/>
                <a:cs typeface="Tahoma"/>
              </a:rPr>
              <a:t>budget</a:t>
            </a:r>
            <a:r>
              <a:rPr sz="2800" b="1" spc="-2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by </a:t>
            </a:r>
            <a:r>
              <a:rPr sz="2800" dirty="0">
                <a:latin typeface="Tahoma"/>
                <a:cs typeface="Tahoma"/>
              </a:rPr>
              <a:t>more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than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200%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25"/>
              </a:spcBef>
              <a:buFont typeface="Tahoma"/>
              <a:buChar char="•"/>
            </a:pP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ts val="3285"/>
              </a:lnSpc>
              <a:buChar char="•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The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majority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of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completed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projects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deliver</a:t>
            </a:r>
            <a:endParaRPr sz="2800">
              <a:latin typeface="Tahoma"/>
              <a:cs typeface="Tahoma"/>
            </a:endParaRPr>
          </a:p>
          <a:p>
            <a:pPr marL="355600">
              <a:lnSpc>
                <a:spcPts val="3465"/>
              </a:lnSpc>
            </a:pPr>
            <a:r>
              <a:rPr sz="2950" spc="-100" dirty="0">
                <a:latin typeface="Tahoma"/>
                <a:cs typeface="Tahoma"/>
              </a:rPr>
              <a:t>60%</a:t>
            </a:r>
            <a:r>
              <a:rPr sz="2950" spc="-13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or</a:t>
            </a:r>
            <a:r>
              <a:rPr sz="2950" spc="-190" dirty="0">
                <a:latin typeface="Tahoma"/>
                <a:cs typeface="Tahoma"/>
              </a:rPr>
              <a:t> </a:t>
            </a:r>
            <a:r>
              <a:rPr sz="2950" spc="-50" dirty="0">
                <a:latin typeface="Tahoma"/>
                <a:cs typeface="Tahoma"/>
              </a:rPr>
              <a:t>less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of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prescribed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functionality</a:t>
            </a:r>
            <a:endParaRPr sz="2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295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Many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delivered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information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systems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are </a:t>
            </a:r>
            <a:r>
              <a:rPr sz="2800" b="1" spc="-20" dirty="0">
                <a:latin typeface="Tahoma"/>
                <a:cs typeface="Tahoma"/>
              </a:rPr>
              <a:t>under-</a:t>
            </a:r>
            <a:r>
              <a:rPr sz="2800" b="1" dirty="0">
                <a:latin typeface="Tahoma"/>
                <a:cs typeface="Tahoma"/>
              </a:rPr>
              <a:t>used</a:t>
            </a:r>
            <a:r>
              <a:rPr sz="2800" b="1" spc="1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because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they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don’t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meet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user </a:t>
            </a:r>
            <a:r>
              <a:rPr sz="2800" dirty="0">
                <a:latin typeface="Tahoma"/>
                <a:cs typeface="Tahoma"/>
              </a:rPr>
              <a:t>needs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and/or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expectations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412749"/>
            <a:ext cx="6108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Tahoma"/>
                <a:cs typeface="Tahoma"/>
              </a:rPr>
              <a:t>Software</a:t>
            </a:r>
            <a:r>
              <a:rPr sz="4000" b="1" spc="-120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Horror</a:t>
            </a:r>
            <a:r>
              <a:rPr sz="4000" b="1" spc="-120" dirty="0">
                <a:latin typeface="Tahoma"/>
                <a:cs typeface="Tahoma"/>
              </a:rPr>
              <a:t> </a:t>
            </a:r>
            <a:r>
              <a:rPr sz="4000" b="1" spc="-10" dirty="0">
                <a:latin typeface="Tahoma"/>
                <a:cs typeface="Tahoma"/>
              </a:rPr>
              <a:t>Stories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013205"/>
            <a:ext cx="8191500" cy="579374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765"/>
              </a:spcBef>
              <a:buClr>
                <a:srgbClr val="000000"/>
              </a:buClr>
              <a:buFont typeface="Wingdings"/>
              <a:buChar char=""/>
              <a:tabLst>
                <a:tab pos="355600" algn="l"/>
              </a:tabLst>
            </a:pPr>
            <a:r>
              <a:rPr sz="2800" b="1" dirty="0">
                <a:solidFill>
                  <a:srgbClr val="FF0000"/>
                </a:solidFill>
                <a:latin typeface="Tahoma"/>
                <a:cs typeface="Tahoma"/>
              </a:rPr>
              <a:t>Bank</a:t>
            </a:r>
            <a:r>
              <a:rPr sz="2800" b="1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ahoma"/>
                <a:cs typeface="Tahoma"/>
              </a:rPr>
              <a:t>of</a:t>
            </a:r>
            <a:r>
              <a:rPr sz="2800" b="1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ahoma"/>
                <a:cs typeface="Tahoma"/>
              </a:rPr>
              <a:t>America</a:t>
            </a:r>
            <a:r>
              <a:rPr sz="2800" b="1" spc="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spent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$23,000,000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on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5- </a:t>
            </a:r>
            <a:r>
              <a:rPr sz="2800" dirty="0">
                <a:latin typeface="Tahoma"/>
                <a:cs typeface="Tahoma"/>
              </a:rPr>
              <a:t>year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project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develop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new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accounting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system. </a:t>
            </a:r>
            <a:r>
              <a:rPr sz="2800" dirty="0">
                <a:latin typeface="Tahoma"/>
                <a:cs typeface="Tahoma"/>
              </a:rPr>
              <a:t>Spent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over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$60,000,000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trying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make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new </a:t>
            </a:r>
            <a:r>
              <a:rPr sz="2800" dirty="0">
                <a:latin typeface="Tahoma"/>
                <a:cs typeface="Tahoma"/>
              </a:rPr>
              <a:t>system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work,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finally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abandoned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it.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Loss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of </a:t>
            </a:r>
            <a:r>
              <a:rPr sz="2800" dirty="0">
                <a:latin typeface="Tahoma"/>
                <a:cs typeface="Tahoma"/>
              </a:rPr>
              <a:t>business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estimated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in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excess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of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$1,000,000,000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ts val="3025"/>
              </a:lnSpc>
              <a:spcBef>
                <a:spcPts val="3360"/>
              </a:spcBef>
              <a:buClr>
                <a:srgbClr val="000000"/>
              </a:buClr>
              <a:buFont typeface="Tahoma"/>
              <a:buChar char="•"/>
              <a:tabLst>
                <a:tab pos="354965" algn="l"/>
              </a:tabLst>
            </a:pPr>
            <a:r>
              <a:rPr sz="2800" b="1" dirty="0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sz="2800" b="1" spc="-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ahoma"/>
                <a:cs typeface="Tahoma"/>
              </a:rPr>
              <a:t>B1</a:t>
            </a:r>
            <a:r>
              <a:rPr sz="2800" b="1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ahoma"/>
                <a:cs typeface="Tahoma"/>
              </a:rPr>
              <a:t>Bomber</a:t>
            </a:r>
            <a:r>
              <a:rPr sz="2800" b="1" spc="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required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an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additional</a:t>
            </a:r>
            <a:endParaRPr sz="2800">
              <a:latin typeface="Tahoma"/>
              <a:cs typeface="Tahoma"/>
            </a:endParaRPr>
          </a:p>
          <a:p>
            <a:pPr marL="355600">
              <a:lnSpc>
                <a:spcPts val="2690"/>
              </a:lnSpc>
            </a:pPr>
            <a:r>
              <a:rPr sz="2800" dirty="0">
                <a:latin typeface="Tahoma"/>
                <a:cs typeface="Tahoma"/>
              </a:rPr>
              <a:t>$1,000,000,000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improve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its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air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defense</a:t>
            </a:r>
            <a:endParaRPr sz="2800">
              <a:latin typeface="Tahoma"/>
              <a:cs typeface="Tahoma"/>
            </a:endParaRPr>
          </a:p>
          <a:p>
            <a:pPr marL="355600">
              <a:lnSpc>
                <a:spcPts val="2690"/>
              </a:lnSpc>
            </a:pPr>
            <a:r>
              <a:rPr sz="2800" dirty="0">
                <a:latin typeface="Tahoma"/>
                <a:cs typeface="Tahoma"/>
              </a:rPr>
              <a:t>software,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but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software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still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isn’t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working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to</a:t>
            </a:r>
            <a:endParaRPr sz="2800">
              <a:latin typeface="Tahoma"/>
              <a:cs typeface="Tahoma"/>
            </a:endParaRPr>
          </a:p>
          <a:p>
            <a:pPr marL="355600">
              <a:lnSpc>
                <a:spcPts val="3025"/>
              </a:lnSpc>
            </a:pPr>
            <a:r>
              <a:rPr sz="2800" spc="-10" dirty="0">
                <a:latin typeface="Tahoma"/>
                <a:cs typeface="Tahoma"/>
              </a:rPr>
              <a:t>specification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365"/>
              </a:spcBef>
              <a:buClr>
                <a:srgbClr val="000000"/>
              </a:buClr>
              <a:buFont typeface="Tahoma"/>
              <a:buChar char="•"/>
              <a:tabLst>
                <a:tab pos="354965" algn="l"/>
              </a:tabLst>
            </a:pPr>
            <a:r>
              <a:rPr sz="2800" b="1" dirty="0">
                <a:solidFill>
                  <a:srgbClr val="FF0000"/>
                </a:solidFill>
                <a:latin typeface="Tahoma"/>
                <a:cs typeface="Tahoma"/>
              </a:rPr>
              <a:t>Ariane</a:t>
            </a:r>
            <a:r>
              <a:rPr sz="2800" b="1" spc="-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ahoma"/>
                <a:cs typeface="Tahoma"/>
              </a:rPr>
              <a:t>5,</a:t>
            </a:r>
            <a:r>
              <a:rPr sz="2800" b="1" spc="-5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ahoma"/>
                <a:cs typeface="Tahoma"/>
              </a:rPr>
              <a:t>Flight</a:t>
            </a:r>
            <a:r>
              <a:rPr sz="2800" b="1" spc="-5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Tahoma"/>
                <a:cs typeface="Tahoma"/>
              </a:rPr>
              <a:t>501</a:t>
            </a:r>
            <a:endParaRPr sz="2800">
              <a:latin typeface="Tahoma"/>
              <a:cs typeface="Tahoma"/>
            </a:endParaRPr>
          </a:p>
          <a:p>
            <a:pPr marL="756285" marR="261620" lvl="1" indent="-287020">
              <a:lnSpc>
                <a:spcPts val="2300"/>
              </a:lnSpc>
              <a:spcBef>
                <a:spcPts val="565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The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loss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$500,000,000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spacecraft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was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ultimately </a:t>
            </a:r>
            <a:r>
              <a:rPr sz="2400" dirty="0">
                <a:latin typeface="Tahoma"/>
                <a:cs typeface="Tahoma"/>
              </a:rPr>
              <a:t>attributed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errors</a:t>
            </a:r>
            <a:r>
              <a:rPr sz="2400" b="1" spc="-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in</a:t>
            </a:r>
            <a:r>
              <a:rPr sz="2400" b="1" spc="-5" dirty="0">
                <a:latin typeface="Tahoma"/>
                <a:cs typeface="Tahoma"/>
              </a:rPr>
              <a:t> </a:t>
            </a:r>
            <a:r>
              <a:rPr sz="2400" b="1" spc="-10" dirty="0">
                <a:latin typeface="Tahoma"/>
                <a:cs typeface="Tahoma"/>
              </a:rPr>
              <a:t>requirements, </a:t>
            </a:r>
            <a:r>
              <a:rPr sz="2400" b="1" dirty="0">
                <a:latin typeface="Tahoma"/>
                <a:cs typeface="Tahoma"/>
              </a:rPr>
              <a:t>specifications</a:t>
            </a:r>
            <a:r>
              <a:rPr sz="2400" b="1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and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inadequate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software</a:t>
            </a:r>
            <a:r>
              <a:rPr sz="2400" b="1" spc="-70" dirty="0">
                <a:latin typeface="Tahoma"/>
                <a:cs typeface="Tahoma"/>
              </a:rPr>
              <a:t> </a:t>
            </a:r>
            <a:r>
              <a:rPr sz="2400" b="1" spc="-10" dirty="0">
                <a:latin typeface="Tahoma"/>
                <a:cs typeface="Tahoma"/>
              </a:rPr>
              <a:t>reuse practices</a:t>
            </a:r>
            <a:r>
              <a:rPr sz="2400" spc="-10" dirty="0"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304800"/>
            <a:ext cx="8458200" cy="60899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latin typeface="Tahoma"/>
                <a:cs typeface="Tahoma"/>
              </a:rPr>
              <a:t>Information</a:t>
            </a:r>
            <a:r>
              <a:rPr spc="-10" dirty="0"/>
              <a:t>—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Key</a:t>
            </a:r>
            <a:r>
              <a:rPr spc="25" dirty="0"/>
              <a:t> </a:t>
            </a:r>
            <a:r>
              <a:rPr spc="-10" dirty="0"/>
              <a:t>Resource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479245"/>
            <a:ext cx="7973695" cy="4537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330" marR="10160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6377305" algn="l"/>
              </a:tabLst>
            </a:pPr>
            <a:r>
              <a:rPr sz="4000" dirty="0">
                <a:latin typeface="Tahoma"/>
                <a:cs typeface="Tahoma"/>
              </a:rPr>
              <a:t>Fuels</a:t>
            </a:r>
            <a:r>
              <a:rPr sz="4000" spc="-30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business</a:t>
            </a:r>
            <a:r>
              <a:rPr sz="4000" spc="-30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and</a:t>
            </a:r>
            <a:r>
              <a:rPr sz="4000" spc="-45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can</a:t>
            </a:r>
            <a:r>
              <a:rPr sz="4000" spc="-30" dirty="0">
                <a:latin typeface="Tahoma"/>
                <a:cs typeface="Tahoma"/>
              </a:rPr>
              <a:t> </a:t>
            </a:r>
            <a:r>
              <a:rPr sz="4000" spc="-25" dirty="0">
                <a:latin typeface="Tahoma"/>
                <a:cs typeface="Tahoma"/>
              </a:rPr>
              <a:t>be</a:t>
            </a:r>
            <a:r>
              <a:rPr sz="4000" dirty="0">
                <a:latin typeface="Tahoma"/>
                <a:cs typeface="Tahoma"/>
              </a:rPr>
              <a:t>	</a:t>
            </a:r>
            <a:r>
              <a:rPr sz="4000" spc="-25" dirty="0">
                <a:latin typeface="Tahoma"/>
                <a:cs typeface="Tahoma"/>
              </a:rPr>
              <a:t>the 	</a:t>
            </a:r>
            <a:r>
              <a:rPr sz="4000" dirty="0">
                <a:latin typeface="Tahoma"/>
                <a:cs typeface="Tahoma"/>
              </a:rPr>
              <a:t>critical</a:t>
            </a:r>
            <a:r>
              <a:rPr sz="4000" spc="-125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factor</a:t>
            </a:r>
            <a:r>
              <a:rPr sz="4000" spc="-120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in</a:t>
            </a:r>
            <a:r>
              <a:rPr sz="4000" spc="-135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determining</a:t>
            </a:r>
            <a:r>
              <a:rPr sz="4000" b="1" spc="-10" dirty="0">
                <a:latin typeface="Tahoma"/>
                <a:cs typeface="Tahoma"/>
              </a:rPr>
              <a:t> </a:t>
            </a:r>
            <a:r>
              <a:rPr sz="4000" spc="-25" dirty="0">
                <a:latin typeface="Tahoma"/>
                <a:cs typeface="Tahoma"/>
              </a:rPr>
              <a:t>the 	</a:t>
            </a:r>
            <a:r>
              <a:rPr sz="4000" b="1" dirty="0">
                <a:latin typeface="Tahoma"/>
                <a:cs typeface="Tahoma"/>
              </a:rPr>
              <a:t>success</a:t>
            </a:r>
            <a:r>
              <a:rPr sz="4000" b="1" spc="15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or</a:t>
            </a:r>
            <a:r>
              <a:rPr sz="4000" spc="-70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failure</a:t>
            </a:r>
            <a:r>
              <a:rPr sz="4000" b="1" spc="40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of</a:t>
            </a:r>
            <a:r>
              <a:rPr sz="4000" spc="-75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a</a:t>
            </a:r>
            <a:r>
              <a:rPr sz="4000" spc="-85" dirty="0">
                <a:latin typeface="Tahoma"/>
                <a:cs typeface="Tahoma"/>
              </a:rPr>
              <a:t> </a:t>
            </a:r>
            <a:r>
              <a:rPr sz="4000" spc="-10" dirty="0">
                <a:latin typeface="Tahoma"/>
                <a:cs typeface="Tahoma"/>
              </a:rPr>
              <a:t>business</a:t>
            </a:r>
            <a:endParaRPr sz="40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65"/>
              </a:spcBef>
              <a:buChar char="•"/>
              <a:tabLst>
                <a:tab pos="355600" algn="l"/>
              </a:tabLst>
            </a:pPr>
            <a:r>
              <a:rPr sz="4000" dirty="0">
                <a:latin typeface="Tahoma"/>
                <a:cs typeface="Tahoma"/>
              </a:rPr>
              <a:t>Needs</a:t>
            </a:r>
            <a:r>
              <a:rPr sz="4000" spc="-105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to</a:t>
            </a:r>
            <a:r>
              <a:rPr sz="4000" spc="-85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be</a:t>
            </a:r>
            <a:r>
              <a:rPr sz="4000" spc="-90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managed</a:t>
            </a:r>
            <a:r>
              <a:rPr sz="4000" b="1" spc="-75" dirty="0">
                <a:latin typeface="Tahoma"/>
                <a:cs typeface="Tahoma"/>
              </a:rPr>
              <a:t> </a:t>
            </a:r>
            <a:r>
              <a:rPr sz="4000" b="1" spc="-10" dirty="0">
                <a:latin typeface="Tahoma"/>
                <a:cs typeface="Tahoma"/>
              </a:rPr>
              <a:t>correctly</a:t>
            </a:r>
            <a:endParaRPr sz="4000">
              <a:latin typeface="Tahoma"/>
              <a:cs typeface="Tahoma"/>
            </a:endParaRPr>
          </a:p>
          <a:p>
            <a:pPr marL="355600" marR="219075" indent="-343535">
              <a:lnSpc>
                <a:spcPct val="100000"/>
              </a:lnSpc>
              <a:spcBef>
                <a:spcPts val="960"/>
              </a:spcBef>
              <a:buChar char="•"/>
              <a:tabLst>
                <a:tab pos="355600" algn="l"/>
              </a:tabLst>
            </a:pPr>
            <a:r>
              <a:rPr sz="4000" dirty="0">
                <a:latin typeface="Tahoma"/>
                <a:cs typeface="Tahoma"/>
              </a:rPr>
              <a:t>Managing</a:t>
            </a:r>
            <a:r>
              <a:rPr sz="4000" spc="-165" dirty="0">
                <a:latin typeface="Tahoma"/>
                <a:cs typeface="Tahoma"/>
              </a:rPr>
              <a:t> </a:t>
            </a:r>
            <a:r>
              <a:rPr sz="4000" spc="-10" dirty="0">
                <a:latin typeface="Tahoma"/>
                <a:cs typeface="Tahoma"/>
              </a:rPr>
              <a:t>computer-generated </a:t>
            </a:r>
            <a:r>
              <a:rPr sz="4000" dirty="0">
                <a:latin typeface="Tahoma"/>
                <a:cs typeface="Tahoma"/>
              </a:rPr>
              <a:t>information</a:t>
            </a:r>
            <a:r>
              <a:rPr sz="4000" spc="-130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differs</a:t>
            </a:r>
            <a:r>
              <a:rPr sz="4000" spc="-114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from</a:t>
            </a:r>
            <a:r>
              <a:rPr sz="4000" spc="-114" dirty="0">
                <a:latin typeface="Tahoma"/>
                <a:cs typeface="Tahoma"/>
              </a:rPr>
              <a:t> </a:t>
            </a:r>
            <a:r>
              <a:rPr sz="4000" spc="-10" dirty="0">
                <a:latin typeface="Tahoma"/>
                <a:cs typeface="Tahoma"/>
              </a:rPr>
              <a:t>handling </a:t>
            </a:r>
            <a:r>
              <a:rPr sz="4000" dirty="0">
                <a:latin typeface="Tahoma"/>
                <a:cs typeface="Tahoma"/>
              </a:rPr>
              <a:t>manually</a:t>
            </a:r>
            <a:r>
              <a:rPr sz="4000" spc="-165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produced</a:t>
            </a:r>
            <a:r>
              <a:rPr sz="4000" spc="-140" dirty="0">
                <a:latin typeface="Tahoma"/>
                <a:cs typeface="Tahoma"/>
              </a:rPr>
              <a:t> </a:t>
            </a:r>
            <a:r>
              <a:rPr sz="4000" spc="-20" dirty="0">
                <a:latin typeface="Tahoma"/>
                <a:cs typeface="Tahoma"/>
              </a:rPr>
              <a:t>data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56726" y="6572198"/>
            <a:ext cx="2089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1-</a:t>
            </a:r>
            <a:r>
              <a:rPr sz="1000" spc="-50" dirty="0"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63059" y="258826"/>
            <a:ext cx="20891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Tahoma"/>
                <a:cs typeface="Tahoma"/>
              </a:rPr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848077"/>
            <a:ext cx="8176895" cy="597598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b="1" dirty="0">
                <a:solidFill>
                  <a:srgbClr val="C00000"/>
                </a:solidFill>
                <a:latin typeface="Tahoma"/>
                <a:cs typeface="Tahoma"/>
              </a:rPr>
              <a:t>What</a:t>
            </a:r>
            <a:r>
              <a:rPr sz="3200" b="1" spc="-2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C00000"/>
                </a:solidFill>
                <a:latin typeface="Tahoma"/>
                <a:cs typeface="Tahoma"/>
              </a:rPr>
              <a:t>is </a:t>
            </a:r>
            <a:r>
              <a:rPr sz="3200" b="1" spc="-10" dirty="0">
                <a:solidFill>
                  <a:srgbClr val="C00000"/>
                </a:solidFill>
                <a:latin typeface="Tahoma"/>
                <a:cs typeface="Tahoma"/>
              </a:rPr>
              <a:t>system?</a:t>
            </a:r>
            <a:endParaRPr sz="3200">
              <a:latin typeface="Tahoma"/>
              <a:cs typeface="Tahoma"/>
            </a:endParaRPr>
          </a:p>
          <a:p>
            <a:pPr marL="355600" marR="30099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A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system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is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group</a:t>
            </a:r>
            <a:r>
              <a:rPr sz="3200" b="1" spc="-35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of</a:t>
            </a:r>
            <a:r>
              <a:rPr sz="3200" b="1" spc="-5" dirty="0">
                <a:latin typeface="Tahoma"/>
                <a:cs typeface="Tahoma"/>
              </a:rPr>
              <a:t> </a:t>
            </a:r>
            <a:r>
              <a:rPr sz="3200" b="1" spc="-10" dirty="0">
                <a:latin typeface="Tahoma"/>
                <a:cs typeface="Tahoma"/>
              </a:rPr>
              <a:t>interrelated </a:t>
            </a:r>
            <a:r>
              <a:rPr sz="3200" b="1" dirty="0">
                <a:latin typeface="Tahoma"/>
                <a:cs typeface="Tahoma"/>
              </a:rPr>
              <a:t>components</a:t>
            </a:r>
            <a:r>
              <a:rPr sz="3200" b="1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that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function</a:t>
            </a:r>
            <a:r>
              <a:rPr sz="3200" b="1" spc="-45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together</a:t>
            </a:r>
            <a:r>
              <a:rPr sz="3200" b="1" spc="3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to </a:t>
            </a:r>
            <a:r>
              <a:rPr sz="3200" dirty="0">
                <a:latin typeface="Tahoma"/>
                <a:cs typeface="Tahoma"/>
              </a:rPr>
              <a:t>achieve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desired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result.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dirty="0">
                <a:solidFill>
                  <a:srgbClr val="C00000"/>
                </a:solidFill>
                <a:latin typeface="Tahoma"/>
                <a:cs typeface="Tahoma"/>
              </a:rPr>
              <a:t>What</a:t>
            </a:r>
            <a:r>
              <a:rPr sz="3200" b="1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C00000"/>
                </a:solidFill>
                <a:latin typeface="Tahoma"/>
                <a:cs typeface="Tahoma"/>
              </a:rPr>
              <a:t>is</a:t>
            </a:r>
            <a:r>
              <a:rPr sz="3200" b="1" spc="-1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C00000"/>
                </a:solidFill>
                <a:latin typeface="Tahoma"/>
                <a:cs typeface="Tahoma"/>
              </a:rPr>
              <a:t>information</a:t>
            </a:r>
            <a:r>
              <a:rPr sz="3200" b="1" spc="-2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C00000"/>
                </a:solidFill>
                <a:latin typeface="Tahoma"/>
                <a:cs typeface="Tahoma"/>
              </a:rPr>
              <a:t>system?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ahoma"/>
                <a:cs typeface="Tahoma"/>
              </a:rPr>
              <a:t>An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IS</a:t>
            </a:r>
            <a:r>
              <a:rPr sz="3200" b="1" spc="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is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an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arrangement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of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ts val="4004"/>
              </a:lnSpc>
              <a:spcBef>
                <a:spcPts val="620"/>
              </a:spcBef>
              <a:buSzPct val="95522"/>
              <a:buFont typeface="Tahoma"/>
              <a:buChar char="•"/>
              <a:tabLst>
                <a:tab pos="354965" algn="l"/>
              </a:tabLst>
            </a:pPr>
            <a:r>
              <a:rPr sz="3350" b="1" spc="-80" dirty="0">
                <a:latin typeface="Tahoma"/>
                <a:cs typeface="Tahoma"/>
              </a:rPr>
              <a:t>people,</a:t>
            </a:r>
            <a:r>
              <a:rPr sz="3350" b="1" spc="-170" dirty="0">
                <a:latin typeface="Tahoma"/>
                <a:cs typeface="Tahoma"/>
              </a:rPr>
              <a:t> </a:t>
            </a:r>
            <a:r>
              <a:rPr sz="3350" b="1" spc="-40" dirty="0">
                <a:latin typeface="Tahoma"/>
                <a:cs typeface="Tahoma"/>
              </a:rPr>
              <a:t>data</a:t>
            </a:r>
            <a:r>
              <a:rPr sz="3200" spc="-40" dirty="0">
                <a:latin typeface="Tahoma"/>
                <a:cs typeface="Tahoma"/>
              </a:rPr>
              <a:t>,</a:t>
            </a:r>
            <a:r>
              <a:rPr sz="3200" spc="-175" dirty="0">
                <a:latin typeface="Tahoma"/>
                <a:cs typeface="Tahoma"/>
              </a:rPr>
              <a:t> </a:t>
            </a:r>
            <a:r>
              <a:rPr sz="3350" b="1" spc="-70" dirty="0">
                <a:latin typeface="Tahoma"/>
                <a:cs typeface="Tahoma"/>
              </a:rPr>
              <a:t>processes</a:t>
            </a:r>
            <a:r>
              <a:rPr sz="3200" spc="-70" dirty="0">
                <a:latin typeface="Tahoma"/>
                <a:cs typeface="Tahoma"/>
              </a:rPr>
              <a:t>,</a:t>
            </a:r>
            <a:r>
              <a:rPr sz="3200" spc="-15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and</a:t>
            </a:r>
            <a:endParaRPr sz="3200">
              <a:latin typeface="Tahoma"/>
              <a:cs typeface="Tahoma"/>
            </a:endParaRPr>
          </a:p>
          <a:p>
            <a:pPr marL="355600">
              <a:lnSpc>
                <a:spcPts val="3825"/>
              </a:lnSpc>
            </a:pPr>
            <a:r>
              <a:rPr sz="3200" b="1" dirty="0">
                <a:latin typeface="Tahoma"/>
                <a:cs typeface="Tahoma"/>
              </a:rPr>
              <a:t>information</a:t>
            </a:r>
            <a:r>
              <a:rPr sz="3200" b="1" spc="-60" dirty="0">
                <a:latin typeface="Tahoma"/>
                <a:cs typeface="Tahoma"/>
              </a:rPr>
              <a:t> </a:t>
            </a:r>
            <a:r>
              <a:rPr sz="3200" b="1" spc="-10" dirty="0">
                <a:latin typeface="Tahoma"/>
                <a:cs typeface="Tahoma"/>
              </a:rPr>
              <a:t>technology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ahoma"/>
                <a:cs typeface="Tahoma"/>
              </a:rPr>
              <a:t>that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interact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collect,</a:t>
            </a:r>
            <a:r>
              <a:rPr sz="3200" b="1" spc="-75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process,</a:t>
            </a:r>
            <a:r>
              <a:rPr sz="3200" b="1" spc="-45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store</a:t>
            </a:r>
            <a:r>
              <a:rPr sz="3200" dirty="0">
                <a:latin typeface="Tahoma"/>
                <a:cs typeface="Tahoma"/>
              </a:rPr>
              <a:t>,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and </a:t>
            </a:r>
            <a:r>
              <a:rPr sz="3200" b="1" dirty="0">
                <a:latin typeface="Tahoma"/>
                <a:cs typeface="Tahoma"/>
              </a:rPr>
              <a:t>provide</a:t>
            </a:r>
            <a:r>
              <a:rPr sz="3200" b="1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as</a:t>
            </a:r>
            <a:r>
              <a:rPr sz="3200" spc="-9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output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information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needed </a:t>
            </a:r>
            <a:r>
              <a:rPr sz="3200" dirty="0">
                <a:latin typeface="Tahoma"/>
                <a:cs typeface="Tahoma"/>
              </a:rPr>
              <a:t>to support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10" dirty="0">
                <a:latin typeface="Tahoma"/>
                <a:cs typeface="Tahoma"/>
              </a:rPr>
              <a:t>organization.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49510"/>
            <a:ext cx="8404225" cy="5579745"/>
          </a:xfrm>
          <a:prstGeom prst="rect">
            <a:avLst/>
          </a:prstGeom>
        </p:spPr>
        <p:txBody>
          <a:bodyPr vert="horz" wrap="square" lIns="0" tIns="274955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2165"/>
              </a:spcBef>
            </a:pPr>
            <a:r>
              <a:rPr sz="4000" b="1" dirty="0">
                <a:solidFill>
                  <a:srgbClr val="DF1738"/>
                </a:solidFill>
                <a:latin typeface="Tahoma"/>
                <a:cs typeface="Tahoma"/>
              </a:rPr>
              <a:t>Information</a:t>
            </a:r>
            <a:r>
              <a:rPr sz="4000" b="1" spc="-15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4000" b="1" dirty="0">
                <a:solidFill>
                  <a:srgbClr val="DF1738"/>
                </a:solidFill>
                <a:latin typeface="Tahoma"/>
                <a:cs typeface="Tahoma"/>
              </a:rPr>
              <a:t>System</a:t>
            </a:r>
            <a:r>
              <a:rPr sz="4000" b="1" spc="-19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4000" b="1" spc="-10" dirty="0">
                <a:solidFill>
                  <a:srgbClr val="DF1738"/>
                </a:solidFill>
                <a:latin typeface="Tahoma"/>
                <a:cs typeface="Tahoma"/>
              </a:rPr>
              <a:t>(cont.)</a:t>
            </a:r>
            <a:endParaRPr sz="4000">
              <a:latin typeface="Tahoma"/>
              <a:cs typeface="Tahoma"/>
            </a:endParaRPr>
          </a:p>
          <a:p>
            <a:pPr marL="355600" marR="5080" indent="-342900">
              <a:lnSpc>
                <a:spcPct val="99600"/>
              </a:lnSpc>
              <a:spcBef>
                <a:spcPts val="2220"/>
              </a:spcBef>
              <a:buSzPct val="95238"/>
              <a:buChar char="•"/>
              <a:tabLst>
                <a:tab pos="355600" algn="l"/>
                <a:tab pos="5260340" algn="l"/>
              </a:tabLst>
            </a:pPr>
            <a:r>
              <a:rPr sz="4200" spc="-90" dirty="0">
                <a:latin typeface="Tahoma"/>
                <a:cs typeface="Tahoma"/>
              </a:rPr>
              <a:t>Information</a:t>
            </a:r>
            <a:r>
              <a:rPr sz="4200" spc="-160" dirty="0">
                <a:latin typeface="Tahoma"/>
                <a:cs typeface="Tahoma"/>
              </a:rPr>
              <a:t> </a:t>
            </a:r>
            <a:r>
              <a:rPr sz="4200" spc="-10" dirty="0">
                <a:latin typeface="Tahoma"/>
                <a:cs typeface="Tahoma"/>
              </a:rPr>
              <a:t>systems</a:t>
            </a:r>
            <a:r>
              <a:rPr sz="4200" dirty="0">
                <a:latin typeface="Tahoma"/>
                <a:cs typeface="Tahoma"/>
              </a:rPr>
              <a:t>	</a:t>
            </a:r>
            <a:r>
              <a:rPr sz="4000" dirty="0">
                <a:latin typeface="Tahoma"/>
                <a:cs typeface="Tahoma"/>
              </a:rPr>
              <a:t>are</a:t>
            </a:r>
            <a:r>
              <a:rPr sz="4000" spc="-25" dirty="0">
                <a:latin typeface="Tahoma"/>
                <a:cs typeface="Tahoma"/>
              </a:rPr>
              <a:t> </a:t>
            </a:r>
            <a:r>
              <a:rPr sz="4000" b="1" spc="-10" dirty="0">
                <a:latin typeface="Tahoma"/>
                <a:cs typeface="Tahoma"/>
              </a:rPr>
              <a:t>software </a:t>
            </a:r>
            <a:r>
              <a:rPr sz="4000" dirty="0">
                <a:latin typeface="Tahoma"/>
                <a:cs typeface="Tahoma"/>
              </a:rPr>
              <a:t>applications</a:t>
            </a:r>
            <a:r>
              <a:rPr sz="4000" spc="-150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which</a:t>
            </a:r>
            <a:r>
              <a:rPr sz="4000" spc="-165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manage</a:t>
            </a:r>
            <a:r>
              <a:rPr sz="4000" b="1" spc="-120" dirty="0">
                <a:latin typeface="Tahoma"/>
                <a:cs typeface="Tahoma"/>
              </a:rPr>
              <a:t> </a:t>
            </a:r>
            <a:r>
              <a:rPr sz="4000" b="1" spc="-20" dirty="0">
                <a:latin typeface="Tahoma"/>
                <a:cs typeface="Tahoma"/>
              </a:rPr>
              <a:t>large </a:t>
            </a:r>
            <a:r>
              <a:rPr sz="4000" b="1" dirty="0">
                <a:latin typeface="Tahoma"/>
                <a:cs typeface="Tahoma"/>
              </a:rPr>
              <a:t>amounts</a:t>
            </a:r>
            <a:r>
              <a:rPr sz="4000" b="1" spc="-90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of</a:t>
            </a:r>
            <a:r>
              <a:rPr sz="4000" b="1" spc="-100" dirty="0">
                <a:latin typeface="Tahoma"/>
                <a:cs typeface="Tahoma"/>
              </a:rPr>
              <a:t> </a:t>
            </a:r>
            <a:r>
              <a:rPr sz="4000" b="1" spc="-10" dirty="0">
                <a:latin typeface="Tahoma"/>
                <a:cs typeface="Tahoma"/>
              </a:rPr>
              <a:t>data.</a:t>
            </a:r>
            <a:endParaRPr sz="4000">
              <a:latin typeface="Tahoma"/>
              <a:cs typeface="Tahoma"/>
            </a:endParaRPr>
          </a:p>
          <a:p>
            <a:pPr marL="355600" marR="695325" indent="-342900">
              <a:lnSpc>
                <a:spcPct val="100000"/>
              </a:lnSpc>
              <a:spcBef>
                <a:spcPts val="960"/>
              </a:spcBef>
              <a:buChar char="•"/>
              <a:tabLst>
                <a:tab pos="355600" algn="l"/>
                <a:tab pos="3054350" algn="l"/>
                <a:tab pos="7358380" algn="l"/>
              </a:tabLst>
            </a:pPr>
            <a:r>
              <a:rPr sz="4000" dirty="0">
                <a:latin typeface="Tahoma"/>
                <a:cs typeface="Tahoma"/>
              </a:rPr>
              <a:t>Most</a:t>
            </a:r>
            <a:r>
              <a:rPr sz="4000" spc="-70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of</a:t>
            </a:r>
            <a:r>
              <a:rPr sz="4000" spc="-50" dirty="0">
                <a:latin typeface="Tahoma"/>
                <a:cs typeface="Tahoma"/>
              </a:rPr>
              <a:t> </a:t>
            </a:r>
            <a:r>
              <a:rPr sz="4000" spc="-25" dirty="0">
                <a:latin typeface="Tahoma"/>
                <a:cs typeface="Tahoma"/>
              </a:rPr>
              <a:t>the</a:t>
            </a:r>
            <a:r>
              <a:rPr sz="4000" dirty="0">
                <a:latin typeface="Tahoma"/>
                <a:cs typeface="Tahoma"/>
              </a:rPr>
              <a:t>	software</a:t>
            </a:r>
            <a:r>
              <a:rPr sz="4000" spc="-80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out</a:t>
            </a:r>
            <a:r>
              <a:rPr sz="4000" spc="-105" dirty="0">
                <a:latin typeface="Tahoma"/>
                <a:cs typeface="Tahoma"/>
              </a:rPr>
              <a:t> </a:t>
            </a:r>
            <a:r>
              <a:rPr sz="4000" spc="-10" dirty="0">
                <a:latin typeface="Tahoma"/>
                <a:cs typeface="Tahoma"/>
              </a:rPr>
              <a:t>there</a:t>
            </a:r>
            <a:r>
              <a:rPr sz="4000" dirty="0">
                <a:latin typeface="Tahoma"/>
                <a:cs typeface="Tahoma"/>
              </a:rPr>
              <a:t>	</a:t>
            </a:r>
            <a:r>
              <a:rPr sz="4000" spc="-25" dirty="0">
                <a:latin typeface="Tahoma"/>
                <a:cs typeface="Tahoma"/>
              </a:rPr>
              <a:t>is </a:t>
            </a:r>
            <a:r>
              <a:rPr sz="4000" dirty="0">
                <a:latin typeface="Tahoma"/>
                <a:cs typeface="Tahoma"/>
              </a:rPr>
              <a:t>information</a:t>
            </a:r>
            <a:r>
              <a:rPr sz="4000" spc="-175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systems</a:t>
            </a:r>
            <a:r>
              <a:rPr sz="4000" spc="-155" dirty="0">
                <a:latin typeface="Tahoma"/>
                <a:cs typeface="Tahoma"/>
              </a:rPr>
              <a:t> </a:t>
            </a:r>
            <a:r>
              <a:rPr sz="4000" spc="-10" dirty="0">
                <a:latin typeface="Tahoma"/>
                <a:cs typeface="Tahoma"/>
              </a:rPr>
              <a:t>software,</a:t>
            </a:r>
            <a:endParaRPr sz="4000">
              <a:latin typeface="Tahoma"/>
              <a:cs typeface="Tahoma"/>
            </a:endParaRPr>
          </a:p>
          <a:p>
            <a:pPr marL="756285" marR="699770" lvl="1" indent="-287020">
              <a:lnSpc>
                <a:spcPct val="100000"/>
              </a:lnSpc>
              <a:spcBef>
                <a:spcPts val="86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3600" dirty="0">
                <a:latin typeface="Tahoma"/>
                <a:cs typeface="Tahoma"/>
              </a:rPr>
              <a:t>written</a:t>
            </a:r>
            <a:r>
              <a:rPr sz="3600" spc="-9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in</a:t>
            </a:r>
            <a:r>
              <a:rPr sz="3600" spc="-9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languages</a:t>
            </a:r>
            <a:r>
              <a:rPr sz="3600" spc="-8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such</a:t>
            </a:r>
            <a:r>
              <a:rPr sz="3600" spc="-7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as</a:t>
            </a:r>
            <a:r>
              <a:rPr sz="3600" spc="-8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Java, </a:t>
            </a:r>
            <a:r>
              <a:rPr sz="3600" dirty="0">
                <a:latin typeface="Tahoma"/>
                <a:cs typeface="Tahoma"/>
              </a:rPr>
              <a:t>C++,</a:t>
            </a:r>
            <a:r>
              <a:rPr sz="3600" spc="-4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.NET</a:t>
            </a:r>
            <a:r>
              <a:rPr sz="3600" spc="-5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and</a:t>
            </a:r>
            <a:r>
              <a:rPr sz="3600" spc="-5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the</a:t>
            </a:r>
            <a:r>
              <a:rPr sz="3600" spc="-5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like.</a:t>
            </a:r>
            <a:endParaRPr sz="3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4048" y="620344"/>
            <a:ext cx="35521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C00000"/>
                </a:solidFill>
                <a:latin typeface="Times New Roman"/>
                <a:cs typeface="Times New Roman"/>
              </a:rPr>
              <a:t>Type</a:t>
            </a:r>
            <a:r>
              <a:rPr sz="40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40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Systems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" y="1444752"/>
            <a:ext cx="316991" cy="3200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461" y="2989452"/>
            <a:ext cx="255651" cy="26123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461" y="3477133"/>
            <a:ext cx="255651" cy="26123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461" y="3964813"/>
            <a:ext cx="255651" cy="26123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461" y="4452492"/>
            <a:ext cx="255651" cy="26123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461" y="4940172"/>
            <a:ext cx="255651" cy="26123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461" y="5427853"/>
            <a:ext cx="255651" cy="26123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461" y="5915533"/>
            <a:ext cx="255651" cy="26123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461" y="6403213"/>
            <a:ext cx="255651" cy="26123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45844" y="1292097"/>
            <a:ext cx="7918450" cy="546481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960"/>
              </a:spcBef>
              <a:tabLst>
                <a:tab pos="2663190" algn="l"/>
                <a:tab pos="4565015" algn="l"/>
                <a:tab pos="5443220" algn="l"/>
                <a:tab pos="6485890" algn="l"/>
                <a:tab pos="7511415" algn="l"/>
              </a:tabLst>
            </a:pPr>
            <a:r>
              <a:rPr sz="3600" spc="-10" dirty="0">
                <a:latin typeface="Tahoma"/>
                <a:cs typeface="Tahoma"/>
              </a:rPr>
              <a:t>Information</a:t>
            </a:r>
            <a:r>
              <a:rPr sz="3600" dirty="0">
                <a:latin typeface="Tahoma"/>
                <a:cs typeface="Tahoma"/>
              </a:rPr>
              <a:t>	</a:t>
            </a:r>
            <a:r>
              <a:rPr sz="3600" spc="-10" dirty="0">
                <a:latin typeface="Tahoma"/>
                <a:cs typeface="Tahoma"/>
              </a:rPr>
              <a:t>systems</a:t>
            </a:r>
            <a:r>
              <a:rPr sz="3600" dirty="0">
                <a:latin typeface="Tahoma"/>
                <a:cs typeface="Tahoma"/>
              </a:rPr>
              <a:t>	</a:t>
            </a:r>
            <a:r>
              <a:rPr sz="3600" spc="-20" dirty="0">
                <a:latin typeface="Tahoma"/>
                <a:cs typeface="Tahoma"/>
              </a:rPr>
              <a:t>fall</a:t>
            </a:r>
            <a:r>
              <a:rPr sz="3600" dirty="0">
                <a:latin typeface="Tahoma"/>
                <a:cs typeface="Tahoma"/>
              </a:rPr>
              <a:t>	</a:t>
            </a:r>
            <a:r>
              <a:rPr sz="3600" spc="-20" dirty="0">
                <a:latin typeface="Tahoma"/>
                <a:cs typeface="Tahoma"/>
              </a:rPr>
              <a:t>into</a:t>
            </a:r>
            <a:r>
              <a:rPr sz="3600" dirty="0">
                <a:latin typeface="Tahoma"/>
                <a:cs typeface="Tahoma"/>
              </a:rPr>
              <a:t>	</a:t>
            </a:r>
            <a:r>
              <a:rPr sz="3600" spc="-25" dirty="0">
                <a:latin typeface="Tahoma"/>
                <a:cs typeface="Tahoma"/>
              </a:rPr>
              <a:t>one</a:t>
            </a:r>
            <a:r>
              <a:rPr sz="3600" dirty="0">
                <a:latin typeface="Tahoma"/>
                <a:cs typeface="Tahoma"/>
              </a:rPr>
              <a:t>	</a:t>
            </a:r>
            <a:r>
              <a:rPr sz="3600" spc="-25" dirty="0">
                <a:latin typeface="Tahoma"/>
                <a:cs typeface="Tahoma"/>
              </a:rPr>
              <a:t>of </a:t>
            </a:r>
            <a:r>
              <a:rPr sz="3600" dirty="0">
                <a:latin typeface="Tahoma"/>
                <a:cs typeface="Tahoma"/>
              </a:rPr>
              <a:t>the</a:t>
            </a:r>
            <a:r>
              <a:rPr sz="3600" spc="-4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following</a:t>
            </a:r>
            <a:r>
              <a:rPr sz="3600" spc="-6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eight</a:t>
            </a:r>
            <a:r>
              <a:rPr sz="3600" spc="-3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categories:</a:t>
            </a:r>
            <a:endParaRPr sz="3600">
              <a:latin typeface="Tahoma"/>
              <a:cs typeface="Tahoma"/>
            </a:endParaRPr>
          </a:p>
          <a:p>
            <a:pPr marL="385445" marR="854710">
              <a:lnSpc>
                <a:spcPct val="100000"/>
              </a:lnSpc>
              <a:spcBef>
                <a:spcPts val="4330"/>
              </a:spcBef>
            </a:pPr>
            <a:r>
              <a:rPr sz="3200" dirty="0">
                <a:latin typeface="Tahoma"/>
                <a:cs typeface="Tahoma"/>
              </a:rPr>
              <a:t>Transaction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Processing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System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(TPS) </a:t>
            </a:r>
            <a:r>
              <a:rPr sz="3200" dirty="0">
                <a:latin typeface="Tahoma"/>
                <a:cs typeface="Tahoma"/>
              </a:rPr>
              <a:t>Office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Automation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Systems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(OAS) </a:t>
            </a:r>
            <a:r>
              <a:rPr sz="3200" dirty="0">
                <a:latin typeface="Tahoma"/>
                <a:cs typeface="Tahoma"/>
              </a:rPr>
              <a:t>Knowledge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Work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Systems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(KWS) </a:t>
            </a:r>
            <a:r>
              <a:rPr sz="3200" dirty="0">
                <a:latin typeface="Tahoma"/>
                <a:cs typeface="Tahoma"/>
              </a:rPr>
              <a:t>Management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Information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Systems </a:t>
            </a:r>
            <a:r>
              <a:rPr sz="3200" dirty="0">
                <a:latin typeface="Tahoma"/>
                <a:cs typeface="Tahoma"/>
              </a:rPr>
              <a:t>Decision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Support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Systems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(DSS) </a:t>
            </a:r>
            <a:r>
              <a:rPr sz="3200" dirty="0">
                <a:latin typeface="Tahoma"/>
                <a:cs typeface="Tahoma"/>
              </a:rPr>
              <a:t>Expert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Systems</a:t>
            </a:r>
            <a:r>
              <a:rPr sz="3200" spc="-9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(ES)</a:t>
            </a:r>
            <a:endParaRPr sz="3200">
              <a:latin typeface="Tahoma"/>
              <a:cs typeface="Tahoma"/>
            </a:endParaRPr>
          </a:p>
          <a:p>
            <a:pPr marL="385445" marR="225425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Tahoma"/>
                <a:cs typeface="Tahoma"/>
              </a:rPr>
              <a:t>Group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Decision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Support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Systems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(GDSS) </a:t>
            </a:r>
            <a:r>
              <a:rPr sz="3200" dirty="0">
                <a:latin typeface="Tahoma"/>
                <a:cs typeface="Tahoma"/>
              </a:rPr>
              <a:t>Executive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Support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Systems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(ESS)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75" y="228599"/>
            <a:ext cx="1191260" cy="779780"/>
            <a:chOff x="1575" y="228599"/>
            <a:chExt cx="1191260" cy="779780"/>
          </a:xfrm>
        </p:grpSpPr>
        <p:sp>
          <p:nvSpPr>
            <p:cNvPr id="14" name="object 14"/>
            <p:cNvSpPr/>
            <p:nvPr/>
          </p:nvSpPr>
          <p:spPr>
            <a:xfrm>
              <a:off x="1574" y="228599"/>
              <a:ext cx="1191260" cy="779780"/>
            </a:xfrm>
            <a:custGeom>
              <a:avLst/>
              <a:gdLst/>
              <a:ahLst/>
              <a:cxnLst/>
              <a:rect l="l" t="t" r="r" b="b"/>
              <a:pathLst>
                <a:path w="1191260" h="779780">
                  <a:moveTo>
                    <a:pt x="862660" y="758647"/>
                  </a:moveTo>
                  <a:lnTo>
                    <a:pt x="389585" y="758647"/>
                  </a:lnTo>
                  <a:lnTo>
                    <a:pt x="389585" y="779716"/>
                  </a:lnTo>
                  <a:lnTo>
                    <a:pt x="862660" y="779716"/>
                  </a:lnTo>
                  <a:lnTo>
                    <a:pt x="862660" y="758647"/>
                  </a:lnTo>
                  <a:close/>
                </a:path>
                <a:path w="1191260" h="779780">
                  <a:moveTo>
                    <a:pt x="1191006" y="597598"/>
                  </a:moveTo>
                  <a:lnTo>
                    <a:pt x="992784" y="597598"/>
                  </a:lnTo>
                  <a:lnTo>
                    <a:pt x="1015060" y="572820"/>
                  </a:lnTo>
                  <a:lnTo>
                    <a:pt x="1034529" y="546176"/>
                  </a:lnTo>
                  <a:lnTo>
                    <a:pt x="1065796" y="489178"/>
                  </a:lnTo>
                  <a:lnTo>
                    <a:pt x="1085265" y="426618"/>
                  </a:lnTo>
                  <a:lnTo>
                    <a:pt x="1092238" y="360959"/>
                  </a:lnTo>
                  <a:lnTo>
                    <a:pt x="1090206" y="323799"/>
                  </a:lnTo>
                  <a:lnTo>
                    <a:pt x="1074127" y="253174"/>
                  </a:lnTo>
                  <a:lnTo>
                    <a:pt x="1042847" y="187515"/>
                  </a:lnTo>
                  <a:lnTo>
                    <a:pt x="998982" y="129908"/>
                  </a:lnTo>
                  <a:lnTo>
                    <a:pt x="943368" y="80352"/>
                  </a:lnTo>
                  <a:lnTo>
                    <a:pt x="878662" y="41325"/>
                  </a:lnTo>
                  <a:lnTo>
                    <a:pt x="842492" y="25831"/>
                  </a:lnTo>
                  <a:lnTo>
                    <a:pt x="804913" y="13449"/>
                  </a:lnTo>
                  <a:lnTo>
                    <a:pt x="765962" y="4775"/>
                  </a:lnTo>
                  <a:lnTo>
                    <a:pt x="731456" y="0"/>
                  </a:lnTo>
                  <a:lnTo>
                    <a:pt x="683869" y="0"/>
                  </a:lnTo>
                  <a:lnTo>
                    <a:pt x="683869" y="18402"/>
                  </a:lnTo>
                  <a:lnTo>
                    <a:pt x="722820" y="20256"/>
                  </a:lnTo>
                  <a:lnTo>
                    <a:pt x="761085" y="25222"/>
                  </a:lnTo>
                  <a:lnTo>
                    <a:pt x="833437" y="45656"/>
                  </a:lnTo>
                  <a:lnTo>
                    <a:pt x="898829" y="77241"/>
                  </a:lnTo>
                  <a:lnTo>
                    <a:pt x="955192" y="118757"/>
                  </a:lnTo>
                  <a:lnTo>
                    <a:pt x="1002474" y="169545"/>
                  </a:lnTo>
                  <a:lnTo>
                    <a:pt x="1038009" y="227787"/>
                  </a:lnTo>
                  <a:lnTo>
                    <a:pt x="1060284" y="292201"/>
                  </a:lnTo>
                  <a:lnTo>
                    <a:pt x="1067930" y="360959"/>
                  </a:lnTo>
                  <a:lnTo>
                    <a:pt x="1065796" y="394411"/>
                  </a:lnTo>
                  <a:lnTo>
                    <a:pt x="1051852" y="457593"/>
                  </a:lnTo>
                  <a:lnTo>
                    <a:pt x="1025423" y="516445"/>
                  </a:lnTo>
                  <a:lnTo>
                    <a:pt x="987856" y="569722"/>
                  </a:lnTo>
                  <a:lnTo>
                    <a:pt x="939876" y="614946"/>
                  </a:lnTo>
                  <a:lnTo>
                    <a:pt x="883539" y="652729"/>
                  </a:lnTo>
                  <a:lnTo>
                    <a:pt x="819531" y="679983"/>
                  </a:lnTo>
                  <a:lnTo>
                    <a:pt x="749947" y="697331"/>
                  </a:lnTo>
                  <a:lnTo>
                    <a:pt x="713092" y="701040"/>
                  </a:lnTo>
                  <a:lnTo>
                    <a:pt x="663003" y="701040"/>
                  </a:lnTo>
                  <a:lnTo>
                    <a:pt x="663003" y="701662"/>
                  </a:lnTo>
                  <a:lnTo>
                    <a:pt x="609434" y="695464"/>
                  </a:lnTo>
                  <a:lnTo>
                    <a:pt x="557949" y="683069"/>
                  </a:lnTo>
                  <a:lnTo>
                    <a:pt x="509244" y="664502"/>
                  </a:lnTo>
                  <a:lnTo>
                    <a:pt x="464032" y="640346"/>
                  </a:lnTo>
                  <a:lnTo>
                    <a:pt x="422986" y="610603"/>
                  </a:lnTo>
                  <a:lnTo>
                    <a:pt x="386105" y="575919"/>
                  </a:lnTo>
                  <a:lnTo>
                    <a:pt x="355498" y="536879"/>
                  </a:lnTo>
                  <a:lnTo>
                    <a:pt x="330441" y="493522"/>
                  </a:lnTo>
                  <a:lnTo>
                    <a:pt x="308190" y="501586"/>
                  </a:lnTo>
                  <a:lnTo>
                    <a:pt x="329755" y="539978"/>
                  </a:lnTo>
                  <a:lnTo>
                    <a:pt x="355498" y="575297"/>
                  </a:lnTo>
                  <a:lnTo>
                    <a:pt x="374980" y="597598"/>
                  </a:lnTo>
                  <a:lnTo>
                    <a:pt x="116179" y="597598"/>
                  </a:lnTo>
                  <a:lnTo>
                    <a:pt x="116179" y="618655"/>
                  </a:lnTo>
                  <a:lnTo>
                    <a:pt x="389585" y="618655"/>
                  </a:lnTo>
                  <a:lnTo>
                    <a:pt x="390982" y="619277"/>
                  </a:lnTo>
                  <a:lnTo>
                    <a:pt x="394449" y="621753"/>
                  </a:lnTo>
                  <a:lnTo>
                    <a:pt x="399326" y="624852"/>
                  </a:lnTo>
                  <a:lnTo>
                    <a:pt x="412546" y="632904"/>
                  </a:lnTo>
                  <a:lnTo>
                    <a:pt x="419506" y="637857"/>
                  </a:lnTo>
                  <a:lnTo>
                    <a:pt x="426453" y="642188"/>
                  </a:lnTo>
                  <a:lnTo>
                    <a:pt x="432727" y="646531"/>
                  </a:lnTo>
                  <a:lnTo>
                    <a:pt x="0" y="646531"/>
                  </a:lnTo>
                  <a:lnTo>
                    <a:pt x="0" y="667588"/>
                  </a:lnTo>
                  <a:lnTo>
                    <a:pt x="466801" y="667588"/>
                  </a:lnTo>
                  <a:lnTo>
                    <a:pt x="478637" y="674408"/>
                  </a:lnTo>
                  <a:lnTo>
                    <a:pt x="491159" y="680605"/>
                  </a:lnTo>
                  <a:lnTo>
                    <a:pt x="529412" y="696709"/>
                  </a:lnTo>
                  <a:lnTo>
                    <a:pt x="569772" y="709091"/>
                  </a:lnTo>
                  <a:lnTo>
                    <a:pt x="597598" y="715289"/>
                  </a:lnTo>
                  <a:lnTo>
                    <a:pt x="611517" y="718388"/>
                  </a:lnTo>
                  <a:lnTo>
                    <a:pt x="640041" y="722109"/>
                  </a:lnTo>
                  <a:lnTo>
                    <a:pt x="654646" y="722718"/>
                  </a:lnTo>
                  <a:lnTo>
                    <a:pt x="669251" y="723963"/>
                  </a:lnTo>
                  <a:lnTo>
                    <a:pt x="695693" y="723963"/>
                  </a:lnTo>
                  <a:lnTo>
                    <a:pt x="699173" y="723341"/>
                  </a:lnTo>
                  <a:lnTo>
                    <a:pt x="706132" y="723341"/>
                  </a:lnTo>
                  <a:lnTo>
                    <a:pt x="710298" y="722718"/>
                  </a:lnTo>
                  <a:lnTo>
                    <a:pt x="1068603" y="722718"/>
                  </a:lnTo>
                  <a:lnTo>
                    <a:pt x="1068603" y="701040"/>
                  </a:lnTo>
                  <a:lnTo>
                    <a:pt x="825792" y="701040"/>
                  </a:lnTo>
                  <a:lnTo>
                    <a:pt x="846658" y="693610"/>
                  </a:lnTo>
                  <a:lnTo>
                    <a:pt x="857097" y="689279"/>
                  </a:lnTo>
                  <a:lnTo>
                    <a:pt x="896048" y="670687"/>
                  </a:lnTo>
                  <a:lnTo>
                    <a:pt x="932230" y="648398"/>
                  </a:lnTo>
                  <a:lnTo>
                    <a:pt x="941273" y="642188"/>
                  </a:lnTo>
                  <a:lnTo>
                    <a:pt x="949617" y="636003"/>
                  </a:lnTo>
                  <a:lnTo>
                    <a:pt x="966330" y="622376"/>
                  </a:lnTo>
                  <a:lnTo>
                    <a:pt x="974001" y="615556"/>
                  </a:lnTo>
                  <a:lnTo>
                    <a:pt x="974001" y="618655"/>
                  </a:lnTo>
                  <a:lnTo>
                    <a:pt x="1191006" y="618655"/>
                  </a:lnTo>
                  <a:lnTo>
                    <a:pt x="1191006" y="5975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2119" y="313279"/>
              <a:ext cx="614680" cy="547370"/>
            </a:xfrm>
            <a:custGeom>
              <a:avLst/>
              <a:gdLst/>
              <a:ahLst/>
              <a:cxnLst/>
              <a:rect l="l" t="t" r="r" b="b"/>
              <a:pathLst>
                <a:path w="614680" h="547369">
                  <a:moveTo>
                    <a:pt x="156539" y="35303"/>
                  </a:moveTo>
                  <a:lnTo>
                    <a:pt x="123141" y="55132"/>
                  </a:lnTo>
                  <a:lnTo>
                    <a:pt x="92532" y="78047"/>
                  </a:lnTo>
                  <a:lnTo>
                    <a:pt x="54264" y="118929"/>
                  </a:lnTo>
                  <a:lnTo>
                    <a:pt x="25050" y="166010"/>
                  </a:lnTo>
                  <a:lnTo>
                    <a:pt x="6265" y="218047"/>
                  </a:lnTo>
                  <a:lnTo>
                    <a:pt x="767" y="253972"/>
                  </a:lnTo>
                  <a:lnTo>
                    <a:pt x="697" y="254593"/>
                  </a:lnTo>
                  <a:lnTo>
                    <a:pt x="292" y="265740"/>
                  </a:lnTo>
                  <a:lnTo>
                    <a:pt x="179" y="268843"/>
                  </a:lnTo>
                  <a:lnTo>
                    <a:pt x="90" y="271318"/>
                  </a:lnTo>
                  <a:lnTo>
                    <a:pt x="6265" y="328925"/>
                  </a:lnTo>
                  <a:lnTo>
                    <a:pt x="24353" y="379721"/>
                  </a:lnTo>
                  <a:lnTo>
                    <a:pt x="52182" y="426181"/>
                  </a:lnTo>
                  <a:lnTo>
                    <a:pt x="89744" y="467071"/>
                  </a:lnTo>
                  <a:lnTo>
                    <a:pt x="135662" y="500521"/>
                  </a:lnTo>
                  <a:lnTo>
                    <a:pt x="187845" y="525299"/>
                  </a:lnTo>
                  <a:lnTo>
                    <a:pt x="244888" y="541403"/>
                  </a:lnTo>
                  <a:lnTo>
                    <a:pt x="306803" y="546981"/>
                  </a:lnTo>
                  <a:lnTo>
                    <a:pt x="338109" y="545740"/>
                  </a:lnTo>
                  <a:lnTo>
                    <a:pt x="397942" y="534593"/>
                  </a:lnTo>
                  <a:lnTo>
                    <a:pt x="453601" y="514143"/>
                  </a:lnTo>
                  <a:lnTo>
                    <a:pt x="502298" y="484409"/>
                  </a:lnTo>
                  <a:lnTo>
                    <a:pt x="516611" y="473261"/>
                  </a:lnTo>
                  <a:lnTo>
                    <a:pt x="240018" y="473261"/>
                  </a:lnTo>
                  <a:lnTo>
                    <a:pt x="230974" y="472640"/>
                  </a:lnTo>
                  <a:lnTo>
                    <a:pt x="197586" y="447242"/>
                  </a:lnTo>
                  <a:lnTo>
                    <a:pt x="196889" y="438569"/>
                  </a:lnTo>
                  <a:lnTo>
                    <a:pt x="197586" y="426801"/>
                  </a:lnTo>
                  <a:lnTo>
                    <a:pt x="209409" y="385299"/>
                  </a:lnTo>
                  <a:lnTo>
                    <a:pt x="226103" y="346271"/>
                  </a:lnTo>
                  <a:lnTo>
                    <a:pt x="257409" y="273801"/>
                  </a:lnTo>
                  <a:lnTo>
                    <a:pt x="195494" y="273801"/>
                  </a:lnTo>
                  <a:lnTo>
                    <a:pt x="186450" y="265740"/>
                  </a:lnTo>
                  <a:lnTo>
                    <a:pt x="187845" y="260791"/>
                  </a:lnTo>
                  <a:lnTo>
                    <a:pt x="191321" y="254593"/>
                  </a:lnTo>
                  <a:lnTo>
                    <a:pt x="196889" y="247782"/>
                  </a:lnTo>
                  <a:lnTo>
                    <a:pt x="209409" y="234152"/>
                  </a:lnTo>
                  <a:lnTo>
                    <a:pt x="216362" y="228574"/>
                  </a:lnTo>
                  <a:lnTo>
                    <a:pt x="221930" y="223004"/>
                  </a:lnTo>
                  <a:lnTo>
                    <a:pt x="226800" y="219280"/>
                  </a:lnTo>
                  <a:lnTo>
                    <a:pt x="230974" y="215564"/>
                  </a:lnTo>
                  <a:lnTo>
                    <a:pt x="239321" y="209374"/>
                  </a:lnTo>
                  <a:lnTo>
                    <a:pt x="244191" y="206279"/>
                  </a:lnTo>
                  <a:lnTo>
                    <a:pt x="248365" y="203176"/>
                  </a:lnTo>
                  <a:lnTo>
                    <a:pt x="253235" y="200701"/>
                  </a:lnTo>
                  <a:lnTo>
                    <a:pt x="258106" y="197606"/>
                  </a:lnTo>
                  <a:lnTo>
                    <a:pt x="262977" y="195123"/>
                  </a:lnTo>
                  <a:lnTo>
                    <a:pt x="156539" y="35303"/>
                  </a:lnTo>
                  <a:close/>
                </a:path>
                <a:path w="614680" h="547369">
                  <a:moveTo>
                    <a:pt x="595208" y="367333"/>
                  </a:moveTo>
                  <a:lnTo>
                    <a:pt x="386118" y="367332"/>
                  </a:lnTo>
                  <a:lnTo>
                    <a:pt x="388898" y="367953"/>
                  </a:lnTo>
                  <a:lnTo>
                    <a:pt x="391686" y="370436"/>
                  </a:lnTo>
                  <a:lnTo>
                    <a:pt x="393768" y="373531"/>
                  </a:lnTo>
                  <a:lnTo>
                    <a:pt x="394465" y="377247"/>
                  </a:lnTo>
                  <a:lnTo>
                    <a:pt x="393768" y="381583"/>
                  </a:lnTo>
                  <a:lnTo>
                    <a:pt x="364554" y="415654"/>
                  </a:lnTo>
                  <a:lnTo>
                    <a:pt x="320718" y="447863"/>
                  </a:lnTo>
                  <a:lnTo>
                    <a:pt x="281065" y="465830"/>
                  </a:lnTo>
                  <a:lnTo>
                    <a:pt x="240018" y="473261"/>
                  </a:lnTo>
                  <a:lnTo>
                    <a:pt x="516611" y="473261"/>
                  </a:lnTo>
                  <a:lnTo>
                    <a:pt x="561433" y="426181"/>
                  </a:lnTo>
                  <a:lnTo>
                    <a:pt x="589980" y="379721"/>
                  </a:lnTo>
                  <a:lnTo>
                    <a:pt x="595208" y="367333"/>
                  </a:lnTo>
                  <a:close/>
                </a:path>
                <a:path w="614680" h="547369">
                  <a:moveTo>
                    <a:pt x="594605" y="177157"/>
                  </a:moveTo>
                  <a:lnTo>
                    <a:pt x="332551" y="177157"/>
                  </a:lnTo>
                  <a:lnTo>
                    <a:pt x="343677" y="177778"/>
                  </a:lnTo>
                  <a:lnTo>
                    <a:pt x="354813" y="180881"/>
                  </a:lnTo>
                  <a:lnTo>
                    <a:pt x="364554" y="185218"/>
                  </a:lnTo>
                  <a:lnTo>
                    <a:pt x="372204" y="192649"/>
                  </a:lnTo>
                  <a:lnTo>
                    <a:pt x="377771" y="203176"/>
                  </a:lnTo>
                  <a:lnTo>
                    <a:pt x="379030" y="215564"/>
                  </a:lnTo>
                  <a:lnTo>
                    <a:pt x="379156" y="216806"/>
                  </a:lnTo>
                  <a:lnTo>
                    <a:pt x="370112" y="254593"/>
                  </a:lnTo>
                  <a:lnTo>
                    <a:pt x="324891" y="361142"/>
                  </a:lnTo>
                  <a:lnTo>
                    <a:pt x="317242" y="378488"/>
                  </a:lnTo>
                  <a:lnTo>
                    <a:pt x="314462" y="387773"/>
                  </a:lnTo>
                  <a:lnTo>
                    <a:pt x="313068" y="396446"/>
                  </a:lnTo>
                  <a:lnTo>
                    <a:pt x="313765" y="399550"/>
                  </a:lnTo>
                  <a:lnTo>
                    <a:pt x="315160" y="402645"/>
                  </a:lnTo>
                  <a:lnTo>
                    <a:pt x="317939" y="404498"/>
                  </a:lnTo>
                  <a:lnTo>
                    <a:pt x="321415" y="405119"/>
                  </a:lnTo>
                  <a:lnTo>
                    <a:pt x="329762" y="403266"/>
                  </a:lnTo>
                  <a:lnTo>
                    <a:pt x="339503" y="398929"/>
                  </a:lnTo>
                  <a:lnTo>
                    <a:pt x="348547" y="393351"/>
                  </a:lnTo>
                  <a:lnTo>
                    <a:pt x="358289" y="385920"/>
                  </a:lnTo>
                  <a:lnTo>
                    <a:pt x="366636" y="379100"/>
                  </a:lnTo>
                  <a:lnTo>
                    <a:pt x="374983" y="373531"/>
                  </a:lnTo>
                  <a:lnTo>
                    <a:pt x="381248" y="369195"/>
                  </a:lnTo>
                  <a:lnTo>
                    <a:pt x="386118" y="367332"/>
                  </a:lnTo>
                  <a:lnTo>
                    <a:pt x="595208" y="367333"/>
                  </a:lnTo>
                  <a:lnTo>
                    <a:pt x="600437" y="354944"/>
                  </a:lnTo>
                  <a:lnTo>
                    <a:pt x="608087" y="328925"/>
                  </a:lnTo>
                  <a:lnTo>
                    <a:pt x="612929" y="301673"/>
                  </a:lnTo>
                  <a:lnTo>
                    <a:pt x="614284" y="273801"/>
                  </a:lnTo>
                  <a:lnTo>
                    <a:pt x="613628" y="254593"/>
                  </a:lnTo>
                  <a:lnTo>
                    <a:pt x="607313" y="215565"/>
                  </a:lnTo>
                  <a:lnTo>
                    <a:pt x="595499" y="179019"/>
                  </a:lnTo>
                  <a:lnTo>
                    <a:pt x="594605" y="177157"/>
                  </a:lnTo>
                  <a:close/>
                </a:path>
                <a:path w="614680" h="547369">
                  <a:moveTo>
                    <a:pt x="260895" y="232290"/>
                  </a:moveTo>
                  <a:lnTo>
                    <a:pt x="223324" y="252739"/>
                  </a:lnTo>
                  <a:lnTo>
                    <a:pt x="214977" y="260791"/>
                  </a:lnTo>
                  <a:lnTo>
                    <a:pt x="207318" y="267602"/>
                  </a:lnTo>
                  <a:lnTo>
                    <a:pt x="201062" y="271939"/>
                  </a:lnTo>
                  <a:lnTo>
                    <a:pt x="195494" y="273801"/>
                  </a:lnTo>
                  <a:lnTo>
                    <a:pt x="257409" y="273801"/>
                  </a:lnTo>
                  <a:lnTo>
                    <a:pt x="267847" y="249635"/>
                  </a:lnTo>
                  <a:lnTo>
                    <a:pt x="269939" y="242204"/>
                  </a:lnTo>
                  <a:lnTo>
                    <a:pt x="268545" y="236626"/>
                  </a:lnTo>
                  <a:lnTo>
                    <a:pt x="265068" y="233531"/>
                  </a:lnTo>
                  <a:lnTo>
                    <a:pt x="260895" y="232290"/>
                  </a:lnTo>
                  <a:close/>
                </a:path>
                <a:path w="614680" h="547369">
                  <a:moveTo>
                    <a:pt x="315847" y="0"/>
                  </a:moveTo>
                  <a:lnTo>
                    <a:pt x="276194" y="1232"/>
                  </a:lnTo>
                  <a:lnTo>
                    <a:pt x="227497" y="9285"/>
                  </a:lnTo>
                  <a:lnTo>
                    <a:pt x="218453" y="11767"/>
                  </a:lnTo>
                  <a:lnTo>
                    <a:pt x="208712" y="14242"/>
                  </a:lnTo>
                  <a:lnTo>
                    <a:pt x="164886" y="30967"/>
                  </a:lnTo>
                  <a:lnTo>
                    <a:pt x="156539" y="35303"/>
                  </a:lnTo>
                  <a:lnTo>
                    <a:pt x="262977" y="195123"/>
                  </a:lnTo>
                  <a:lnTo>
                    <a:pt x="270626" y="191408"/>
                  </a:lnTo>
                  <a:lnTo>
                    <a:pt x="278983" y="187692"/>
                  </a:lnTo>
                  <a:lnTo>
                    <a:pt x="287330" y="184597"/>
                  </a:lnTo>
                  <a:lnTo>
                    <a:pt x="296374" y="182114"/>
                  </a:lnTo>
                  <a:lnTo>
                    <a:pt x="304721" y="179640"/>
                  </a:lnTo>
                  <a:lnTo>
                    <a:pt x="313765" y="178398"/>
                  </a:lnTo>
                  <a:lnTo>
                    <a:pt x="332551" y="177157"/>
                  </a:lnTo>
                  <a:lnTo>
                    <a:pt x="594605" y="177157"/>
                  </a:lnTo>
                  <a:lnTo>
                    <a:pt x="587171" y="161673"/>
                  </a:lnTo>
                  <a:lnTo>
                    <a:pt x="583153" y="154242"/>
                  </a:lnTo>
                  <a:lnTo>
                    <a:pt x="361765" y="154242"/>
                  </a:lnTo>
                  <a:lnTo>
                    <a:pt x="351327" y="153621"/>
                  </a:lnTo>
                  <a:lnTo>
                    <a:pt x="316544" y="128844"/>
                  </a:lnTo>
                  <a:lnTo>
                    <a:pt x="313068" y="111498"/>
                  </a:lnTo>
                  <a:lnTo>
                    <a:pt x="314462" y="101583"/>
                  </a:lnTo>
                  <a:lnTo>
                    <a:pt x="339503" y="69995"/>
                  </a:lnTo>
                  <a:lnTo>
                    <a:pt x="371506" y="61322"/>
                  </a:lnTo>
                  <a:lnTo>
                    <a:pt x="409343" y="61322"/>
                  </a:lnTo>
                  <a:lnTo>
                    <a:pt x="445951" y="29734"/>
                  </a:lnTo>
                  <a:lnTo>
                    <a:pt x="438292" y="26010"/>
                  </a:lnTo>
                  <a:lnTo>
                    <a:pt x="421598" y="19820"/>
                  </a:lnTo>
                  <a:lnTo>
                    <a:pt x="413948" y="16725"/>
                  </a:lnTo>
                  <a:lnTo>
                    <a:pt x="405591" y="14242"/>
                  </a:lnTo>
                  <a:lnTo>
                    <a:pt x="396547" y="11768"/>
                  </a:lnTo>
                  <a:lnTo>
                    <a:pt x="388200" y="9905"/>
                  </a:lnTo>
                  <a:lnTo>
                    <a:pt x="379853" y="7431"/>
                  </a:lnTo>
                  <a:lnTo>
                    <a:pt x="370809" y="6190"/>
                  </a:lnTo>
                  <a:lnTo>
                    <a:pt x="361765" y="4336"/>
                  </a:lnTo>
                  <a:lnTo>
                    <a:pt x="343677" y="1853"/>
                  </a:lnTo>
                  <a:lnTo>
                    <a:pt x="315847" y="0"/>
                  </a:lnTo>
                  <a:close/>
                </a:path>
                <a:path w="614680" h="547369">
                  <a:moveTo>
                    <a:pt x="445951" y="29734"/>
                  </a:moveTo>
                  <a:lnTo>
                    <a:pt x="400730" y="68754"/>
                  </a:lnTo>
                  <a:lnTo>
                    <a:pt x="409077" y="74952"/>
                  </a:lnTo>
                  <a:lnTo>
                    <a:pt x="415333" y="83625"/>
                  </a:lnTo>
                  <a:lnTo>
                    <a:pt x="418819" y="92919"/>
                  </a:lnTo>
                  <a:lnTo>
                    <a:pt x="420203" y="104066"/>
                  </a:lnTo>
                  <a:lnTo>
                    <a:pt x="418819" y="114593"/>
                  </a:lnTo>
                  <a:lnTo>
                    <a:pt x="394465" y="146190"/>
                  </a:lnTo>
                  <a:lnTo>
                    <a:pt x="361765" y="154242"/>
                  </a:lnTo>
                  <a:lnTo>
                    <a:pt x="583153" y="154242"/>
                  </a:lnTo>
                  <a:lnTo>
                    <a:pt x="555865" y="113360"/>
                  </a:lnTo>
                  <a:lnTo>
                    <a:pt x="529430" y="84858"/>
                  </a:lnTo>
                  <a:lnTo>
                    <a:pt x="498822" y="60081"/>
                  </a:lnTo>
                  <a:lnTo>
                    <a:pt x="464039" y="39019"/>
                  </a:lnTo>
                  <a:lnTo>
                    <a:pt x="445951" y="29734"/>
                  </a:lnTo>
                  <a:close/>
                </a:path>
                <a:path w="614680" h="547369">
                  <a:moveTo>
                    <a:pt x="409343" y="61322"/>
                  </a:moveTo>
                  <a:lnTo>
                    <a:pt x="375680" y="61322"/>
                  </a:lnTo>
                  <a:lnTo>
                    <a:pt x="379853" y="61943"/>
                  </a:lnTo>
                  <a:lnTo>
                    <a:pt x="383330" y="62564"/>
                  </a:lnTo>
                  <a:lnTo>
                    <a:pt x="387503" y="63184"/>
                  </a:lnTo>
                  <a:lnTo>
                    <a:pt x="397942" y="66900"/>
                  </a:lnTo>
                  <a:lnTo>
                    <a:pt x="400730" y="68754"/>
                  </a:lnTo>
                  <a:lnTo>
                    <a:pt x="409343" y="61322"/>
                  </a:lnTo>
                  <a:close/>
                </a:path>
              </a:pathLst>
            </a:custGeom>
            <a:solidFill>
              <a:srgbClr val="00A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00000"/>
                </a:solidFill>
                <a:latin typeface="Tahoma"/>
                <a:cs typeface="Tahoma"/>
              </a:rPr>
              <a:t>Why</a:t>
            </a:r>
            <a:r>
              <a:rPr sz="3600" b="1" spc="-5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3600" b="1" dirty="0">
                <a:solidFill>
                  <a:srgbClr val="000000"/>
                </a:solidFill>
                <a:latin typeface="Tahoma"/>
                <a:cs typeface="Tahoma"/>
              </a:rPr>
              <a:t>study</a:t>
            </a:r>
            <a:r>
              <a:rPr sz="3600" b="1" spc="-3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3600" b="1" dirty="0">
                <a:solidFill>
                  <a:srgbClr val="000000"/>
                </a:solidFill>
                <a:latin typeface="Tahoma"/>
                <a:cs typeface="Tahoma"/>
              </a:rPr>
              <a:t>System</a:t>
            </a:r>
            <a:r>
              <a:rPr sz="3600" b="1" spc="-3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3600" b="1" dirty="0">
                <a:solidFill>
                  <a:srgbClr val="000000"/>
                </a:solidFill>
                <a:latin typeface="Tahoma"/>
                <a:cs typeface="Tahoma"/>
              </a:rPr>
              <a:t>Analysis</a:t>
            </a:r>
            <a:r>
              <a:rPr sz="3600" b="1" spc="-6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3600" b="1" spc="-10" dirty="0">
                <a:solidFill>
                  <a:srgbClr val="000000"/>
                </a:solidFill>
                <a:latin typeface="Tahoma"/>
                <a:cs typeface="Tahoma"/>
              </a:rPr>
              <a:t>Design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92640" y="2679179"/>
            <a:ext cx="5301615" cy="1122680"/>
            <a:chOff x="3692640" y="2679179"/>
            <a:chExt cx="5301615" cy="11226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2640" y="3070751"/>
              <a:ext cx="5301257" cy="73093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27347" y="2679179"/>
              <a:ext cx="3765042" cy="85421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171188" y="2866228"/>
            <a:ext cx="477520" cy="3994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600" spc="-25" dirty="0">
                <a:solidFill>
                  <a:srgbClr val="FFFFFF"/>
                </a:solidFill>
                <a:latin typeface="Tahoma"/>
                <a:cs typeface="Tahoma"/>
              </a:rPr>
              <a:t>Ser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35933" y="2853689"/>
            <a:ext cx="110871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ve</a:t>
            </a:r>
            <a:r>
              <a:rPr sz="26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Tahoma"/>
                <a:cs typeface="Tahoma"/>
              </a:rPr>
              <a:t>food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692640" y="3858755"/>
            <a:ext cx="5301615" cy="1122680"/>
            <a:chOff x="3692640" y="3858755"/>
            <a:chExt cx="5301615" cy="112268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92640" y="4250326"/>
              <a:ext cx="5301257" cy="73093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27347" y="3858755"/>
              <a:ext cx="3765042" cy="85421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158488" y="4033265"/>
            <a:ext cx="149415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Cook</a:t>
            </a:r>
            <a:r>
              <a:rPr sz="26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Tahoma"/>
                <a:cs typeface="Tahoma"/>
              </a:rPr>
              <a:t>food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692640" y="5038344"/>
            <a:ext cx="5301615" cy="1122680"/>
            <a:chOff x="3692640" y="5038344"/>
            <a:chExt cx="5301615" cy="112268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92640" y="5429915"/>
              <a:ext cx="5301257" cy="73093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27347" y="5038344"/>
              <a:ext cx="3765042" cy="85421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158488" y="5212841"/>
            <a:ext cx="248793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Buy</a:t>
            </a:r>
            <a:r>
              <a:rPr sz="26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FFF"/>
                </a:solidFill>
                <a:latin typeface="Tahoma"/>
                <a:cs typeface="Tahoma"/>
              </a:rPr>
              <a:t>raw</a:t>
            </a:r>
            <a:r>
              <a:rPr sz="26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ahoma"/>
                <a:cs typeface="Tahoma"/>
              </a:rPr>
              <a:t>material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40308" y="1769364"/>
            <a:ext cx="5051425" cy="3750310"/>
            <a:chOff x="940308" y="1769364"/>
            <a:chExt cx="5051425" cy="3750310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0308" y="2176259"/>
              <a:ext cx="5051298" cy="80392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52144" y="1769364"/>
              <a:ext cx="3595878" cy="91211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40308" y="3445751"/>
              <a:ext cx="5051298" cy="80392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52144" y="3038843"/>
              <a:ext cx="3595878" cy="91212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0308" y="4715243"/>
              <a:ext cx="5051298" cy="80392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52144" y="4308335"/>
              <a:ext cx="3595878" cy="91365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397253" y="1954733"/>
            <a:ext cx="2006600" cy="2992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Tahoma"/>
                <a:cs typeface="Tahoma"/>
              </a:rPr>
              <a:t>Model</a:t>
            </a:r>
            <a:endParaRPr sz="2800">
              <a:latin typeface="Tahoma"/>
              <a:cs typeface="Tahoma"/>
            </a:endParaRPr>
          </a:p>
          <a:p>
            <a:pPr marL="12700" marR="5080">
              <a:lnSpc>
                <a:spcPct val="297700"/>
              </a:lnSpc>
              <a:spcBef>
                <a:spcPts val="5"/>
              </a:spcBef>
            </a:pPr>
            <a:r>
              <a:rPr sz="2800" dirty="0">
                <a:solidFill>
                  <a:srgbClr val="FFFFFF"/>
                </a:solidFill>
                <a:latin typeface="Tahoma"/>
                <a:cs typeface="Tahoma"/>
              </a:rPr>
              <a:t>Pseudo</a:t>
            </a:r>
            <a:r>
              <a:rPr sz="28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Tahoma"/>
                <a:cs typeface="Tahoma"/>
              </a:rPr>
              <a:t>code Code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788145" y="6572137"/>
            <a:ext cx="276860" cy="178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1-</a:t>
            </a:r>
            <a:r>
              <a:rPr sz="1000" spc="-35" dirty="0">
                <a:latin typeface="Tahoma"/>
                <a:cs typeface="Tahoma"/>
              </a:rPr>
              <a:t>11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105"/>
              </a:spcBef>
            </a:pPr>
            <a:r>
              <a:rPr dirty="0"/>
              <a:t>Learning</a:t>
            </a:r>
            <a:r>
              <a:rPr spc="-45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270761"/>
            <a:ext cx="7757159" cy="481901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5600" marR="5080" indent="-342900">
              <a:lnSpc>
                <a:spcPts val="3890"/>
              </a:lnSpc>
              <a:spcBef>
                <a:spcPts val="585"/>
              </a:spcBef>
              <a:buChar char="•"/>
              <a:tabLst>
                <a:tab pos="355600" algn="l"/>
              </a:tabLst>
            </a:pPr>
            <a:r>
              <a:rPr sz="3600" dirty="0">
                <a:latin typeface="Tahoma"/>
                <a:cs typeface="Tahoma"/>
              </a:rPr>
              <a:t>Understand</a:t>
            </a:r>
            <a:r>
              <a:rPr sz="3600" spc="-7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the</a:t>
            </a:r>
            <a:r>
              <a:rPr sz="3600" spc="-8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need</a:t>
            </a:r>
            <a:r>
              <a:rPr sz="3600" spc="-7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for</a:t>
            </a:r>
            <a:r>
              <a:rPr sz="3600" spc="-80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systems </a:t>
            </a:r>
            <a:r>
              <a:rPr sz="3600" dirty="0">
                <a:latin typeface="Tahoma"/>
                <a:cs typeface="Tahoma"/>
              </a:rPr>
              <a:t>analysis</a:t>
            </a:r>
            <a:r>
              <a:rPr sz="3600" spc="-3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and</a:t>
            </a:r>
            <a:r>
              <a:rPr sz="3600" spc="-5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design</a:t>
            </a:r>
            <a:r>
              <a:rPr sz="3600" spc="-5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in</a:t>
            </a:r>
            <a:r>
              <a:rPr sz="3600" spc="-4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organizations.</a:t>
            </a:r>
            <a:endParaRPr sz="3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75"/>
              </a:spcBef>
              <a:buChar char="•"/>
              <a:tabLst>
                <a:tab pos="354965" algn="l"/>
              </a:tabLst>
            </a:pPr>
            <a:r>
              <a:rPr sz="3600" dirty="0">
                <a:latin typeface="Tahoma"/>
                <a:cs typeface="Tahoma"/>
              </a:rPr>
              <a:t>Realize</a:t>
            </a:r>
            <a:r>
              <a:rPr sz="3600" spc="-7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roles</a:t>
            </a:r>
            <a:r>
              <a:rPr sz="3600" spc="-8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of</a:t>
            </a:r>
            <a:r>
              <a:rPr sz="3600" spc="-7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the</a:t>
            </a:r>
            <a:r>
              <a:rPr sz="3600" spc="-7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systems</a:t>
            </a:r>
            <a:r>
              <a:rPr sz="3600" spc="-70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analyst.</a:t>
            </a:r>
            <a:endParaRPr sz="3600">
              <a:latin typeface="Tahoma"/>
              <a:cs typeface="Tahoma"/>
            </a:endParaRPr>
          </a:p>
          <a:p>
            <a:pPr marL="355600" marR="208915" indent="-342900">
              <a:lnSpc>
                <a:spcPts val="3890"/>
              </a:lnSpc>
              <a:spcBef>
                <a:spcPts val="919"/>
              </a:spcBef>
              <a:buChar char="•"/>
              <a:tabLst>
                <a:tab pos="355600" algn="l"/>
                <a:tab pos="3098800" algn="l"/>
              </a:tabLst>
            </a:pPr>
            <a:r>
              <a:rPr sz="3600" dirty="0">
                <a:latin typeface="Tahoma"/>
                <a:cs typeface="Tahoma"/>
              </a:rPr>
              <a:t>Comprehend</a:t>
            </a:r>
            <a:r>
              <a:rPr sz="3600" spc="-14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fundamentals</a:t>
            </a:r>
            <a:r>
              <a:rPr sz="3600" spc="-11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of</a:t>
            </a:r>
            <a:r>
              <a:rPr sz="3600" spc="-14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three development</a:t>
            </a:r>
            <a:r>
              <a:rPr sz="3600" dirty="0">
                <a:latin typeface="Tahoma"/>
                <a:cs typeface="Tahoma"/>
              </a:rPr>
              <a:t>	</a:t>
            </a:r>
            <a:r>
              <a:rPr sz="3600" spc="-10" dirty="0">
                <a:latin typeface="Tahoma"/>
                <a:cs typeface="Tahoma"/>
              </a:rPr>
              <a:t>methodologies:</a:t>
            </a:r>
            <a:endParaRPr sz="36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33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3200" spc="-20" dirty="0">
                <a:latin typeface="Tahoma"/>
                <a:cs typeface="Tahoma"/>
              </a:rPr>
              <a:t>SDLC</a:t>
            </a:r>
            <a:endParaRPr sz="32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385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3200" dirty="0">
                <a:latin typeface="Tahoma"/>
                <a:cs typeface="Tahoma"/>
              </a:rPr>
              <a:t>The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agile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approach</a:t>
            </a:r>
            <a:endParaRPr sz="3200">
              <a:latin typeface="Tahoma"/>
              <a:cs typeface="Tahoma"/>
            </a:endParaRPr>
          </a:p>
          <a:p>
            <a:pPr marL="756285" marR="311150" lvl="1" indent="-287020">
              <a:lnSpc>
                <a:spcPts val="3460"/>
              </a:lnSpc>
              <a:spcBef>
                <a:spcPts val="819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3200" spc="-10" dirty="0">
                <a:latin typeface="Tahoma"/>
                <a:cs typeface="Tahoma"/>
              </a:rPr>
              <a:t>Object-</a:t>
            </a:r>
            <a:r>
              <a:rPr sz="3200" dirty="0">
                <a:latin typeface="Tahoma"/>
                <a:cs typeface="Tahoma"/>
              </a:rPr>
              <a:t>oriented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systems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analysis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and </a:t>
            </a:r>
            <a:r>
              <a:rPr sz="3200" spc="-10" dirty="0">
                <a:latin typeface="Tahoma"/>
                <a:cs typeface="Tahoma"/>
              </a:rPr>
              <a:t>design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788145" y="6572137"/>
            <a:ext cx="276860" cy="178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1-</a:t>
            </a:r>
            <a:r>
              <a:rPr sz="1000" spc="-35" dirty="0">
                <a:latin typeface="Tahoma"/>
                <a:cs typeface="Tahoma"/>
              </a:rPr>
              <a:t>13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11226"/>
            <a:ext cx="78035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ahoma"/>
                <a:cs typeface="Tahoma"/>
              </a:rPr>
              <a:t>Need</a:t>
            </a:r>
            <a:r>
              <a:rPr sz="3200" b="1" spc="-20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for Systems</a:t>
            </a:r>
            <a:r>
              <a:rPr sz="3200" b="1" spc="-15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Analysis</a:t>
            </a:r>
            <a:r>
              <a:rPr sz="3200" b="1" spc="-35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and</a:t>
            </a:r>
            <a:r>
              <a:rPr sz="3200" b="1" spc="-5" dirty="0">
                <a:latin typeface="Tahoma"/>
                <a:cs typeface="Tahoma"/>
              </a:rPr>
              <a:t> </a:t>
            </a:r>
            <a:r>
              <a:rPr sz="3200" b="1" spc="-10" dirty="0">
                <a:latin typeface="Tahoma"/>
                <a:cs typeface="Tahoma"/>
              </a:rPr>
              <a:t>Design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946150"/>
            <a:ext cx="8862695" cy="4878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66"/>
                </a:solidFill>
                <a:latin typeface="Tahoma"/>
                <a:cs typeface="Tahoma"/>
              </a:rPr>
              <a:t>Remember,</a:t>
            </a:r>
            <a:r>
              <a:rPr sz="2400" b="1" spc="-75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66"/>
                </a:solidFill>
                <a:latin typeface="Tahoma"/>
                <a:cs typeface="Tahoma"/>
              </a:rPr>
              <a:t>finding</a:t>
            </a:r>
            <a:r>
              <a:rPr sz="2400" b="1" spc="-50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66"/>
                </a:solidFill>
                <a:latin typeface="Tahoma"/>
                <a:cs typeface="Tahoma"/>
              </a:rPr>
              <a:t>and</a:t>
            </a:r>
            <a:r>
              <a:rPr sz="2400" b="1" spc="-50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66"/>
                </a:solidFill>
                <a:latin typeface="Tahoma"/>
                <a:cs typeface="Tahoma"/>
              </a:rPr>
              <a:t>fixing</a:t>
            </a:r>
            <a:r>
              <a:rPr sz="2400" b="1" spc="-40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66"/>
                </a:solidFill>
                <a:latin typeface="Tahoma"/>
                <a:cs typeface="Tahoma"/>
              </a:rPr>
              <a:t>a</a:t>
            </a:r>
            <a:r>
              <a:rPr sz="2400" b="1" spc="-45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66"/>
                </a:solidFill>
                <a:latin typeface="Tahoma"/>
                <a:cs typeface="Tahoma"/>
              </a:rPr>
              <a:t>fault</a:t>
            </a:r>
            <a:r>
              <a:rPr sz="2400" b="1" spc="-45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66"/>
                </a:solidFill>
                <a:latin typeface="Tahoma"/>
                <a:cs typeface="Tahoma"/>
              </a:rPr>
              <a:t>after</a:t>
            </a:r>
            <a:r>
              <a:rPr sz="2400" b="1" spc="-50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000066"/>
                </a:solidFill>
                <a:latin typeface="Tahoma"/>
                <a:cs typeface="Tahoma"/>
              </a:rPr>
              <a:t>software </a:t>
            </a:r>
            <a:r>
              <a:rPr sz="2400" b="1" dirty="0">
                <a:solidFill>
                  <a:srgbClr val="000066"/>
                </a:solidFill>
                <a:latin typeface="Tahoma"/>
                <a:cs typeface="Tahoma"/>
              </a:rPr>
              <a:t>delivery</a:t>
            </a:r>
            <a:r>
              <a:rPr sz="2400" b="1" spc="-80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66"/>
                </a:solidFill>
                <a:latin typeface="Tahoma"/>
                <a:cs typeface="Tahoma"/>
              </a:rPr>
              <a:t>is</a:t>
            </a:r>
            <a:r>
              <a:rPr sz="2400" b="1" spc="-65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66"/>
                </a:solidFill>
                <a:latin typeface="Tahoma"/>
                <a:cs typeface="Tahoma"/>
              </a:rPr>
              <a:t>100x</a:t>
            </a:r>
            <a:r>
              <a:rPr sz="2400" b="1" spc="-70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66"/>
                </a:solidFill>
                <a:latin typeface="Tahoma"/>
                <a:cs typeface="Tahoma"/>
              </a:rPr>
              <a:t>more</a:t>
            </a:r>
            <a:r>
              <a:rPr sz="2400" b="1" spc="-70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66"/>
                </a:solidFill>
                <a:latin typeface="Tahoma"/>
                <a:cs typeface="Tahoma"/>
              </a:rPr>
              <a:t>expensive</a:t>
            </a:r>
            <a:r>
              <a:rPr sz="2400" b="1" spc="-75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66"/>
                </a:solidFill>
                <a:latin typeface="Tahoma"/>
                <a:cs typeface="Tahoma"/>
              </a:rPr>
              <a:t>than</a:t>
            </a:r>
            <a:r>
              <a:rPr sz="2400" b="1" spc="-75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66"/>
                </a:solidFill>
                <a:latin typeface="Tahoma"/>
                <a:cs typeface="Tahoma"/>
              </a:rPr>
              <a:t>finding</a:t>
            </a:r>
            <a:r>
              <a:rPr sz="2400" b="1" spc="-60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66"/>
                </a:solidFill>
                <a:latin typeface="Tahoma"/>
                <a:cs typeface="Tahoma"/>
              </a:rPr>
              <a:t>and</a:t>
            </a:r>
            <a:r>
              <a:rPr sz="2400" b="1" spc="-70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000066"/>
                </a:solidFill>
                <a:latin typeface="Tahoma"/>
                <a:cs typeface="Tahoma"/>
              </a:rPr>
              <a:t>fixing </a:t>
            </a:r>
            <a:r>
              <a:rPr sz="2400" b="1" dirty="0">
                <a:solidFill>
                  <a:srgbClr val="000066"/>
                </a:solidFill>
                <a:latin typeface="Tahoma"/>
                <a:cs typeface="Tahoma"/>
              </a:rPr>
              <a:t>it</a:t>
            </a:r>
            <a:r>
              <a:rPr sz="2400" b="1" spc="-50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66"/>
                </a:solidFill>
                <a:latin typeface="Tahoma"/>
                <a:cs typeface="Tahoma"/>
              </a:rPr>
              <a:t>during</a:t>
            </a:r>
            <a:r>
              <a:rPr sz="2400" b="1" spc="-40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66"/>
                </a:solidFill>
                <a:latin typeface="Tahoma"/>
                <a:cs typeface="Tahoma"/>
              </a:rPr>
              <a:t>systems</a:t>
            </a:r>
            <a:r>
              <a:rPr sz="2400" b="1" spc="-35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66"/>
                </a:solidFill>
                <a:latin typeface="Tahoma"/>
                <a:cs typeface="Tahoma"/>
              </a:rPr>
              <a:t>analysis</a:t>
            </a:r>
            <a:r>
              <a:rPr sz="2400" b="1" spc="-40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66"/>
                </a:solidFill>
                <a:latin typeface="Tahoma"/>
                <a:cs typeface="Tahoma"/>
              </a:rPr>
              <a:t>or</a:t>
            </a:r>
            <a:r>
              <a:rPr sz="2400" b="1" spc="-35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66"/>
                </a:solidFill>
                <a:latin typeface="Tahoma"/>
                <a:cs typeface="Tahoma"/>
              </a:rPr>
              <a:t>early</a:t>
            </a:r>
            <a:r>
              <a:rPr sz="2400" b="1" spc="-40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66"/>
                </a:solidFill>
                <a:latin typeface="Tahoma"/>
                <a:cs typeface="Tahoma"/>
              </a:rPr>
              <a:t>design</a:t>
            </a:r>
            <a:r>
              <a:rPr sz="2400" b="1" spc="-50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000066"/>
                </a:solidFill>
                <a:latin typeface="Tahoma"/>
                <a:cs typeface="Tahoma"/>
              </a:rPr>
              <a:t>phases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6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Installing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system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without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proper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planning</a:t>
            </a:r>
            <a:endParaRPr sz="3200">
              <a:latin typeface="Tahoma"/>
              <a:cs typeface="Tahoma"/>
            </a:endParaRPr>
          </a:p>
          <a:p>
            <a:pPr marL="867410" lvl="1" indent="-397510">
              <a:lnSpc>
                <a:spcPct val="100000"/>
              </a:lnSpc>
              <a:spcBef>
                <a:spcPts val="680"/>
              </a:spcBef>
              <a:buClr>
                <a:srgbClr val="E11738"/>
              </a:buClr>
              <a:buChar char="•"/>
              <a:tabLst>
                <a:tab pos="867410" algn="l"/>
              </a:tabLst>
            </a:pPr>
            <a:r>
              <a:rPr sz="2800" dirty="0">
                <a:latin typeface="Tahoma"/>
                <a:cs typeface="Tahoma"/>
              </a:rPr>
              <a:t>Leads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great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user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dissatisfaction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and</a:t>
            </a:r>
            <a:endParaRPr sz="2800">
              <a:latin typeface="Tahoma"/>
              <a:cs typeface="Tahoma"/>
            </a:endParaRPr>
          </a:p>
          <a:p>
            <a:pPr marL="867410" lvl="1" indent="-397510">
              <a:lnSpc>
                <a:spcPct val="100000"/>
              </a:lnSpc>
              <a:spcBef>
                <a:spcPts val="670"/>
              </a:spcBef>
              <a:buClr>
                <a:srgbClr val="E11738"/>
              </a:buClr>
              <a:buChar char="•"/>
              <a:tabLst>
                <a:tab pos="867410" algn="l"/>
              </a:tabLst>
            </a:pPr>
            <a:r>
              <a:rPr sz="2800" dirty="0">
                <a:latin typeface="Tahoma"/>
                <a:cs typeface="Tahoma"/>
              </a:rPr>
              <a:t>Frequently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causes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system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fall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into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disuse</a:t>
            </a:r>
            <a:endParaRPr sz="2800">
              <a:latin typeface="Tahoma"/>
              <a:cs typeface="Tahoma"/>
            </a:endParaRPr>
          </a:p>
          <a:p>
            <a:pPr marL="355600" marR="1002665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User</a:t>
            </a:r>
            <a:r>
              <a:rPr sz="3200" spc="-1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involvement</a:t>
            </a:r>
            <a:r>
              <a:rPr sz="3200" spc="-1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throughout</a:t>
            </a:r>
            <a:r>
              <a:rPr sz="3200" spc="-114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12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systems </a:t>
            </a:r>
            <a:r>
              <a:rPr sz="3200" dirty="0">
                <a:latin typeface="Tahoma"/>
                <a:cs typeface="Tahoma"/>
              </a:rPr>
              <a:t>demand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for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system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analysis</a:t>
            </a:r>
            <a:endParaRPr sz="3200">
              <a:latin typeface="Tahoma"/>
              <a:cs typeface="Tahoma"/>
            </a:endParaRPr>
          </a:p>
          <a:p>
            <a:pPr marL="355600" marR="129539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New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technologies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are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also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driving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need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for </a:t>
            </a:r>
            <a:r>
              <a:rPr sz="3200" dirty="0">
                <a:latin typeface="Tahoma"/>
                <a:cs typeface="Tahoma"/>
              </a:rPr>
              <a:t>systems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analysis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203907"/>
            <a:ext cx="8105775" cy="6003925"/>
          </a:xfrm>
          <a:prstGeom prst="rect">
            <a:avLst/>
          </a:prstGeom>
        </p:spPr>
        <p:txBody>
          <a:bodyPr vert="horz" wrap="square" lIns="0" tIns="21971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730"/>
              </a:spcBef>
            </a:pPr>
            <a:r>
              <a:rPr sz="3600" b="1" dirty="0">
                <a:solidFill>
                  <a:srgbClr val="DF1738"/>
                </a:solidFill>
                <a:latin typeface="Tahoma"/>
                <a:cs typeface="Tahoma"/>
              </a:rPr>
              <a:t>What</a:t>
            </a:r>
            <a:r>
              <a:rPr sz="3600" b="1" spc="-1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3600" b="1" dirty="0">
                <a:solidFill>
                  <a:srgbClr val="DF1738"/>
                </a:solidFill>
                <a:latin typeface="Tahoma"/>
                <a:cs typeface="Tahoma"/>
              </a:rPr>
              <a:t>is</a:t>
            </a:r>
            <a:r>
              <a:rPr sz="3600" b="1" spc="-25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3600" b="1" dirty="0">
                <a:solidFill>
                  <a:srgbClr val="DF1738"/>
                </a:solidFill>
                <a:latin typeface="Tahoma"/>
                <a:cs typeface="Tahoma"/>
              </a:rPr>
              <a:t>Systems </a:t>
            </a:r>
            <a:r>
              <a:rPr sz="3600" b="1" spc="-10" dirty="0">
                <a:solidFill>
                  <a:srgbClr val="DF1738"/>
                </a:solidFill>
                <a:latin typeface="Tahoma"/>
                <a:cs typeface="Tahoma"/>
              </a:rPr>
              <a:t>Analysis?</a:t>
            </a:r>
            <a:endParaRPr sz="3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810"/>
              </a:spcBef>
              <a:buClr>
                <a:srgbClr val="000000"/>
              </a:buClr>
              <a:buChar char="•"/>
              <a:tabLst>
                <a:tab pos="354965" algn="l"/>
              </a:tabLst>
            </a:pPr>
            <a:r>
              <a:rPr sz="4000" dirty="0">
                <a:solidFill>
                  <a:srgbClr val="1A08FF"/>
                </a:solidFill>
                <a:latin typeface="Tahoma"/>
                <a:cs typeface="Tahoma"/>
              </a:rPr>
              <a:t>The</a:t>
            </a:r>
            <a:r>
              <a:rPr sz="4000" spc="-100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4000" dirty="0">
                <a:solidFill>
                  <a:srgbClr val="1A08FF"/>
                </a:solidFill>
                <a:latin typeface="Tahoma"/>
                <a:cs typeface="Tahoma"/>
              </a:rPr>
              <a:t>collection</a:t>
            </a:r>
            <a:r>
              <a:rPr sz="4000" spc="-85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4000" spc="-25" dirty="0">
                <a:solidFill>
                  <a:srgbClr val="1A08FF"/>
                </a:solidFill>
                <a:latin typeface="Tahoma"/>
                <a:cs typeface="Tahoma"/>
              </a:rPr>
              <a:t>of</a:t>
            </a:r>
            <a:endParaRPr sz="40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E11738"/>
              </a:buClr>
              <a:buFont typeface="Tahoma"/>
              <a:buChar char="•"/>
              <a:tabLst>
                <a:tab pos="756285" algn="l"/>
              </a:tabLst>
            </a:pPr>
            <a:r>
              <a:rPr sz="4000" b="1" spc="-10" dirty="0">
                <a:solidFill>
                  <a:srgbClr val="FF0000"/>
                </a:solidFill>
                <a:latin typeface="Tahoma"/>
                <a:cs typeface="Tahoma"/>
              </a:rPr>
              <a:t>Notations</a:t>
            </a:r>
            <a:endParaRPr sz="40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E11738"/>
              </a:buClr>
              <a:buFont typeface="Tahoma"/>
              <a:buChar char="•"/>
              <a:tabLst>
                <a:tab pos="756285" algn="l"/>
              </a:tabLst>
            </a:pPr>
            <a:r>
              <a:rPr sz="4000" b="1" dirty="0">
                <a:solidFill>
                  <a:srgbClr val="FF0000"/>
                </a:solidFill>
                <a:latin typeface="Tahoma"/>
                <a:cs typeface="Tahoma"/>
              </a:rPr>
              <a:t>Methodologies</a:t>
            </a:r>
            <a:r>
              <a:rPr sz="4000" b="1" spc="-20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4000" spc="-25" dirty="0">
                <a:solidFill>
                  <a:srgbClr val="1A08FF"/>
                </a:solidFill>
                <a:latin typeface="Tahoma"/>
                <a:cs typeface="Tahoma"/>
              </a:rPr>
              <a:t>and</a:t>
            </a:r>
            <a:endParaRPr sz="40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E11738"/>
              </a:buClr>
              <a:buFont typeface="Tahoma"/>
              <a:buChar char="•"/>
              <a:tabLst>
                <a:tab pos="756285" algn="l"/>
              </a:tabLst>
            </a:pPr>
            <a:r>
              <a:rPr sz="4000" b="1" spc="-10" dirty="0">
                <a:solidFill>
                  <a:srgbClr val="FF0000"/>
                </a:solidFill>
                <a:latin typeface="Tahoma"/>
                <a:cs typeface="Tahoma"/>
              </a:rPr>
              <a:t>Tools</a:t>
            </a:r>
            <a:endParaRPr sz="4000">
              <a:latin typeface="Tahoma"/>
              <a:cs typeface="Tahoma"/>
            </a:endParaRPr>
          </a:p>
          <a:p>
            <a:pPr marL="342265" marR="1829435" indent="-342265" algn="r">
              <a:lnSpc>
                <a:spcPct val="100000"/>
              </a:lnSpc>
              <a:spcBef>
                <a:spcPts val="484"/>
              </a:spcBef>
              <a:buClr>
                <a:srgbClr val="000000"/>
              </a:buClr>
              <a:buChar char="•"/>
              <a:tabLst>
                <a:tab pos="342265" algn="l"/>
              </a:tabLst>
            </a:pPr>
            <a:r>
              <a:rPr sz="4000" dirty="0">
                <a:solidFill>
                  <a:srgbClr val="1A08FF"/>
                </a:solidFill>
                <a:latin typeface="Tahoma"/>
                <a:cs typeface="Tahoma"/>
              </a:rPr>
              <a:t>Used</a:t>
            </a:r>
            <a:r>
              <a:rPr sz="4000" spc="-70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4000" dirty="0">
                <a:solidFill>
                  <a:srgbClr val="1A08FF"/>
                </a:solidFill>
                <a:latin typeface="Tahoma"/>
                <a:cs typeface="Tahoma"/>
              </a:rPr>
              <a:t>to</a:t>
            </a:r>
            <a:r>
              <a:rPr sz="4000" spc="-80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4000" dirty="0">
                <a:solidFill>
                  <a:srgbClr val="1A08FF"/>
                </a:solidFill>
                <a:latin typeface="Tahoma"/>
                <a:cs typeface="Tahoma"/>
              </a:rPr>
              <a:t>gather</a:t>
            </a:r>
            <a:r>
              <a:rPr sz="4000" spc="-85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4000" dirty="0">
                <a:solidFill>
                  <a:srgbClr val="1A08FF"/>
                </a:solidFill>
                <a:latin typeface="Tahoma"/>
                <a:cs typeface="Tahoma"/>
              </a:rPr>
              <a:t>details</a:t>
            </a:r>
            <a:r>
              <a:rPr sz="4000" spc="-75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4000" spc="-25" dirty="0">
                <a:latin typeface="Tahoma"/>
                <a:cs typeface="Tahoma"/>
              </a:rPr>
              <a:t>and</a:t>
            </a:r>
            <a:endParaRPr sz="4000">
              <a:latin typeface="Tahoma"/>
              <a:cs typeface="Tahoma"/>
            </a:endParaRPr>
          </a:p>
          <a:p>
            <a:pPr marL="286385" marR="1760220" lvl="1" indent="-286385" algn="r">
              <a:lnSpc>
                <a:spcPct val="100000"/>
              </a:lnSpc>
              <a:spcBef>
                <a:spcPts val="425"/>
              </a:spcBef>
              <a:buClr>
                <a:srgbClr val="E11738"/>
              </a:buClr>
              <a:buChar char="•"/>
              <a:tabLst>
                <a:tab pos="286385" algn="l"/>
              </a:tabLst>
            </a:pPr>
            <a:r>
              <a:rPr sz="3600" dirty="0">
                <a:solidFill>
                  <a:srgbClr val="1A08FF"/>
                </a:solidFill>
                <a:latin typeface="Tahoma"/>
                <a:cs typeface="Tahoma"/>
              </a:rPr>
              <a:t>Analyze</a:t>
            </a:r>
            <a:r>
              <a:rPr sz="3600" spc="-35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3600" dirty="0">
                <a:solidFill>
                  <a:srgbClr val="1A08FF"/>
                </a:solidFill>
                <a:latin typeface="Tahoma"/>
                <a:cs typeface="Tahoma"/>
              </a:rPr>
              <a:t>a</a:t>
            </a:r>
            <a:r>
              <a:rPr sz="3600" spc="-30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3600" dirty="0">
                <a:solidFill>
                  <a:srgbClr val="1A08FF"/>
                </a:solidFill>
                <a:latin typeface="Tahoma"/>
                <a:cs typeface="Tahoma"/>
              </a:rPr>
              <a:t>problem</a:t>
            </a:r>
            <a:r>
              <a:rPr sz="3600" spc="-30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3600" spc="-10" dirty="0">
                <a:solidFill>
                  <a:srgbClr val="1A08FF"/>
                </a:solidFill>
                <a:latin typeface="Tahoma"/>
                <a:cs typeface="Tahoma"/>
              </a:rPr>
              <a:t>situation</a:t>
            </a:r>
            <a:endParaRPr sz="3600">
              <a:latin typeface="Tahoma"/>
              <a:cs typeface="Tahoma"/>
            </a:endParaRPr>
          </a:p>
          <a:p>
            <a:pPr marL="1155700" marR="5080" lvl="2" indent="-228600">
              <a:lnSpc>
                <a:spcPts val="3890"/>
              </a:lnSpc>
              <a:spcBef>
                <a:spcPts val="919"/>
              </a:spcBef>
              <a:buClr>
                <a:srgbClr val="97867C"/>
              </a:buClr>
              <a:buChar char="•"/>
              <a:tabLst>
                <a:tab pos="1155700" algn="l"/>
              </a:tabLst>
            </a:pPr>
            <a:r>
              <a:rPr sz="3600" dirty="0">
                <a:solidFill>
                  <a:srgbClr val="1A08FF"/>
                </a:solidFill>
                <a:latin typeface="Tahoma"/>
                <a:cs typeface="Tahoma"/>
              </a:rPr>
              <a:t>prior</a:t>
            </a:r>
            <a:r>
              <a:rPr sz="3600" spc="-100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3600" dirty="0">
                <a:solidFill>
                  <a:srgbClr val="1A08FF"/>
                </a:solidFill>
                <a:latin typeface="Tahoma"/>
                <a:cs typeface="Tahoma"/>
              </a:rPr>
              <a:t>to</a:t>
            </a:r>
            <a:r>
              <a:rPr sz="3600" spc="-95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3600" dirty="0">
                <a:solidFill>
                  <a:srgbClr val="1A08FF"/>
                </a:solidFill>
                <a:latin typeface="Tahoma"/>
                <a:cs typeface="Tahoma"/>
              </a:rPr>
              <a:t>information</a:t>
            </a:r>
            <a:r>
              <a:rPr sz="3600" spc="-95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3600" dirty="0">
                <a:solidFill>
                  <a:srgbClr val="1A08FF"/>
                </a:solidFill>
                <a:latin typeface="Tahoma"/>
                <a:cs typeface="Tahoma"/>
              </a:rPr>
              <a:t>system</a:t>
            </a:r>
            <a:r>
              <a:rPr sz="3600" spc="-100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3600" spc="-10" dirty="0">
                <a:solidFill>
                  <a:srgbClr val="1A08FF"/>
                </a:solidFill>
                <a:latin typeface="Tahoma"/>
                <a:cs typeface="Tahoma"/>
              </a:rPr>
              <a:t>design </a:t>
            </a:r>
            <a:r>
              <a:rPr sz="3600" dirty="0">
                <a:solidFill>
                  <a:srgbClr val="1A08FF"/>
                </a:solidFill>
                <a:latin typeface="Tahoma"/>
                <a:cs typeface="Tahoma"/>
              </a:rPr>
              <a:t>and</a:t>
            </a:r>
            <a:r>
              <a:rPr sz="3600" spc="-50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3600" spc="-10" dirty="0">
                <a:solidFill>
                  <a:srgbClr val="1A08FF"/>
                </a:solidFill>
                <a:latin typeface="Tahoma"/>
                <a:cs typeface="Tahoma"/>
              </a:rPr>
              <a:t>implementation</a:t>
            </a:r>
            <a:endParaRPr sz="3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ahoma"/>
                <a:cs typeface="Tahoma"/>
              </a:rPr>
              <a:t>What</a:t>
            </a:r>
            <a:r>
              <a:rPr sz="3600" b="1" spc="-10" dirty="0">
                <a:latin typeface="Tahoma"/>
                <a:cs typeface="Tahoma"/>
              </a:rPr>
              <a:t> </a:t>
            </a:r>
            <a:r>
              <a:rPr sz="3600" b="1" dirty="0">
                <a:latin typeface="Tahoma"/>
                <a:cs typeface="Tahoma"/>
              </a:rPr>
              <a:t>is</a:t>
            </a:r>
            <a:r>
              <a:rPr sz="3600" b="1" spc="-25" dirty="0">
                <a:latin typeface="Tahoma"/>
                <a:cs typeface="Tahoma"/>
              </a:rPr>
              <a:t> </a:t>
            </a:r>
            <a:r>
              <a:rPr sz="3600" b="1" dirty="0">
                <a:latin typeface="Tahoma"/>
                <a:cs typeface="Tahoma"/>
              </a:rPr>
              <a:t>Systems </a:t>
            </a:r>
            <a:r>
              <a:rPr sz="3600" b="1" spc="-10" dirty="0">
                <a:latin typeface="Tahoma"/>
                <a:cs typeface="Tahoma"/>
              </a:rPr>
              <a:t>Analysis?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178651"/>
            <a:ext cx="8615680" cy="565213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5600" marR="5080" indent="-342900">
              <a:lnSpc>
                <a:spcPct val="87600"/>
              </a:lnSpc>
              <a:spcBef>
                <a:spcPts val="625"/>
              </a:spcBef>
              <a:buClr>
                <a:srgbClr val="000000"/>
              </a:buClr>
              <a:buSzPct val="95522"/>
              <a:buFont typeface="Tahoma"/>
              <a:buChar char="•"/>
              <a:tabLst>
                <a:tab pos="355600" algn="l"/>
              </a:tabLst>
            </a:pPr>
            <a:r>
              <a:rPr sz="3350" b="1" spc="-90" dirty="0">
                <a:solidFill>
                  <a:srgbClr val="EF1F1D"/>
                </a:solidFill>
                <a:latin typeface="Tahoma"/>
                <a:cs typeface="Tahoma"/>
              </a:rPr>
              <a:t>Systems</a:t>
            </a:r>
            <a:r>
              <a:rPr sz="3350" b="1" spc="-120" dirty="0">
                <a:solidFill>
                  <a:srgbClr val="EF1F1D"/>
                </a:solidFill>
                <a:latin typeface="Tahoma"/>
                <a:cs typeface="Tahoma"/>
              </a:rPr>
              <a:t> </a:t>
            </a:r>
            <a:r>
              <a:rPr sz="3350" b="1" spc="-75" dirty="0">
                <a:solidFill>
                  <a:srgbClr val="EF1F1D"/>
                </a:solidFill>
                <a:latin typeface="Tahoma"/>
                <a:cs typeface="Tahoma"/>
              </a:rPr>
              <a:t>analysis</a:t>
            </a:r>
            <a:r>
              <a:rPr sz="3350" b="1" spc="-140" dirty="0">
                <a:solidFill>
                  <a:srgbClr val="EF1F1D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1A08FF"/>
                </a:solidFill>
                <a:latin typeface="Tahoma"/>
                <a:cs typeface="Tahoma"/>
              </a:rPr>
              <a:t>(or,</a:t>
            </a:r>
            <a:r>
              <a:rPr sz="3200" b="1" spc="-60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3350" b="1" spc="-10" dirty="0">
                <a:solidFill>
                  <a:srgbClr val="EF1F1D"/>
                </a:solidFill>
                <a:latin typeface="Tahoma"/>
                <a:cs typeface="Tahoma"/>
              </a:rPr>
              <a:t>requirements </a:t>
            </a:r>
            <a:r>
              <a:rPr sz="3350" b="1" spc="-70" dirty="0">
                <a:solidFill>
                  <a:srgbClr val="EF1F1D"/>
                </a:solidFill>
                <a:latin typeface="Tahoma"/>
                <a:cs typeface="Tahoma"/>
              </a:rPr>
              <a:t>analysis</a:t>
            </a:r>
            <a:r>
              <a:rPr sz="3200" b="1" spc="-70" dirty="0">
                <a:solidFill>
                  <a:srgbClr val="1A08FF"/>
                </a:solidFill>
                <a:latin typeface="Tahoma"/>
                <a:cs typeface="Tahoma"/>
              </a:rPr>
              <a:t>)</a:t>
            </a:r>
            <a:r>
              <a:rPr sz="3200" b="1" spc="-55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1A08FF"/>
                </a:solidFill>
                <a:latin typeface="Tahoma"/>
                <a:cs typeface="Tahoma"/>
              </a:rPr>
              <a:t>must</a:t>
            </a:r>
            <a:r>
              <a:rPr sz="3200" b="1" spc="-30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1A08FF"/>
                </a:solidFill>
                <a:latin typeface="Tahoma"/>
                <a:cs typeface="Tahoma"/>
              </a:rPr>
              <a:t>ensure</a:t>
            </a:r>
            <a:r>
              <a:rPr sz="3200" b="1" spc="-25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1A08FF"/>
                </a:solidFill>
                <a:latin typeface="Tahoma"/>
                <a:cs typeface="Tahoma"/>
              </a:rPr>
              <a:t>that</a:t>
            </a:r>
            <a:r>
              <a:rPr sz="3200" b="1" spc="-45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1A08FF"/>
                </a:solidFill>
                <a:latin typeface="Tahoma"/>
                <a:cs typeface="Tahoma"/>
              </a:rPr>
              <a:t>the</a:t>
            </a:r>
            <a:r>
              <a:rPr sz="3200" b="1" spc="-20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1A08FF"/>
                </a:solidFill>
                <a:latin typeface="Tahoma"/>
                <a:cs typeface="Tahoma"/>
              </a:rPr>
              <a:t>proposed </a:t>
            </a:r>
            <a:r>
              <a:rPr sz="3200" b="1" dirty="0">
                <a:solidFill>
                  <a:srgbClr val="1A08FF"/>
                </a:solidFill>
                <a:latin typeface="Tahoma"/>
                <a:cs typeface="Tahoma"/>
              </a:rPr>
              <a:t>information</a:t>
            </a:r>
            <a:r>
              <a:rPr sz="3200" b="1" spc="-65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1A08FF"/>
                </a:solidFill>
                <a:latin typeface="Tahoma"/>
                <a:cs typeface="Tahoma"/>
              </a:rPr>
              <a:t>system</a:t>
            </a:r>
            <a:r>
              <a:rPr sz="3200" b="1" spc="-35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1A08FF"/>
                </a:solidFill>
                <a:latin typeface="Tahoma"/>
                <a:cs typeface="Tahoma"/>
              </a:rPr>
              <a:t>meets</a:t>
            </a:r>
            <a:endParaRPr sz="32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384"/>
              </a:spcBef>
              <a:buClr>
                <a:srgbClr val="E11738"/>
              </a:buClr>
              <a:buFont typeface="Tahoma"/>
              <a:buChar char="•"/>
              <a:tabLst>
                <a:tab pos="756285" algn="l"/>
              </a:tabLst>
            </a:pPr>
            <a:r>
              <a:rPr sz="3200" b="1" dirty="0">
                <a:solidFill>
                  <a:srgbClr val="1A08FF"/>
                </a:solidFill>
                <a:latin typeface="Tahoma"/>
                <a:cs typeface="Tahoma"/>
              </a:rPr>
              <a:t>User</a:t>
            </a:r>
            <a:r>
              <a:rPr sz="3200" b="1" spc="-10" dirty="0">
                <a:solidFill>
                  <a:srgbClr val="1A08FF"/>
                </a:solidFill>
                <a:latin typeface="Tahoma"/>
                <a:cs typeface="Tahoma"/>
              </a:rPr>
              <a:t> needs,</a:t>
            </a:r>
            <a:endParaRPr sz="32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380"/>
              </a:spcBef>
              <a:buClr>
                <a:srgbClr val="E11738"/>
              </a:buClr>
              <a:buFont typeface="Tahoma"/>
              <a:buChar char="•"/>
              <a:tabLst>
                <a:tab pos="756285" algn="l"/>
              </a:tabLst>
            </a:pPr>
            <a:r>
              <a:rPr sz="3200" b="1" dirty="0">
                <a:solidFill>
                  <a:srgbClr val="1A08FF"/>
                </a:solidFill>
                <a:latin typeface="Tahoma"/>
                <a:cs typeface="Tahoma"/>
              </a:rPr>
              <a:t>Can</a:t>
            </a:r>
            <a:r>
              <a:rPr sz="3200" b="1" spc="-25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1A08FF"/>
                </a:solidFill>
                <a:latin typeface="Tahoma"/>
                <a:cs typeface="Tahoma"/>
              </a:rPr>
              <a:t>be</a:t>
            </a:r>
            <a:r>
              <a:rPr sz="3200" b="1" spc="-10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1A08FF"/>
                </a:solidFill>
                <a:latin typeface="Tahoma"/>
                <a:cs typeface="Tahoma"/>
              </a:rPr>
              <a:t>delivered</a:t>
            </a:r>
            <a:r>
              <a:rPr sz="3200" b="1" spc="-50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1A08FF"/>
                </a:solidFill>
                <a:latin typeface="Tahoma"/>
                <a:cs typeface="Tahoma"/>
              </a:rPr>
              <a:t>on</a:t>
            </a:r>
            <a:r>
              <a:rPr sz="3200" b="1" spc="-10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1A08FF"/>
                </a:solidFill>
                <a:latin typeface="Tahoma"/>
                <a:cs typeface="Tahoma"/>
              </a:rPr>
              <a:t>time,</a:t>
            </a:r>
            <a:r>
              <a:rPr sz="3200" b="1" spc="-30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3200" b="1" spc="-25" dirty="0">
                <a:solidFill>
                  <a:srgbClr val="1A08FF"/>
                </a:solidFill>
                <a:latin typeface="Tahoma"/>
                <a:cs typeface="Tahoma"/>
              </a:rPr>
              <a:t>and</a:t>
            </a:r>
            <a:endParaRPr sz="32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390"/>
              </a:spcBef>
              <a:buClr>
                <a:srgbClr val="E11738"/>
              </a:buClr>
              <a:buFont typeface="Tahoma"/>
              <a:buChar char="•"/>
              <a:tabLst>
                <a:tab pos="756285" algn="l"/>
              </a:tabLst>
            </a:pPr>
            <a:r>
              <a:rPr sz="3200" b="1" dirty="0">
                <a:solidFill>
                  <a:srgbClr val="1A08FF"/>
                </a:solidFill>
                <a:latin typeface="Tahoma"/>
                <a:cs typeface="Tahoma"/>
              </a:rPr>
              <a:t>Can</a:t>
            </a:r>
            <a:r>
              <a:rPr sz="3200" b="1" spc="-25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1A08FF"/>
                </a:solidFill>
                <a:latin typeface="Tahoma"/>
                <a:cs typeface="Tahoma"/>
              </a:rPr>
              <a:t>be updated</a:t>
            </a:r>
            <a:r>
              <a:rPr sz="3200" b="1" spc="-40" dirty="0">
                <a:solidFill>
                  <a:srgbClr val="1A08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1A08FF"/>
                </a:solidFill>
                <a:latin typeface="Tahoma"/>
                <a:cs typeface="Tahoma"/>
              </a:rPr>
              <a:t>inexpensively.</a:t>
            </a:r>
            <a:endParaRPr sz="32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075"/>
              </a:spcBef>
              <a:buClr>
                <a:srgbClr val="E11738"/>
              </a:buClr>
              <a:buFont typeface="Tahoma"/>
              <a:buChar char="•"/>
            </a:pPr>
            <a:endParaRPr sz="3200">
              <a:latin typeface="Tahoma"/>
              <a:cs typeface="Tahoma"/>
            </a:endParaRPr>
          </a:p>
          <a:p>
            <a:pPr marL="355600" marR="781050" indent="-342900" algn="just">
              <a:lnSpc>
                <a:spcPts val="3030"/>
              </a:lnSpc>
              <a:buClr>
                <a:srgbClr val="000000"/>
              </a:buClr>
              <a:buFont typeface="Tahoma"/>
              <a:buChar char="•"/>
              <a:tabLst>
                <a:tab pos="355600" algn="l"/>
              </a:tabLst>
            </a:pPr>
            <a:r>
              <a:rPr sz="2800" b="1" dirty="0">
                <a:solidFill>
                  <a:srgbClr val="6F2F9F"/>
                </a:solidFill>
                <a:latin typeface="Tahoma"/>
                <a:cs typeface="Tahoma"/>
              </a:rPr>
              <a:t>Problems</a:t>
            </a:r>
            <a:r>
              <a:rPr sz="2800" b="1" spc="-60" dirty="0">
                <a:solidFill>
                  <a:srgbClr val="6F2F9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6F2F9F"/>
                </a:solidFill>
                <a:latin typeface="Tahoma"/>
                <a:cs typeface="Tahoma"/>
              </a:rPr>
              <a:t>in</a:t>
            </a:r>
            <a:r>
              <a:rPr sz="2800" b="1" spc="-90" dirty="0">
                <a:solidFill>
                  <a:srgbClr val="6F2F9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6F2F9F"/>
                </a:solidFill>
                <a:latin typeface="Tahoma"/>
                <a:cs typeface="Tahoma"/>
              </a:rPr>
              <a:t>"getting</a:t>
            </a:r>
            <a:r>
              <a:rPr sz="2800" b="1" spc="-70" dirty="0">
                <a:solidFill>
                  <a:srgbClr val="6F2F9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6F2F9F"/>
                </a:solidFill>
                <a:latin typeface="Tahoma"/>
                <a:cs typeface="Tahoma"/>
              </a:rPr>
              <a:t>the</a:t>
            </a:r>
            <a:r>
              <a:rPr sz="2800" b="1" spc="-80" dirty="0">
                <a:solidFill>
                  <a:srgbClr val="6F2F9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6F2F9F"/>
                </a:solidFill>
                <a:latin typeface="Tahoma"/>
                <a:cs typeface="Tahoma"/>
              </a:rPr>
              <a:t>systems</a:t>
            </a:r>
            <a:r>
              <a:rPr sz="2800" b="1" spc="-85" dirty="0">
                <a:solidFill>
                  <a:srgbClr val="6F2F9F"/>
                </a:solidFill>
                <a:latin typeface="Tahoma"/>
                <a:cs typeface="Tahoma"/>
              </a:rPr>
              <a:t> </a:t>
            </a:r>
            <a:r>
              <a:rPr sz="2800" b="1" spc="-10" dirty="0">
                <a:solidFill>
                  <a:srgbClr val="6F2F9F"/>
                </a:solidFill>
                <a:latin typeface="Tahoma"/>
                <a:cs typeface="Tahoma"/>
              </a:rPr>
              <a:t>analysis right",</a:t>
            </a:r>
            <a:endParaRPr sz="2800">
              <a:latin typeface="Tahoma"/>
              <a:cs typeface="Tahoma"/>
            </a:endParaRPr>
          </a:p>
          <a:p>
            <a:pPr marL="355600" marR="696595" indent="-342900" algn="just">
              <a:lnSpc>
                <a:spcPts val="3020"/>
              </a:lnSpc>
              <a:spcBef>
                <a:spcPts val="670"/>
              </a:spcBef>
              <a:buClr>
                <a:srgbClr val="000000"/>
              </a:buClr>
              <a:buFont typeface="Tahoma"/>
              <a:buChar char="•"/>
              <a:tabLst>
                <a:tab pos="355600" algn="l"/>
              </a:tabLst>
            </a:pPr>
            <a:r>
              <a:rPr sz="2800" b="1" dirty="0">
                <a:solidFill>
                  <a:srgbClr val="6F2F9F"/>
                </a:solidFill>
                <a:latin typeface="Tahoma"/>
                <a:cs typeface="Tahoma"/>
              </a:rPr>
              <a:t>such</a:t>
            </a:r>
            <a:r>
              <a:rPr sz="2800" b="1" spc="-70" dirty="0">
                <a:solidFill>
                  <a:srgbClr val="6F2F9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6F2F9F"/>
                </a:solidFill>
                <a:latin typeface="Tahoma"/>
                <a:cs typeface="Tahoma"/>
              </a:rPr>
              <a:t>as</a:t>
            </a:r>
            <a:r>
              <a:rPr sz="2800" b="1" spc="-65" dirty="0">
                <a:solidFill>
                  <a:srgbClr val="6F2F9F"/>
                </a:solidFill>
                <a:latin typeface="Tahoma"/>
                <a:cs typeface="Tahoma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Tahoma"/>
                <a:cs typeface="Tahoma"/>
              </a:rPr>
              <a:t>ill-</a:t>
            </a:r>
            <a:r>
              <a:rPr sz="2800" b="1" dirty="0">
                <a:solidFill>
                  <a:srgbClr val="FF0000"/>
                </a:solidFill>
                <a:latin typeface="Tahoma"/>
                <a:cs typeface="Tahoma"/>
              </a:rPr>
              <a:t>defined</a:t>
            </a:r>
            <a:r>
              <a:rPr sz="2800" b="1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ahoma"/>
                <a:cs typeface="Tahoma"/>
              </a:rPr>
              <a:t>situations</a:t>
            </a:r>
            <a:r>
              <a:rPr sz="2800" b="1" dirty="0">
                <a:solidFill>
                  <a:srgbClr val="6F2F9F"/>
                </a:solidFill>
                <a:latin typeface="Tahoma"/>
                <a:cs typeface="Tahoma"/>
              </a:rPr>
              <a:t>,</a:t>
            </a:r>
            <a:r>
              <a:rPr sz="2800" b="1" spc="-45" dirty="0">
                <a:solidFill>
                  <a:srgbClr val="6F2F9F"/>
                </a:solidFill>
                <a:latin typeface="Tahoma"/>
                <a:cs typeface="Tahoma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ahoma"/>
                <a:cs typeface="Tahoma"/>
              </a:rPr>
              <a:t>ambiguities</a:t>
            </a:r>
            <a:r>
              <a:rPr sz="2800" b="1" spc="-10" dirty="0">
                <a:solidFill>
                  <a:srgbClr val="6F2F9F"/>
                </a:solidFill>
                <a:latin typeface="Tahoma"/>
                <a:cs typeface="Tahoma"/>
              </a:rPr>
              <a:t>, </a:t>
            </a:r>
            <a:r>
              <a:rPr sz="2800" b="1" spc="-10" dirty="0">
                <a:solidFill>
                  <a:srgbClr val="FF0000"/>
                </a:solidFill>
                <a:latin typeface="Tahoma"/>
                <a:cs typeface="Tahoma"/>
              </a:rPr>
              <a:t>inconsistencies</a:t>
            </a:r>
            <a:r>
              <a:rPr sz="2800" b="1" spc="-10" dirty="0">
                <a:solidFill>
                  <a:srgbClr val="6F2F9F"/>
                </a:solidFill>
                <a:latin typeface="Tahoma"/>
                <a:cs typeface="Tahoma"/>
              </a:rPr>
              <a:t>,</a:t>
            </a:r>
            <a:r>
              <a:rPr sz="2800" b="1" spc="-105" dirty="0">
                <a:solidFill>
                  <a:srgbClr val="6F2F9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6F2F9F"/>
                </a:solidFill>
                <a:latin typeface="Tahoma"/>
                <a:cs typeface="Tahoma"/>
              </a:rPr>
              <a:t>mixing</a:t>
            </a:r>
            <a:r>
              <a:rPr sz="2800" b="1" spc="-100" dirty="0">
                <a:solidFill>
                  <a:srgbClr val="6F2F9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6F2F9F"/>
                </a:solidFill>
                <a:latin typeface="Tahoma"/>
                <a:cs typeface="Tahoma"/>
              </a:rPr>
              <a:t>requirements</a:t>
            </a:r>
            <a:r>
              <a:rPr sz="2800" b="1" spc="-105" dirty="0">
                <a:solidFill>
                  <a:srgbClr val="6F2F9F"/>
                </a:solidFill>
                <a:latin typeface="Tahoma"/>
                <a:cs typeface="Tahoma"/>
              </a:rPr>
              <a:t> </a:t>
            </a:r>
            <a:r>
              <a:rPr sz="2800" b="1" spc="-20" dirty="0">
                <a:solidFill>
                  <a:srgbClr val="6F2F9F"/>
                </a:solidFill>
                <a:latin typeface="Tahoma"/>
                <a:cs typeface="Tahoma"/>
              </a:rPr>
              <a:t>with </a:t>
            </a:r>
            <a:r>
              <a:rPr sz="2800" b="1" spc="-10" dirty="0">
                <a:solidFill>
                  <a:srgbClr val="6F2F9F"/>
                </a:solidFill>
                <a:latin typeface="Tahoma"/>
                <a:cs typeface="Tahoma"/>
              </a:rPr>
              <a:t>design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16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Tahoma"/>
                <a:cs typeface="Tahoma"/>
              </a:rPr>
              <a:t>Roles</a:t>
            </a:r>
            <a:r>
              <a:rPr sz="4000" b="1" spc="-80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of</a:t>
            </a:r>
            <a:r>
              <a:rPr sz="4000" b="1" spc="-100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the</a:t>
            </a:r>
            <a:r>
              <a:rPr sz="4000" b="1" spc="-85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Systems</a:t>
            </a:r>
            <a:r>
              <a:rPr sz="4000" b="1" spc="-75" dirty="0">
                <a:latin typeface="Tahoma"/>
                <a:cs typeface="Tahoma"/>
              </a:rPr>
              <a:t> </a:t>
            </a:r>
            <a:r>
              <a:rPr sz="4000" b="1" spc="-10" dirty="0">
                <a:latin typeface="Tahoma"/>
                <a:cs typeface="Tahoma"/>
              </a:rPr>
              <a:t>Analyst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20097"/>
            <a:ext cx="8124190" cy="427101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65"/>
              </a:spcBef>
              <a:buChar char="•"/>
              <a:tabLst>
                <a:tab pos="354965" algn="l"/>
              </a:tabLst>
            </a:pPr>
            <a:r>
              <a:rPr sz="3600" dirty="0">
                <a:latin typeface="Tahoma"/>
                <a:cs typeface="Tahoma"/>
              </a:rPr>
              <a:t>The</a:t>
            </a:r>
            <a:r>
              <a:rPr sz="3600" spc="-2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analyst</a:t>
            </a:r>
            <a:r>
              <a:rPr sz="3600" spc="-2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must</a:t>
            </a:r>
            <a:r>
              <a:rPr sz="3600" spc="-2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be</a:t>
            </a:r>
            <a:r>
              <a:rPr sz="3600" spc="-3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able</a:t>
            </a:r>
            <a:r>
              <a:rPr sz="3600" spc="-3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to</a:t>
            </a:r>
            <a:r>
              <a:rPr sz="3600" spc="-3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work</a:t>
            </a:r>
            <a:r>
              <a:rPr sz="3600" spc="-30" dirty="0">
                <a:latin typeface="Tahoma"/>
                <a:cs typeface="Tahoma"/>
              </a:rPr>
              <a:t> </a:t>
            </a:r>
            <a:r>
              <a:rPr sz="3600" spc="-20" dirty="0">
                <a:latin typeface="Tahoma"/>
                <a:cs typeface="Tahoma"/>
              </a:rPr>
              <a:t>with</a:t>
            </a:r>
            <a:endParaRPr sz="36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775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3200" dirty="0">
                <a:latin typeface="Tahoma"/>
                <a:cs typeface="Tahoma"/>
              </a:rPr>
              <a:t>people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all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descriptions</a:t>
            </a:r>
            <a:endParaRPr sz="3200">
              <a:latin typeface="Tahoma"/>
              <a:cs typeface="Tahoma"/>
            </a:endParaRPr>
          </a:p>
          <a:p>
            <a:pPr marL="882650" lvl="1" indent="-412750">
              <a:lnSpc>
                <a:spcPct val="100000"/>
              </a:lnSpc>
              <a:spcBef>
                <a:spcPts val="770"/>
              </a:spcBef>
              <a:buClr>
                <a:srgbClr val="E11738"/>
              </a:buClr>
              <a:buChar char="•"/>
              <a:tabLst>
                <a:tab pos="882650" algn="l"/>
              </a:tabLst>
            </a:pPr>
            <a:r>
              <a:rPr sz="3200" dirty="0">
                <a:latin typeface="Tahoma"/>
                <a:cs typeface="Tahoma"/>
              </a:rPr>
              <a:t>experienced</a:t>
            </a:r>
            <a:r>
              <a:rPr sz="3200" spc="-10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</a:t>
            </a:r>
            <a:r>
              <a:rPr sz="3200" spc="-9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working</a:t>
            </a:r>
            <a:r>
              <a:rPr sz="3200" spc="-9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with</a:t>
            </a:r>
            <a:r>
              <a:rPr sz="3200" spc="-9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computers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860"/>
              </a:spcBef>
              <a:buChar char="•"/>
              <a:tabLst>
                <a:tab pos="354965" algn="l"/>
              </a:tabLst>
            </a:pPr>
            <a:r>
              <a:rPr sz="3600" dirty="0">
                <a:latin typeface="Tahoma"/>
                <a:cs typeface="Tahoma"/>
              </a:rPr>
              <a:t>Three</a:t>
            </a:r>
            <a:r>
              <a:rPr sz="3600" spc="-6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primary</a:t>
            </a:r>
            <a:r>
              <a:rPr sz="3600" spc="-70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roles:</a:t>
            </a:r>
            <a:endParaRPr sz="36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775"/>
              </a:spcBef>
              <a:buClr>
                <a:srgbClr val="E11738"/>
              </a:buClr>
              <a:buFont typeface="Tahoma"/>
              <a:buChar char="•"/>
              <a:tabLst>
                <a:tab pos="755650" algn="l"/>
              </a:tabLst>
            </a:pPr>
            <a:r>
              <a:rPr sz="3200" b="1" spc="-10" dirty="0">
                <a:latin typeface="Tahoma"/>
                <a:cs typeface="Tahoma"/>
              </a:rPr>
              <a:t>Consultant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765"/>
              </a:spcBef>
              <a:buClr>
                <a:srgbClr val="E11738"/>
              </a:buClr>
              <a:buFont typeface="Tahoma"/>
              <a:buChar char="•"/>
              <a:tabLst>
                <a:tab pos="755650" algn="l"/>
              </a:tabLst>
            </a:pPr>
            <a:r>
              <a:rPr sz="3200" b="1" dirty="0">
                <a:latin typeface="Tahoma"/>
                <a:cs typeface="Tahoma"/>
              </a:rPr>
              <a:t>Supporting</a:t>
            </a:r>
            <a:r>
              <a:rPr sz="3200" b="1" spc="-70" dirty="0">
                <a:latin typeface="Tahoma"/>
                <a:cs typeface="Tahoma"/>
              </a:rPr>
              <a:t> </a:t>
            </a:r>
            <a:r>
              <a:rPr sz="3200" b="1" spc="-10" dirty="0">
                <a:latin typeface="Tahoma"/>
                <a:cs typeface="Tahoma"/>
              </a:rPr>
              <a:t>expert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775"/>
              </a:spcBef>
              <a:buClr>
                <a:srgbClr val="E11738"/>
              </a:buClr>
              <a:buFont typeface="Tahoma"/>
              <a:buChar char="•"/>
              <a:tabLst>
                <a:tab pos="755650" algn="l"/>
              </a:tabLst>
            </a:pPr>
            <a:r>
              <a:rPr sz="3200" b="1" dirty="0">
                <a:latin typeface="Tahoma"/>
                <a:cs typeface="Tahoma"/>
              </a:rPr>
              <a:t>Agent</a:t>
            </a:r>
            <a:r>
              <a:rPr sz="3200" b="1" spc="-25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of </a:t>
            </a:r>
            <a:r>
              <a:rPr sz="3200" b="1" spc="-10" dirty="0">
                <a:latin typeface="Tahoma"/>
                <a:cs typeface="Tahoma"/>
              </a:rPr>
              <a:t>change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17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Tahoma"/>
                <a:cs typeface="Tahoma"/>
              </a:rPr>
              <a:t>Roles</a:t>
            </a:r>
            <a:r>
              <a:rPr sz="4000" b="1" spc="-80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of</a:t>
            </a:r>
            <a:r>
              <a:rPr sz="4000" b="1" spc="-100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the</a:t>
            </a:r>
            <a:r>
              <a:rPr sz="4000" b="1" spc="-85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Systems</a:t>
            </a:r>
            <a:r>
              <a:rPr sz="4000" b="1" spc="-75" dirty="0">
                <a:latin typeface="Tahoma"/>
                <a:cs typeface="Tahoma"/>
              </a:rPr>
              <a:t> </a:t>
            </a:r>
            <a:r>
              <a:rPr sz="4000" b="1" spc="-10" dirty="0">
                <a:latin typeface="Tahoma"/>
                <a:cs typeface="Tahoma"/>
              </a:rPr>
              <a:t>Analyst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739" y="1304518"/>
            <a:ext cx="7056755" cy="441642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3200" b="1" dirty="0">
                <a:latin typeface="Tahoma"/>
                <a:cs typeface="Tahoma"/>
              </a:rPr>
              <a:t>System</a:t>
            </a:r>
            <a:r>
              <a:rPr sz="3200" b="1" spc="-35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analyst</a:t>
            </a:r>
            <a:r>
              <a:rPr sz="3200" b="1" spc="-35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as</a:t>
            </a:r>
            <a:r>
              <a:rPr sz="3200" b="1" spc="5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a</a:t>
            </a:r>
            <a:r>
              <a:rPr sz="3200" b="1" spc="10" dirty="0">
                <a:latin typeface="Tahoma"/>
                <a:cs typeface="Tahoma"/>
              </a:rPr>
              <a:t> </a:t>
            </a:r>
            <a:r>
              <a:rPr sz="3200" b="1" spc="-10" dirty="0">
                <a:latin typeface="Tahoma"/>
                <a:cs typeface="Tahoma"/>
              </a:rPr>
              <a:t>consultant</a:t>
            </a:r>
            <a:endParaRPr sz="32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Tahoma"/>
              <a:buChar char="•"/>
              <a:tabLst>
                <a:tab pos="355600" algn="l"/>
              </a:tabLst>
            </a:pPr>
            <a:r>
              <a:rPr sz="3200" b="1" spc="-10" dirty="0">
                <a:latin typeface="Tahoma"/>
                <a:cs typeface="Tahoma"/>
              </a:rPr>
              <a:t>Advantage</a:t>
            </a:r>
            <a:endParaRPr sz="3200">
              <a:latin typeface="Tahoma"/>
              <a:cs typeface="Tahoma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77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3200" dirty="0">
                <a:latin typeface="Tahoma"/>
                <a:cs typeface="Tahoma"/>
              </a:rPr>
              <a:t>can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bring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with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them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fresh 	</a:t>
            </a:r>
            <a:r>
              <a:rPr sz="3200" dirty="0">
                <a:latin typeface="Tahoma"/>
                <a:cs typeface="Tahoma"/>
              </a:rPr>
              <a:t>perspective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that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other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people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an 	</a:t>
            </a:r>
            <a:r>
              <a:rPr sz="3200" dirty="0">
                <a:latin typeface="Tahoma"/>
                <a:cs typeface="Tahoma"/>
              </a:rPr>
              <a:t>organization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do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not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possess.</a:t>
            </a:r>
            <a:endParaRPr sz="32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Tahoma"/>
              <a:buChar char="•"/>
              <a:tabLst>
                <a:tab pos="355600" algn="l"/>
              </a:tabLst>
            </a:pPr>
            <a:r>
              <a:rPr sz="3200" b="1" spc="-10" dirty="0">
                <a:latin typeface="Tahoma"/>
                <a:cs typeface="Tahoma"/>
              </a:rPr>
              <a:t>Disadvantage</a:t>
            </a:r>
            <a:endParaRPr sz="3200">
              <a:latin typeface="Tahoma"/>
              <a:cs typeface="Tahoma"/>
            </a:endParaRPr>
          </a:p>
          <a:p>
            <a:pPr marL="755015" marR="451484" lvl="1" indent="-285750">
              <a:lnSpc>
                <a:spcPct val="100000"/>
              </a:lnSpc>
              <a:spcBef>
                <a:spcPts val="765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3200" dirty="0">
                <a:latin typeface="Tahoma"/>
                <a:cs typeface="Tahoma"/>
              </a:rPr>
              <a:t>true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organizational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structure</a:t>
            </a:r>
            <a:r>
              <a:rPr sz="3200" spc="-25" dirty="0">
                <a:latin typeface="Tahoma"/>
                <a:cs typeface="Tahoma"/>
              </a:rPr>
              <a:t> can 	</a:t>
            </a:r>
            <a:r>
              <a:rPr sz="3200" dirty="0">
                <a:latin typeface="Tahoma"/>
                <a:cs typeface="Tahoma"/>
              </a:rPr>
              <a:t>never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be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known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an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outsider.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18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Tahoma"/>
                <a:cs typeface="Tahoma"/>
              </a:rPr>
              <a:t>Roles</a:t>
            </a:r>
            <a:r>
              <a:rPr sz="4000" b="1" spc="-80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of</a:t>
            </a:r>
            <a:r>
              <a:rPr sz="4000" b="1" spc="-100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the</a:t>
            </a:r>
            <a:r>
              <a:rPr sz="4000" b="1" spc="-85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Systems</a:t>
            </a:r>
            <a:r>
              <a:rPr sz="4000" b="1" spc="-75" dirty="0">
                <a:latin typeface="Tahoma"/>
                <a:cs typeface="Tahoma"/>
              </a:rPr>
              <a:t> </a:t>
            </a:r>
            <a:r>
              <a:rPr sz="4000" b="1" spc="-10" dirty="0">
                <a:latin typeface="Tahoma"/>
                <a:cs typeface="Tahoma"/>
              </a:rPr>
              <a:t>Analyst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739" y="1519999"/>
            <a:ext cx="7584440" cy="4745990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sz="3600" b="1" dirty="0">
                <a:latin typeface="Tahoma"/>
                <a:cs typeface="Tahoma"/>
              </a:rPr>
              <a:t>Supporting</a:t>
            </a:r>
            <a:r>
              <a:rPr sz="3600" b="1" spc="-70" dirty="0">
                <a:latin typeface="Tahoma"/>
                <a:cs typeface="Tahoma"/>
              </a:rPr>
              <a:t> </a:t>
            </a:r>
            <a:r>
              <a:rPr sz="3600" b="1" spc="-10" dirty="0">
                <a:latin typeface="Tahoma"/>
                <a:cs typeface="Tahoma"/>
              </a:rPr>
              <a:t>expert</a:t>
            </a:r>
            <a:r>
              <a:rPr sz="3600" spc="-10" dirty="0">
                <a:latin typeface="Tahoma"/>
                <a:cs typeface="Tahoma"/>
              </a:rPr>
              <a:t>:</a:t>
            </a:r>
            <a:endParaRPr sz="3600">
              <a:latin typeface="Tahoma"/>
              <a:cs typeface="Tahoma"/>
            </a:endParaRPr>
          </a:p>
          <a:p>
            <a:pPr marL="355600" marR="5080" indent="-343535">
              <a:lnSpc>
                <a:spcPct val="96400"/>
              </a:lnSpc>
              <a:spcBef>
                <a:spcPts val="1019"/>
              </a:spcBef>
              <a:buChar char="•"/>
              <a:tabLst>
                <a:tab pos="355600" algn="l"/>
                <a:tab pos="498475" algn="l"/>
              </a:tabLst>
            </a:pPr>
            <a:r>
              <a:rPr sz="3600" dirty="0">
                <a:latin typeface="Tahoma"/>
                <a:cs typeface="Tahoma"/>
              </a:rPr>
              <a:t>	play</a:t>
            </a:r>
            <a:r>
              <a:rPr sz="3600" spc="-10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as</a:t>
            </a:r>
            <a:r>
              <a:rPr sz="3600" spc="-7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professional</a:t>
            </a:r>
            <a:r>
              <a:rPr sz="3600" spc="-80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expertise </a:t>
            </a:r>
            <a:r>
              <a:rPr sz="3600" dirty="0">
                <a:latin typeface="Tahoma"/>
                <a:cs typeface="Tahoma"/>
              </a:rPr>
              <a:t>concerning</a:t>
            </a:r>
            <a:r>
              <a:rPr sz="3600" spc="-135" dirty="0">
                <a:latin typeface="Tahoma"/>
                <a:cs typeface="Tahoma"/>
              </a:rPr>
              <a:t> </a:t>
            </a:r>
            <a:r>
              <a:rPr sz="3800" b="1" spc="-130" dirty="0">
                <a:latin typeface="Tahoma"/>
                <a:cs typeface="Tahoma"/>
              </a:rPr>
              <a:t>computer</a:t>
            </a:r>
            <a:r>
              <a:rPr sz="3800" b="1" spc="-150" dirty="0">
                <a:latin typeface="Tahoma"/>
                <a:cs typeface="Tahoma"/>
              </a:rPr>
              <a:t> </a:t>
            </a:r>
            <a:r>
              <a:rPr sz="3800" b="1" spc="-10" dirty="0">
                <a:latin typeface="Tahoma"/>
                <a:cs typeface="Tahoma"/>
              </a:rPr>
              <a:t>hardware </a:t>
            </a:r>
            <a:r>
              <a:rPr sz="3600" dirty="0">
                <a:latin typeface="Tahoma"/>
                <a:cs typeface="Tahoma"/>
              </a:rPr>
              <a:t>and</a:t>
            </a:r>
            <a:r>
              <a:rPr sz="3600" spc="-75" dirty="0">
                <a:latin typeface="Tahoma"/>
                <a:cs typeface="Tahoma"/>
              </a:rPr>
              <a:t> </a:t>
            </a:r>
            <a:r>
              <a:rPr sz="3800" b="1" spc="-110" dirty="0">
                <a:latin typeface="Tahoma"/>
                <a:cs typeface="Tahoma"/>
              </a:rPr>
              <a:t>software</a:t>
            </a:r>
            <a:r>
              <a:rPr sz="3800" b="1" spc="-7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and</a:t>
            </a:r>
            <a:r>
              <a:rPr sz="3600" spc="-6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their</a:t>
            </a:r>
            <a:r>
              <a:rPr sz="3600" spc="-7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uses</a:t>
            </a:r>
            <a:r>
              <a:rPr sz="3600" spc="-6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in</a:t>
            </a:r>
            <a:r>
              <a:rPr sz="3600" spc="-70" dirty="0">
                <a:latin typeface="Tahoma"/>
                <a:cs typeface="Tahoma"/>
              </a:rPr>
              <a:t> </a:t>
            </a:r>
            <a:r>
              <a:rPr sz="3600" spc="-25" dirty="0">
                <a:latin typeface="Tahoma"/>
                <a:cs typeface="Tahoma"/>
              </a:rPr>
              <a:t>the </a:t>
            </a:r>
            <a:r>
              <a:rPr sz="3600" spc="-10" dirty="0">
                <a:latin typeface="Tahoma"/>
                <a:cs typeface="Tahoma"/>
              </a:rPr>
              <a:t>business.</a:t>
            </a:r>
            <a:endParaRPr sz="3600">
              <a:latin typeface="Tahoma"/>
              <a:cs typeface="Tahoma"/>
            </a:endParaRPr>
          </a:p>
          <a:p>
            <a:pPr marL="355600" marR="484505" indent="-343535">
              <a:lnSpc>
                <a:spcPct val="100000"/>
              </a:lnSpc>
              <a:spcBef>
                <a:spcPts val="865"/>
              </a:spcBef>
              <a:buChar char="•"/>
              <a:tabLst>
                <a:tab pos="355600" algn="l"/>
                <a:tab pos="2213610" algn="l"/>
              </a:tabLst>
            </a:pPr>
            <a:r>
              <a:rPr sz="3600" dirty="0">
                <a:latin typeface="Tahoma"/>
                <a:cs typeface="Tahoma"/>
              </a:rPr>
              <a:t>	Serves</a:t>
            </a:r>
            <a:r>
              <a:rPr sz="3600" spc="-10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as</a:t>
            </a:r>
            <a:r>
              <a:rPr sz="3600" spc="-8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</a:t>
            </a:r>
            <a:r>
              <a:rPr sz="3600" spc="-8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resource</a:t>
            </a:r>
            <a:r>
              <a:rPr sz="3600" spc="-75" dirty="0">
                <a:latin typeface="Tahoma"/>
                <a:cs typeface="Tahoma"/>
              </a:rPr>
              <a:t> </a:t>
            </a:r>
            <a:r>
              <a:rPr sz="3600" spc="-25" dirty="0">
                <a:latin typeface="Tahoma"/>
                <a:cs typeface="Tahoma"/>
              </a:rPr>
              <a:t>for </a:t>
            </a:r>
            <a:r>
              <a:rPr sz="3600" dirty="0">
                <a:latin typeface="Tahoma"/>
                <a:cs typeface="Tahoma"/>
              </a:rPr>
              <a:t>those</a:t>
            </a:r>
            <a:r>
              <a:rPr sz="3600" spc="-4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who</a:t>
            </a:r>
            <a:r>
              <a:rPr sz="3600" spc="-4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are</a:t>
            </a:r>
            <a:r>
              <a:rPr sz="3600" spc="-5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working</a:t>
            </a:r>
            <a:r>
              <a:rPr sz="3600" spc="-4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on</a:t>
            </a:r>
            <a:r>
              <a:rPr sz="3600" spc="-45" dirty="0">
                <a:latin typeface="Tahoma"/>
                <a:cs typeface="Tahoma"/>
              </a:rPr>
              <a:t> </a:t>
            </a:r>
            <a:r>
              <a:rPr sz="3600" spc="-25" dirty="0">
                <a:latin typeface="Tahoma"/>
                <a:cs typeface="Tahoma"/>
              </a:rPr>
              <a:t>and </a:t>
            </a:r>
            <a:r>
              <a:rPr sz="3600" dirty="0">
                <a:latin typeface="Tahoma"/>
                <a:cs typeface="Tahoma"/>
              </a:rPr>
              <a:t>managing</a:t>
            </a:r>
            <a:r>
              <a:rPr sz="3600" spc="-15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other</a:t>
            </a:r>
            <a:r>
              <a:rPr sz="3600" spc="-13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projects</a:t>
            </a:r>
            <a:endParaRPr sz="3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19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Tahoma"/>
                <a:cs typeface="Tahoma"/>
              </a:rPr>
              <a:t>Roles</a:t>
            </a:r>
            <a:r>
              <a:rPr sz="4000" b="1" spc="-80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of</a:t>
            </a:r>
            <a:r>
              <a:rPr sz="4000" b="1" spc="-100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the</a:t>
            </a:r>
            <a:r>
              <a:rPr sz="4000" b="1" spc="-85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Systems</a:t>
            </a:r>
            <a:r>
              <a:rPr sz="4000" b="1" spc="-75" dirty="0">
                <a:latin typeface="Tahoma"/>
                <a:cs typeface="Tahoma"/>
              </a:rPr>
              <a:t> </a:t>
            </a:r>
            <a:r>
              <a:rPr sz="4000" b="1" spc="-10" dirty="0">
                <a:latin typeface="Tahoma"/>
                <a:cs typeface="Tahoma"/>
              </a:rPr>
              <a:t>Analyst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739" y="1519999"/>
            <a:ext cx="7910830" cy="3587750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70"/>
              </a:spcBef>
              <a:buFont typeface="Tahoma"/>
              <a:buChar char="•"/>
              <a:tabLst>
                <a:tab pos="354965" algn="l"/>
              </a:tabLst>
            </a:pPr>
            <a:r>
              <a:rPr sz="3600" b="1" dirty="0">
                <a:latin typeface="Tahoma"/>
                <a:cs typeface="Tahoma"/>
              </a:rPr>
              <a:t>Agent</a:t>
            </a:r>
            <a:r>
              <a:rPr sz="3600" b="1" spc="-45" dirty="0">
                <a:latin typeface="Tahoma"/>
                <a:cs typeface="Tahoma"/>
              </a:rPr>
              <a:t> </a:t>
            </a:r>
            <a:r>
              <a:rPr sz="3600" b="1" dirty="0">
                <a:latin typeface="Tahoma"/>
                <a:cs typeface="Tahoma"/>
              </a:rPr>
              <a:t>of</a:t>
            </a:r>
            <a:r>
              <a:rPr sz="3600" b="1" spc="-50" dirty="0">
                <a:latin typeface="Tahoma"/>
                <a:cs typeface="Tahoma"/>
              </a:rPr>
              <a:t> </a:t>
            </a:r>
            <a:r>
              <a:rPr sz="3600" b="1" spc="-10" dirty="0">
                <a:latin typeface="Tahoma"/>
                <a:cs typeface="Tahoma"/>
              </a:rPr>
              <a:t>change:</a:t>
            </a:r>
            <a:endParaRPr sz="36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65"/>
              </a:spcBef>
              <a:buChar char="•"/>
              <a:tabLst>
                <a:tab pos="355600" algn="l"/>
              </a:tabLst>
            </a:pPr>
            <a:r>
              <a:rPr sz="3600" dirty="0">
                <a:latin typeface="Tahoma"/>
                <a:cs typeface="Tahoma"/>
              </a:rPr>
              <a:t>A</a:t>
            </a:r>
            <a:r>
              <a:rPr sz="3600" spc="-6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person</a:t>
            </a:r>
            <a:r>
              <a:rPr sz="3600" spc="-4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who</a:t>
            </a:r>
            <a:r>
              <a:rPr sz="3600" spc="-6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serves</a:t>
            </a:r>
            <a:r>
              <a:rPr sz="3600" spc="-4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as</a:t>
            </a:r>
            <a:r>
              <a:rPr sz="3600" spc="-6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</a:t>
            </a:r>
            <a:r>
              <a:rPr sz="3600" spc="-6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catalyst</a:t>
            </a:r>
            <a:r>
              <a:rPr sz="3600" spc="-55" dirty="0">
                <a:latin typeface="Tahoma"/>
                <a:cs typeface="Tahoma"/>
              </a:rPr>
              <a:t> </a:t>
            </a:r>
            <a:r>
              <a:rPr sz="3600" spc="-25" dirty="0">
                <a:latin typeface="Tahoma"/>
                <a:cs typeface="Tahoma"/>
              </a:rPr>
              <a:t>for</a:t>
            </a:r>
            <a:endParaRPr sz="3600">
              <a:latin typeface="Tahoma"/>
              <a:cs typeface="Tahoma"/>
            </a:endParaRPr>
          </a:p>
          <a:p>
            <a:pPr marL="882650" lvl="1" indent="-412750">
              <a:lnSpc>
                <a:spcPct val="100000"/>
              </a:lnSpc>
              <a:spcBef>
                <a:spcPts val="770"/>
              </a:spcBef>
              <a:buClr>
                <a:srgbClr val="E11738"/>
              </a:buClr>
              <a:buChar char="•"/>
              <a:tabLst>
                <a:tab pos="882650" algn="l"/>
              </a:tabLst>
            </a:pPr>
            <a:r>
              <a:rPr sz="3200" spc="-10" dirty="0">
                <a:latin typeface="Tahoma"/>
                <a:cs typeface="Tahoma"/>
              </a:rPr>
              <a:t>Change,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770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3200" dirty="0">
                <a:latin typeface="Tahoma"/>
                <a:cs typeface="Tahoma"/>
              </a:rPr>
              <a:t>Develops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plan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for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change,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and</a:t>
            </a:r>
            <a:endParaRPr sz="3200">
              <a:latin typeface="Tahoma"/>
              <a:cs typeface="Tahoma"/>
            </a:endParaRPr>
          </a:p>
          <a:p>
            <a:pPr marL="755015" marR="635635" lvl="1" indent="-285750">
              <a:lnSpc>
                <a:spcPct val="100000"/>
              </a:lnSpc>
              <a:spcBef>
                <a:spcPts val="77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3200" dirty="0">
                <a:latin typeface="Tahoma"/>
                <a:cs typeface="Tahoma"/>
              </a:rPr>
              <a:t>Works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with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others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facilitating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that 	</a:t>
            </a:r>
            <a:r>
              <a:rPr sz="3200" spc="-10" dirty="0">
                <a:latin typeface="Tahoma"/>
                <a:cs typeface="Tahoma"/>
              </a:rPr>
              <a:t>change.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20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Tahoma"/>
                <a:cs typeface="Tahoma"/>
              </a:rPr>
              <a:t>Systems</a:t>
            </a:r>
            <a:r>
              <a:rPr b="1" spc="-30" dirty="0">
                <a:latin typeface="Tahoma"/>
                <a:cs typeface="Tahoma"/>
              </a:rPr>
              <a:t> </a:t>
            </a:r>
            <a:r>
              <a:rPr b="1" spc="-10" dirty="0">
                <a:latin typeface="Tahoma"/>
                <a:cs typeface="Tahoma"/>
              </a:rPr>
              <a:t>Analysts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966699"/>
            <a:ext cx="8232140" cy="427736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3600" b="1" dirty="0">
                <a:latin typeface="Tahoma"/>
                <a:cs typeface="Tahoma"/>
              </a:rPr>
              <a:t>a</a:t>
            </a:r>
            <a:r>
              <a:rPr sz="3600" b="1" spc="-10" dirty="0">
                <a:latin typeface="Tahoma"/>
                <a:cs typeface="Tahoma"/>
              </a:rPr>
              <a:t> </a:t>
            </a:r>
            <a:r>
              <a:rPr sz="3600" b="1" dirty="0">
                <a:latin typeface="Tahoma"/>
                <a:cs typeface="Tahoma"/>
              </a:rPr>
              <a:t>specialist</a:t>
            </a:r>
            <a:r>
              <a:rPr sz="3600" b="1" spc="-30" dirty="0">
                <a:latin typeface="Tahoma"/>
                <a:cs typeface="Tahoma"/>
              </a:rPr>
              <a:t> </a:t>
            </a:r>
            <a:r>
              <a:rPr sz="3600" b="1" dirty="0">
                <a:latin typeface="Tahoma"/>
                <a:cs typeface="Tahoma"/>
              </a:rPr>
              <a:t>who</a:t>
            </a:r>
            <a:r>
              <a:rPr sz="3600" b="1" spc="-25" dirty="0">
                <a:latin typeface="Tahoma"/>
                <a:cs typeface="Tahoma"/>
              </a:rPr>
              <a:t> </a:t>
            </a:r>
            <a:r>
              <a:rPr sz="3600" b="1" dirty="0">
                <a:latin typeface="Tahoma"/>
                <a:cs typeface="Tahoma"/>
              </a:rPr>
              <a:t>studies</a:t>
            </a:r>
            <a:r>
              <a:rPr sz="3600" b="1" spc="-25" dirty="0">
                <a:latin typeface="Tahoma"/>
                <a:cs typeface="Tahoma"/>
              </a:rPr>
              <a:t> the</a:t>
            </a:r>
            <a:endParaRPr sz="3600">
              <a:latin typeface="Tahoma"/>
              <a:cs typeface="Tahoma"/>
            </a:endParaRPr>
          </a:p>
          <a:p>
            <a:pPr marL="355600" marR="2162810" indent="-342900">
              <a:lnSpc>
                <a:spcPts val="4320"/>
              </a:lnSpc>
              <a:spcBef>
                <a:spcPts val="1010"/>
              </a:spcBef>
              <a:buSzPct val="94736"/>
              <a:buFont typeface="Tahoma"/>
              <a:buChar char="•"/>
              <a:tabLst>
                <a:tab pos="355600" algn="l"/>
              </a:tabLst>
            </a:pPr>
            <a:r>
              <a:rPr sz="3800" b="1" spc="-114" dirty="0">
                <a:latin typeface="Tahoma"/>
                <a:cs typeface="Tahoma"/>
              </a:rPr>
              <a:t>problems</a:t>
            </a:r>
            <a:r>
              <a:rPr sz="3800" b="1" spc="-9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and</a:t>
            </a:r>
            <a:r>
              <a:rPr sz="3600" spc="-90" dirty="0">
                <a:latin typeface="Tahoma"/>
                <a:cs typeface="Tahoma"/>
              </a:rPr>
              <a:t> </a:t>
            </a:r>
            <a:r>
              <a:rPr sz="3800" b="1" spc="-100" dirty="0">
                <a:latin typeface="Tahoma"/>
                <a:cs typeface="Tahoma"/>
              </a:rPr>
              <a:t>needs</a:t>
            </a:r>
            <a:r>
              <a:rPr sz="3800" b="1" spc="-9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of</a:t>
            </a:r>
            <a:r>
              <a:rPr sz="3600" spc="-90" dirty="0">
                <a:latin typeface="Tahoma"/>
                <a:cs typeface="Tahoma"/>
              </a:rPr>
              <a:t> </a:t>
            </a:r>
            <a:r>
              <a:rPr sz="3600" spc="-25" dirty="0">
                <a:latin typeface="Tahoma"/>
                <a:cs typeface="Tahoma"/>
              </a:rPr>
              <a:t>an </a:t>
            </a:r>
            <a:r>
              <a:rPr sz="3600" dirty="0">
                <a:latin typeface="Tahoma"/>
                <a:cs typeface="Tahoma"/>
              </a:rPr>
              <a:t>organization</a:t>
            </a:r>
            <a:r>
              <a:rPr sz="3600" spc="-3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to</a:t>
            </a:r>
            <a:r>
              <a:rPr sz="3600" spc="-3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determine</a:t>
            </a:r>
            <a:endParaRPr sz="3600">
              <a:latin typeface="Tahoma"/>
              <a:cs typeface="Tahoma"/>
            </a:endParaRPr>
          </a:p>
          <a:p>
            <a:pPr marL="756285" marR="695325" lvl="1" indent="-287020">
              <a:lnSpc>
                <a:spcPct val="100000"/>
              </a:lnSpc>
              <a:spcBef>
                <a:spcPts val="72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3600" dirty="0">
                <a:latin typeface="Tahoma"/>
                <a:cs typeface="Tahoma"/>
              </a:rPr>
              <a:t>how</a:t>
            </a:r>
            <a:r>
              <a:rPr sz="3600" spc="-8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people,</a:t>
            </a:r>
            <a:r>
              <a:rPr sz="3600" spc="-9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data,</a:t>
            </a:r>
            <a:r>
              <a:rPr sz="3600" spc="-8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processes,</a:t>
            </a:r>
            <a:r>
              <a:rPr sz="3600" spc="-65" dirty="0">
                <a:latin typeface="Tahoma"/>
                <a:cs typeface="Tahoma"/>
              </a:rPr>
              <a:t> </a:t>
            </a:r>
            <a:r>
              <a:rPr sz="3600" spc="-25" dirty="0">
                <a:latin typeface="Tahoma"/>
                <a:cs typeface="Tahoma"/>
              </a:rPr>
              <a:t>and </a:t>
            </a:r>
            <a:r>
              <a:rPr sz="3600" dirty="0">
                <a:latin typeface="Tahoma"/>
                <a:cs typeface="Tahoma"/>
              </a:rPr>
              <a:t>information</a:t>
            </a:r>
            <a:r>
              <a:rPr sz="3600" spc="-18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technology</a:t>
            </a:r>
            <a:endParaRPr sz="3600">
              <a:latin typeface="Tahoma"/>
              <a:cs typeface="Tahoma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865"/>
              </a:spcBef>
              <a:buClr>
                <a:srgbClr val="97867C"/>
              </a:buClr>
              <a:buChar char="•"/>
              <a:tabLst>
                <a:tab pos="1155700" algn="l"/>
              </a:tabLst>
            </a:pPr>
            <a:r>
              <a:rPr sz="3600" dirty="0">
                <a:latin typeface="Tahoma"/>
                <a:cs typeface="Tahoma"/>
              </a:rPr>
              <a:t>can</a:t>
            </a:r>
            <a:r>
              <a:rPr sz="3600" spc="-6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best</a:t>
            </a:r>
            <a:r>
              <a:rPr sz="3600" spc="-5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accomplish</a:t>
            </a:r>
            <a:r>
              <a:rPr sz="3600" spc="-4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improvements </a:t>
            </a:r>
            <a:r>
              <a:rPr sz="3600" dirty="0">
                <a:latin typeface="Tahoma"/>
                <a:cs typeface="Tahoma"/>
              </a:rPr>
              <a:t>for</a:t>
            </a:r>
            <a:r>
              <a:rPr sz="3600" spc="-6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the</a:t>
            </a:r>
            <a:r>
              <a:rPr sz="3600" spc="-60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business.</a:t>
            </a:r>
            <a:endParaRPr sz="3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21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411226"/>
            <a:ext cx="7426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ahoma"/>
                <a:cs typeface="Tahoma"/>
              </a:rPr>
              <a:t>Qualities</a:t>
            </a:r>
            <a:r>
              <a:rPr sz="3600" b="1" spc="-85" dirty="0">
                <a:latin typeface="Tahoma"/>
                <a:cs typeface="Tahoma"/>
              </a:rPr>
              <a:t> </a:t>
            </a:r>
            <a:r>
              <a:rPr sz="3600" b="1" dirty="0">
                <a:latin typeface="Tahoma"/>
                <a:cs typeface="Tahoma"/>
              </a:rPr>
              <a:t>of</a:t>
            </a:r>
            <a:r>
              <a:rPr sz="3600" b="1" spc="-65" dirty="0">
                <a:latin typeface="Tahoma"/>
                <a:cs typeface="Tahoma"/>
              </a:rPr>
              <a:t> </a:t>
            </a:r>
            <a:r>
              <a:rPr sz="3600" b="1" dirty="0">
                <a:latin typeface="Tahoma"/>
                <a:cs typeface="Tahoma"/>
              </a:rPr>
              <a:t>the</a:t>
            </a:r>
            <a:r>
              <a:rPr sz="3600" b="1" spc="-65" dirty="0">
                <a:latin typeface="Tahoma"/>
                <a:cs typeface="Tahoma"/>
              </a:rPr>
              <a:t> </a:t>
            </a:r>
            <a:r>
              <a:rPr sz="3600" b="1" dirty="0">
                <a:latin typeface="Tahoma"/>
                <a:cs typeface="Tahoma"/>
              </a:rPr>
              <a:t>Systems</a:t>
            </a:r>
            <a:r>
              <a:rPr sz="3600" b="1" spc="-75" dirty="0">
                <a:latin typeface="Tahoma"/>
                <a:cs typeface="Tahoma"/>
              </a:rPr>
              <a:t> </a:t>
            </a:r>
            <a:r>
              <a:rPr sz="3600" b="1" spc="-10" dirty="0">
                <a:latin typeface="Tahoma"/>
                <a:cs typeface="Tahoma"/>
              </a:rPr>
              <a:t>Analyst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063117"/>
            <a:ext cx="7112000" cy="375856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65"/>
              </a:spcBef>
              <a:buFont typeface="Tahoma"/>
              <a:buChar char="•"/>
              <a:tabLst>
                <a:tab pos="355600" algn="l"/>
              </a:tabLst>
            </a:pPr>
            <a:r>
              <a:rPr sz="3600" b="1" dirty="0">
                <a:latin typeface="Tahoma"/>
                <a:cs typeface="Tahoma"/>
              </a:rPr>
              <a:t>Problem</a:t>
            </a:r>
            <a:r>
              <a:rPr sz="3600" b="1" spc="-155" dirty="0">
                <a:latin typeface="Tahoma"/>
                <a:cs typeface="Tahoma"/>
              </a:rPr>
              <a:t> </a:t>
            </a:r>
            <a:r>
              <a:rPr sz="3600" b="1" spc="-10" dirty="0">
                <a:latin typeface="Tahoma"/>
                <a:cs typeface="Tahoma"/>
              </a:rPr>
              <a:t>solver</a:t>
            </a:r>
            <a:endParaRPr sz="36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Tahoma"/>
              <a:buChar char="•"/>
              <a:tabLst>
                <a:tab pos="355600" algn="l"/>
              </a:tabLst>
            </a:pPr>
            <a:r>
              <a:rPr sz="3600" b="1" spc="-10" dirty="0">
                <a:latin typeface="Tahoma"/>
                <a:cs typeface="Tahoma"/>
              </a:rPr>
              <a:t>Communicator</a:t>
            </a:r>
            <a:endParaRPr sz="3600">
              <a:latin typeface="Tahoma"/>
              <a:cs typeface="Tahoma"/>
            </a:endParaRPr>
          </a:p>
          <a:p>
            <a:pPr marL="355600" marR="5080" indent="-343535">
              <a:lnSpc>
                <a:spcPct val="100000"/>
              </a:lnSpc>
              <a:spcBef>
                <a:spcPts val="775"/>
              </a:spcBef>
              <a:buFont typeface="Tahoma"/>
              <a:buChar char="•"/>
              <a:tabLst>
                <a:tab pos="355600" algn="l"/>
              </a:tabLst>
            </a:pPr>
            <a:r>
              <a:rPr sz="3200" b="1" dirty="0">
                <a:latin typeface="Tahoma"/>
                <a:cs typeface="Tahoma"/>
              </a:rPr>
              <a:t>Strong</a:t>
            </a:r>
            <a:r>
              <a:rPr sz="3200" b="1" spc="-50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personal</a:t>
            </a:r>
            <a:r>
              <a:rPr sz="3200" b="1" spc="-40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and</a:t>
            </a:r>
            <a:r>
              <a:rPr sz="3200" b="1" spc="-25" dirty="0">
                <a:latin typeface="Tahoma"/>
                <a:cs typeface="Tahoma"/>
              </a:rPr>
              <a:t> </a:t>
            </a:r>
            <a:r>
              <a:rPr sz="3200" b="1" spc="-10" dirty="0">
                <a:latin typeface="Tahoma"/>
                <a:cs typeface="Tahoma"/>
              </a:rPr>
              <a:t>professional ethics</a:t>
            </a:r>
            <a:endParaRPr sz="3200">
              <a:latin typeface="Tahoma"/>
              <a:cs typeface="Tahoma"/>
            </a:endParaRPr>
          </a:p>
          <a:p>
            <a:pPr marL="355600" marR="450215" indent="-343535">
              <a:lnSpc>
                <a:spcPct val="100000"/>
              </a:lnSpc>
              <a:spcBef>
                <a:spcPts val="965"/>
              </a:spcBef>
              <a:buFont typeface="Tahoma"/>
              <a:buChar char="•"/>
              <a:tabLst>
                <a:tab pos="355600" algn="l"/>
              </a:tabLst>
            </a:pPr>
            <a:r>
              <a:rPr sz="4000" b="1" spc="-30" dirty="0">
                <a:latin typeface="Tahoma"/>
                <a:cs typeface="Tahoma"/>
              </a:rPr>
              <a:t>Self-</a:t>
            </a:r>
            <a:r>
              <a:rPr sz="4000" b="1" dirty="0">
                <a:latin typeface="Tahoma"/>
                <a:cs typeface="Tahoma"/>
              </a:rPr>
              <a:t>disciplined</a:t>
            </a:r>
            <a:r>
              <a:rPr sz="4000" b="1" spc="-110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and</a:t>
            </a:r>
            <a:r>
              <a:rPr sz="4000" b="1" spc="-145" dirty="0">
                <a:latin typeface="Tahoma"/>
                <a:cs typeface="Tahoma"/>
              </a:rPr>
              <a:t> </a:t>
            </a:r>
            <a:r>
              <a:rPr sz="4000" b="1" spc="-10" dirty="0">
                <a:latin typeface="Tahoma"/>
                <a:cs typeface="Tahoma"/>
              </a:rPr>
              <a:t>self- motivated</a:t>
            </a:r>
            <a:endParaRPr sz="4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371078"/>
            <a:ext cx="8001000" cy="627062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420"/>
              </a:spcBef>
            </a:pPr>
            <a:r>
              <a:rPr sz="3200" b="1" dirty="0">
                <a:solidFill>
                  <a:srgbClr val="DF1738"/>
                </a:solidFill>
                <a:latin typeface="Tahoma"/>
                <a:cs typeface="Tahoma"/>
              </a:rPr>
              <a:t>Qualities</a:t>
            </a:r>
            <a:r>
              <a:rPr sz="3200" b="1" spc="-6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DF1738"/>
                </a:solidFill>
                <a:latin typeface="Tahoma"/>
                <a:cs typeface="Tahoma"/>
              </a:rPr>
              <a:t>of</a:t>
            </a:r>
            <a:r>
              <a:rPr sz="3200" b="1" spc="-5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DF1738"/>
                </a:solidFill>
                <a:latin typeface="Tahoma"/>
                <a:cs typeface="Tahoma"/>
              </a:rPr>
              <a:t>the</a:t>
            </a:r>
            <a:r>
              <a:rPr sz="3200" b="1" spc="-1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DF1738"/>
                </a:solidFill>
                <a:latin typeface="Tahoma"/>
                <a:cs typeface="Tahoma"/>
              </a:rPr>
              <a:t>Systems</a:t>
            </a:r>
            <a:r>
              <a:rPr sz="3200" b="1" spc="-3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DF1738"/>
                </a:solidFill>
                <a:latin typeface="Tahoma"/>
                <a:cs typeface="Tahoma"/>
              </a:rPr>
              <a:t>Analyst</a:t>
            </a:r>
            <a:endParaRPr sz="32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355"/>
              </a:spcBef>
              <a:buFont typeface="Tahoma"/>
              <a:buChar char="•"/>
              <a:tabLst>
                <a:tab pos="355600" algn="l"/>
              </a:tabLst>
            </a:pPr>
            <a:r>
              <a:rPr sz="3600" b="1" dirty="0">
                <a:latin typeface="Tahoma"/>
                <a:cs typeface="Tahoma"/>
              </a:rPr>
              <a:t>Problem</a:t>
            </a:r>
            <a:r>
              <a:rPr sz="3600" b="1" spc="-155" dirty="0">
                <a:latin typeface="Tahoma"/>
                <a:cs typeface="Tahoma"/>
              </a:rPr>
              <a:t> </a:t>
            </a:r>
            <a:r>
              <a:rPr sz="3600" b="1" spc="-10" dirty="0">
                <a:latin typeface="Tahoma"/>
                <a:cs typeface="Tahoma"/>
              </a:rPr>
              <a:t>solver</a:t>
            </a:r>
            <a:endParaRPr sz="3600">
              <a:latin typeface="Tahoma"/>
              <a:cs typeface="Tahoma"/>
            </a:endParaRPr>
          </a:p>
          <a:p>
            <a:pPr marL="755015" marR="130810" lvl="1" indent="-285750">
              <a:lnSpc>
                <a:spcPct val="100000"/>
              </a:lnSpc>
              <a:spcBef>
                <a:spcPts val="77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3200" dirty="0">
                <a:latin typeface="Tahoma"/>
                <a:cs typeface="Tahoma"/>
              </a:rPr>
              <a:t>views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analysis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problems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as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50" dirty="0">
                <a:latin typeface="Tahoma"/>
                <a:cs typeface="Tahoma"/>
              </a:rPr>
              <a:t>a 	</a:t>
            </a:r>
            <a:r>
              <a:rPr sz="3200" dirty="0">
                <a:latin typeface="Tahoma"/>
                <a:cs typeface="Tahoma"/>
              </a:rPr>
              <a:t>challenge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and</a:t>
            </a:r>
            <a:r>
              <a:rPr sz="3200" spc="-9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enjoys</a:t>
            </a:r>
            <a:r>
              <a:rPr sz="3200" spc="-9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devising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workable 	solutions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865"/>
              </a:spcBef>
              <a:buFont typeface="Tahoma"/>
              <a:buChar char="•"/>
              <a:tabLst>
                <a:tab pos="354965" algn="l"/>
              </a:tabLst>
            </a:pPr>
            <a:r>
              <a:rPr sz="3600" b="1" spc="-10" dirty="0">
                <a:latin typeface="Tahoma"/>
                <a:cs typeface="Tahoma"/>
              </a:rPr>
              <a:t>Communicator</a:t>
            </a:r>
            <a:endParaRPr sz="3600">
              <a:latin typeface="Tahoma"/>
              <a:cs typeface="Tahoma"/>
            </a:endParaRPr>
          </a:p>
          <a:p>
            <a:pPr marL="355600" marR="55880" indent="-343535">
              <a:lnSpc>
                <a:spcPct val="100000"/>
              </a:lnSpc>
              <a:spcBef>
                <a:spcPts val="680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Capable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of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relating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meaningfully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other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people </a:t>
            </a:r>
            <a:r>
              <a:rPr sz="2800" dirty="0">
                <a:latin typeface="Tahoma"/>
                <a:cs typeface="Tahoma"/>
              </a:rPr>
              <a:t>over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extended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periods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over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time.</a:t>
            </a:r>
            <a:endParaRPr sz="2800">
              <a:latin typeface="Tahoma"/>
              <a:cs typeface="Tahoma"/>
            </a:endParaRPr>
          </a:p>
          <a:p>
            <a:pPr marL="355600" marR="173990" indent="-343535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Need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enough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computer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experience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program,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understand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capabilities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of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computers,</a:t>
            </a:r>
            <a:endParaRPr sz="2800">
              <a:latin typeface="Tahoma"/>
              <a:cs typeface="Tahoma"/>
            </a:endParaRPr>
          </a:p>
          <a:p>
            <a:pPr marL="466725" indent="-454025">
              <a:lnSpc>
                <a:spcPct val="100000"/>
              </a:lnSpc>
              <a:spcBef>
                <a:spcPts val="675"/>
              </a:spcBef>
              <a:buChar char="•"/>
              <a:tabLst>
                <a:tab pos="466725" algn="l"/>
              </a:tabLst>
            </a:pPr>
            <a:r>
              <a:rPr sz="2800" dirty="0">
                <a:latin typeface="Tahoma"/>
                <a:cs typeface="Tahoma"/>
              </a:rPr>
              <a:t>glean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information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requirements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from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users,</a:t>
            </a:r>
            <a:r>
              <a:rPr sz="2800" spc="-11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and</a:t>
            </a:r>
            <a:endParaRPr sz="2800">
              <a:latin typeface="Tahoma"/>
              <a:cs typeface="Tahoma"/>
            </a:endParaRPr>
          </a:p>
          <a:p>
            <a:pPr marL="466725" indent="-454025">
              <a:lnSpc>
                <a:spcPct val="100000"/>
              </a:lnSpc>
              <a:spcBef>
                <a:spcPts val="670"/>
              </a:spcBef>
              <a:buChar char="•"/>
              <a:tabLst>
                <a:tab pos="466725" algn="l"/>
              </a:tabLst>
            </a:pPr>
            <a:r>
              <a:rPr sz="2800" dirty="0">
                <a:latin typeface="Tahoma"/>
                <a:cs typeface="Tahoma"/>
              </a:rPr>
              <a:t>communicate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what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is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needed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programmers.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88145" y="6572198"/>
            <a:ext cx="2768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1-</a:t>
            </a:r>
            <a:r>
              <a:rPr sz="1000" spc="-35" dirty="0">
                <a:latin typeface="Tahoma"/>
                <a:cs typeface="Tahoma"/>
              </a:rPr>
              <a:t>22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23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335026"/>
            <a:ext cx="57638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ahoma"/>
                <a:cs typeface="Tahoma"/>
              </a:rPr>
              <a:t>Design</a:t>
            </a:r>
            <a:r>
              <a:rPr b="1" spc="-25" dirty="0">
                <a:latin typeface="Tahoma"/>
                <a:cs typeface="Tahoma"/>
              </a:rPr>
              <a:t> </a:t>
            </a:r>
            <a:r>
              <a:rPr b="1" spc="-10" dirty="0">
                <a:latin typeface="Tahoma"/>
                <a:cs typeface="Tahoma"/>
              </a:rPr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173226"/>
            <a:ext cx="7938134" cy="4988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3600" dirty="0">
                <a:latin typeface="Tahoma"/>
                <a:cs typeface="Tahoma"/>
              </a:rPr>
              <a:t>Several</a:t>
            </a:r>
            <a:r>
              <a:rPr sz="3600" spc="-8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design</a:t>
            </a:r>
            <a:r>
              <a:rPr sz="3600" spc="-7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methodology</a:t>
            </a:r>
            <a:r>
              <a:rPr sz="3600" spc="-10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are</a:t>
            </a:r>
            <a:r>
              <a:rPr sz="3600" spc="-85" dirty="0">
                <a:latin typeface="Tahoma"/>
                <a:cs typeface="Tahoma"/>
              </a:rPr>
              <a:t> </a:t>
            </a:r>
            <a:r>
              <a:rPr sz="3600" spc="-20" dirty="0">
                <a:latin typeface="Tahoma"/>
                <a:cs typeface="Tahoma"/>
              </a:rPr>
              <a:t>used </a:t>
            </a:r>
            <a:r>
              <a:rPr sz="3600" dirty="0">
                <a:latin typeface="Tahoma"/>
                <a:cs typeface="Tahoma"/>
              </a:rPr>
              <a:t>to</a:t>
            </a:r>
            <a:r>
              <a:rPr sz="3600" spc="-9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communicate</a:t>
            </a:r>
            <a:r>
              <a:rPr sz="3600" spc="-5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between</a:t>
            </a:r>
            <a:r>
              <a:rPr sz="3600" spc="-7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technical </a:t>
            </a:r>
            <a:r>
              <a:rPr sz="3600" dirty="0">
                <a:latin typeface="Tahoma"/>
                <a:cs typeface="Tahoma"/>
              </a:rPr>
              <a:t>people</a:t>
            </a:r>
            <a:r>
              <a:rPr sz="3600" spc="-10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and</a:t>
            </a:r>
            <a:r>
              <a:rPr sz="3600" spc="-10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the</a:t>
            </a:r>
            <a:r>
              <a:rPr sz="3600" spc="-10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business</a:t>
            </a:r>
            <a:r>
              <a:rPr sz="3600" spc="-80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people</a:t>
            </a:r>
            <a:endParaRPr sz="3600">
              <a:latin typeface="Tahoma"/>
              <a:cs typeface="Tahoma"/>
            </a:endParaRPr>
          </a:p>
          <a:p>
            <a:pPr marL="354330" marR="750570" indent="-342265">
              <a:lnSpc>
                <a:spcPct val="100000"/>
              </a:lnSpc>
              <a:spcBef>
                <a:spcPts val="969"/>
              </a:spcBef>
              <a:buChar char="•"/>
              <a:tabLst>
                <a:tab pos="355600" algn="l"/>
                <a:tab pos="2684145" algn="l"/>
                <a:tab pos="3733800" algn="l"/>
              </a:tabLst>
            </a:pPr>
            <a:r>
              <a:rPr sz="4000" dirty="0">
                <a:latin typeface="Tahoma"/>
                <a:cs typeface="Tahoma"/>
              </a:rPr>
              <a:t>There</a:t>
            </a:r>
            <a:r>
              <a:rPr sz="4000" spc="-40" dirty="0">
                <a:latin typeface="Tahoma"/>
                <a:cs typeface="Tahoma"/>
              </a:rPr>
              <a:t> </a:t>
            </a:r>
            <a:r>
              <a:rPr sz="4000" spc="-25" dirty="0">
                <a:latin typeface="Tahoma"/>
                <a:cs typeface="Tahoma"/>
              </a:rPr>
              <a:t>are</a:t>
            </a:r>
            <a:r>
              <a:rPr sz="4000" dirty="0">
                <a:latin typeface="Tahoma"/>
                <a:cs typeface="Tahoma"/>
              </a:rPr>
              <a:t>	three</a:t>
            </a:r>
            <a:r>
              <a:rPr sz="4000" spc="-150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approaches</a:t>
            </a:r>
            <a:r>
              <a:rPr sz="4000" spc="-135" dirty="0">
                <a:latin typeface="Tahoma"/>
                <a:cs typeface="Tahoma"/>
              </a:rPr>
              <a:t> </a:t>
            </a:r>
            <a:r>
              <a:rPr sz="4000" spc="-25" dirty="0">
                <a:latin typeface="Tahoma"/>
                <a:cs typeface="Tahoma"/>
              </a:rPr>
              <a:t>to 	</a:t>
            </a:r>
            <a:r>
              <a:rPr sz="4000" dirty="0">
                <a:latin typeface="Tahoma"/>
                <a:cs typeface="Tahoma"/>
              </a:rPr>
              <a:t>designing</a:t>
            </a:r>
            <a:r>
              <a:rPr sz="4000" spc="-170" dirty="0">
                <a:latin typeface="Tahoma"/>
                <a:cs typeface="Tahoma"/>
              </a:rPr>
              <a:t> </a:t>
            </a:r>
            <a:r>
              <a:rPr sz="4000" spc="-25" dirty="0">
                <a:latin typeface="Tahoma"/>
                <a:cs typeface="Tahoma"/>
              </a:rPr>
              <a:t>new</a:t>
            </a:r>
            <a:r>
              <a:rPr sz="4000" dirty="0">
                <a:latin typeface="Tahoma"/>
                <a:cs typeface="Tahoma"/>
              </a:rPr>
              <a:t>	</a:t>
            </a:r>
            <a:r>
              <a:rPr sz="4000" spc="-10" dirty="0">
                <a:latin typeface="Tahoma"/>
                <a:cs typeface="Tahoma"/>
              </a:rPr>
              <a:t>system.</a:t>
            </a:r>
            <a:endParaRPr sz="40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855"/>
              </a:spcBef>
              <a:buClr>
                <a:srgbClr val="E11738"/>
              </a:buClr>
              <a:buFont typeface="Tahoma"/>
              <a:buChar char="•"/>
              <a:tabLst>
                <a:tab pos="755650" algn="l"/>
              </a:tabLst>
            </a:pPr>
            <a:r>
              <a:rPr sz="3600" b="1" spc="-20" dirty="0">
                <a:latin typeface="Tahoma"/>
                <a:cs typeface="Tahoma"/>
              </a:rPr>
              <a:t>SDLC</a:t>
            </a:r>
            <a:endParaRPr sz="36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869"/>
              </a:spcBef>
              <a:buClr>
                <a:srgbClr val="E11738"/>
              </a:buClr>
              <a:buFont typeface="Tahoma"/>
              <a:buChar char="•"/>
              <a:tabLst>
                <a:tab pos="755650" algn="l"/>
              </a:tabLst>
            </a:pPr>
            <a:r>
              <a:rPr sz="3600" b="1" spc="-10" dirty="0">
                <a:latin typeface="Tahoma"/>
                <a:cs typeface="Tahoma"/>
              </a:rPr>
              <a:t>Agile</a:t>
            </a:r>
            <a:endParaRPr sz="36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865"/>
              </a:spcBef>
              <a:buClr>
                <a:srgbClr val="E11738"/>
              </a:buClr>
              <a:buFont typeface="Tahoma"/>
              <a:buChar char="•"/>
              <a:tabLst>
                <a:tab pos="755650" algn="l"/>
              </a:tabLst>
            </a:pPr>
            <a:r>
              <a:rPr sz="3600" b="1" spc="-25" dirty="0">
                <a:latin typeface="Tahoma"/>
                <a:cs typeface="Tahoma"/>
              </a:rPr>
              <a:t>UML</a:t>
            </a:r>
            <a:endParaRPr sz="3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24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64540" y="412749"/>
            <a:ext cx="7906384" cy="6037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DF1738"/>
                </a:solidFill>
                <a:latin typeface="Tahoma"/>
                <a:cs typeface="Tahoma"/>
              </a:rPr>
              <a:t>Systems</a:t>
            </a:r>
            <a:r>
              <a:rPr sz="2800" b="1" spc="-11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DF1738"/>
                </a:solidFill>
                <a:latin typeface="Tahoma"/>
                <a:cs typeface="Tahoma"/>
              </a:rPr>
              <a:t>Development</a:t>
            </a:r>
            <a:r>
              <a:rPr sz="2800" b="1" spc="-7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DF1738"/>
                </a:solidFill>
                <a:latin typeface="Tahoma"/>
                <a:cs typeface="Tahoma"/>
              </a:rPr>
              <a:t>Life</a:t>
            </a:r>
            <a:r>
              <a:rPr sz="2800" b="1" spc="-105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DF1738"/>
                </a:solidFill>
                <a:latin typeface="Tahoma"/>
                <a:cs typeface="Tahoma"/>
              </a:rPr>
              <a:t>Cycle</a:t>
            </a:r>
            <a:r>
              <a:rPr sz="2800" b="1" spc="-10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800" b="1" spc="-10" dirty="0">
                <a:solidFill>
                  <a:srgbClr val="DF1738"/>
                </a:solidFill>
                <a:latin typeface="Tahoma"/>
                <a:cs typeface="Tahoma"/>
              </a:rPr>
              <a:t>(SDLC)</a:t>
            </a:r>
            <a:endParaRPr sz="28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3229"/>
              </a:spcBef>
              <a:buChar char="•"/>
              <a:tabLst>
                <a:tab pos="355600" algn="l"/>
              </a:tabLst>
            </a:pPr>
            <a:r>
              <a:rPr sz="3600" dirty="0">
                <a:latin typeface="Tahoma"/>
                <a:cs typeface="Tahoma"/>
              </a:rPr>
              <a:t>is</a:t>
            </a:r>
            <a:r>
              <a:rPr sz="3600" spc="-5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</a:t>
            </a:r>
            <a:r>
              <a:rPr sz="3600" spc="-5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systematic</a:t>
            </a:r>
            <a:r>
              <a:rPr sz="3600" spc="-5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and</a:t>
            </a:r>
            <a:r>
              <a:rPr sz="3600" spc="-4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orderly</a:t>
            </a:r>
            <a:r>
              <a:rPr sz="3600" spc="-5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approach</a:t>
            </a:r>
            <a:endParaRPr sz="36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775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3200" dirty="0">
                <a:latin typeface="Tahoma"/>
                <a:cs typeface="Tahoma"/>
              </a:rPr>
              <a:t>to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solving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business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problems,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and</a:t>
            </a:r>
            <a:endParaRPr sz="3200">
              <a:latin typeface="Tahoma"/>
              <a:cs typeface="Tahoma"/>
            </a:endParaRPr>
          </a:p>
          <a:p>
            <a:pPr marL="756285" marR="574040" lvl="1" indent="-287020">
              <a:lnSpc>
                <a:spcPct val="100000"/>
              </a:lnSpc>
              <a:spcBef>
                <a:spcPts val="770"/>
              </a:spcBef>
              <a:buChar char="•"/>
              <a:tabLst>
                <a:tab pos="756285" algn="l"/>
                <a:tab pos="882650" algn="l"/>
              </a:tabLst>
            </a:pPr>
            <a:r>
              <a:rPr sz="3200" dirty="0">
                <a:solidFill>
                  <a:srgbClr val="E11738"/>
                </a:solidFill>
                <a:latin typeface="Tahoma"/>
                <a:cs typeface="Tahoma"/>
              </a:rPr>
              <a:t>	</a:t>
            </a:r>
            <a:r>
              <a:rPr sz="3200" dirty="0">
                <a:latin typeface="Tahoma"/>
                <a:cs typeface="Tahoma"/>
              </a:rPr>
              <a:t>developing</a:t>
            </a:r>
            <a:r>
              <a:rPr sz="3200" spc="-10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and</a:t>
            </a:r>
            <a:r>
              <a:rPr sz="3200" spc="-1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supporting</a:t>
            </a:r>
            <a:r>
              <a:rPr sz="3200" spc="-9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resulting </a:t>
            </a:r>
            <a:r>
              <a:rPr sz="3200" dirty="0">
                <a:latin typeface="Tahoma"/>
                <a:cs typeface="Tahoma"/>
              </a:rPr>
              <a:t>information</a:t>
            </a:r>
            <a:r>
              <a:rPr sz="3200" spc="-1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systems.</a:t>
            </a:r>
            <a:endParaRPr sz="3200">
              <a:latin typeface="Tahoma"/>
              <a:cs typeface="Tahoma"/>
            </a:endParaRPr>
          </a:p>
          <a:p>
            <a:pPr marL="355600" marR="113030" indent="-343535">
              <a:lnSpc>
                <a:spcPts val="4320"/>
              </a:lnSpc>
              <a:spcBef>
                <a:spcPts val="1005"/>
              </a:spcBef>
              <a:buChar char="•"/>
              <a:tabLst>
                <a:tab pos="355600" algn="l"/>
              </a:tabLst>
            </a:pPr>
            <a:r>
              <a:rPr sz="3600" dirty="0">
                <a:latin typeface="Tahoma"/>
                <a:cs typeface="Tahoma"/>
              </a:rPr>
              <a:t>Developed</a:t>
            </a:r>
            <a:r>
              <a:rPr sz="3600" spc="-5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through</a:t>
            </a:r>
            <a:r>
              <a:rPr sz="3600" spc="-4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the</a:t>
            </a:r>
            <a:r>
              <a:rPr sz="3600" spc="-5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use</a:t>
            </a:r>
            <a:r>
              <a:rPr sz="3600" spc="-4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of</a:t>
            </a:r>
            <a:r>
              <a:rPr sz="3600" spc="-55" dirty="0">
                <a:latin typeface="Tahoma"/>
                <a:cs typeface="Tahoma"/>
              </a:rPr>
              <a:t> </a:t>
            </a:r>
            <a:r>
              <a:rPr sz="3600" spc="-50" dirty="0">
                <a:latin typeface="Tahoma"/>
                <a:cs typeface="Tahoma"/>
              </a:rPr>
              <a:t>a </a:t>
            </a:r>
            <a:r>
              <a:rPr sz="3800" b="1" spc="-100" dirty="0">
                <a:latin typeface="Tahoma"/>
                <a:cs typeface="Tahoma"/>
              </a:rPr>
              <a:t>specific</a:t>
            </a:r>
            <a:r>
              <a:rPr sz="3800" b="1" spc="-175" dirty="0">
                <a:latin typeface="Tahoma"/>
                <a:cs typeface="Tahoma"/>
              </a:rPr>
              <a:t> </a:t>
            </a:r>
            <a:r>
              <a:rPr sz="3800" b="1" spc="-95" dirty="0">
                <a:latin typeface="Tahoma"/>
                <a:cs typeface="Tahoma"/>
              </a:rPr>
              <a:t>cycle</a:t>
            </a:r>
            <a:r>
              <a:rPr sz="3800" b="1" spc="-160" dirty="0">
                <a:latin typeface="Tahoma"/>
                <a:cs typeface="Tahoma"/>
              </a:rPr>
              <a:t> </a:t>
            </a:r>
            <a:r>
              <a:rPr sz="3800" b="1" spc="-20" dirty="0">
                <a:latin typeface="Tahoma"/>
                <a:cs typeface="Tahoma"/>
              </a:rPr>
              <a:t>of</a:t>
            </a:r>
            <a:r>
              <a:rPr sz="3800" b="1" spc="-155" dirty="0">
                <a:latin typeface="Tahoma"/>
                <a:cs typeface="Tahoma"/>
              </a:rPr>
              <a:t> </a:t>
            </a:r>
            <a:r>
              <a:rPr sz="3800" b="1" spc="-110" dirty="0">
                <a:latin typeface="Tahoma"/>
                <a:cs typeface="Tahoma"/>
              </a:rPr>
              <a:t>analyst</a:t>
            </a:r>
            <a:r>
              <a:rPr sz="3800" b="1" spc="-17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and</a:t>
            </a:r>
            <a:r>
              <a:rPr sz="3600" spc="-90" dirty="0">
                <a:latin typeface="Tahoma"/>
                <a:cs typeface="Tahoma"/>
              </a:rPr>
              <a:t> </a:t>
            </a:r>
            <a:r>
              <a:rPr sz="3800" b="1" spc="-25" dirty="0">
                <a:latin typeface="Tahoma"/>
                <a:cs typeface="Tahoma"/>
              </a:rPr>
              <a:t>user </a:t>
            </a:r>
            <a:r>
              <a:rPr sz="3800" b="1" spc="-10" dirty="0">
                <a:latin typeface="Tahoma"/>
                <a:cs typeface="Tahoma"/>
              </a:rPr>
              <a:t>activities</a:t>
            </a:r>
            <a:endParaRPr sz="3800">
              <a:latin typeface="Tahoma"/>
              <a:cs typeface="Tahoma"/>
            </a:endParaRPr>
          </a:p>
          <a:p>
            <a:pPr marL="355600" marR="5080" indent="-343535">
              <a:lnSpc>
                <a:spcPts val="4320"/>
              </a:lnSpc>
              <a:spcBef>
                <a:spcPts val="860"/>
              </a:spcBef>
              <a:buChar char="•"/>
              <a:tabLst>
                <a:tab pos="355600" algn="l"/>
              </a:tabLst>
            </a:pPr>
            <a:r>
              <a:rPr sz="3600" dirty="0">
                <a:latin typeface="Tahoma"/>
                <a:cs typeface="Tahoma"/>
              </a:rPr>
              <a:t>Each</a:t>
            </a:r>
            <a:r>
              <a:rPr sz="3600" spc="-8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phase</a:t>
            </a:r>
            <a:r>
              <a:rPr sz="3600" spc="-10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has</a:t>
            </a:r>
            <a:r>
              <a:rPr sz="3600" spc="-9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unique</a:t>
            </a:r>
            <a:r>
              <a:rPr sz="3600" spc="-9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user</a:t>
            </a:r>
            <a:r>
              <a:rPr sz="3600" spc="-90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activities </a:t>
            </a:r>
            <a:r>
              <a:rPr sz="3600" dirty="0">
                <a:latin typeface="Tahoma"/>
                <a:cs typeface="Tahoma"/>
              </a:rPr>
              <a:t>and</a:t>
            </a:r>
            <a:r>
              <a:rPr sz="3600" spc="-8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certain</a:t>
            </a:r>
            <a:r>
              <a:rPr sz="3600" spc="-75" dirty="0">
                <a:latin typeface="Tahoma"/>
                <a:cs typeface="Tahoma"/>
              </a:rPr>
              <a:t> </a:t>
            </a:r>
            <a:r>
              <a:rPr sz="3800" b="1" spc="-10" dirty="0">
                <a:latin typeface="Tahoma"/>
                <a:cs typeface="Tahoma"/>
              </a:rPr>
              <a:t>deliverable</a:t>
            </a:r>
            <a:endParaRPr sz="3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412750"/>
            <a:ext cx="724915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ahoma"/>
                <a:cs typeface="Tahoma"/>
              </a:rPr>
              <a:t>The</a:t>
            </a:r>
            <a:r>
              <a:rPr sz="2400" b="1" spc="-5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Seven</a:t>
            </a:r>
            <a:r>
              <a:rPr sz="2400" b="1" spc="-6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Phases</a:t>
            </a:r>
            <a:r>
              <a:rPr sz="2400" b="1" spc="-5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of</a:t>
            </a:r>
            <a:r>
              <a:rPr sz="2400" b="1" spc="-5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the</a:t>
            </a:r>
            <a:r>
              <a:rPr sz="2400" b="1" spc="-5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Systems</a:t>
            </a:r>
            <a:r>
              <a:rPr sz="2400" b="1" spc="-50" dirty="0">
                <a:latin typeface="Tahoma"/>
                <a:cs typeface="Tahoma"/>
              </a:rPr>
              <a:t> </a:t>
            </a:r>
            <a:r>
              <a:rPr sz="2400" b="1" spc="-10" dirty="0">
                <a:latin typeface="Tahoma"/>
                <a:cs typeface="Tahoma"/>
              </a:rPr>
              <a:t>Development </a:t>
            </a:r>
            <a:r>
              <a:rPr sz="2400" b="1" dirty="0">
                <a:latin typeface="Tahoma"/>
                <a:cs typeface="Tahoma"/>
              </a:rPr>
              <a:t>Life</a:t>
            </a:r>
            <a:r>
              <a:rPr sz="2400" b="1" spc="-7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Cycle</a:t>
            </a:r>
            <a:r>
              <a:rPr sz="2400" b="1" spc="-6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(Figure</a:t>
            </a:r>
            <a:r>
              <a:rPr sz="2400" b="1" spc="-70" dirty="0">
                <a:latin typeface="Tahoma"/>
                <a:cs typeface="Tahoma"/>
              </a:rPr>
              <a:t> </a:t>
            </a:r>
            <a:r>
              <a:rPr sz="2400" b="1" spc="-20" dirty="0">
                <a:latin typeface="Tahoma"/>
                <a:cs typeface="Tahoma"/>
              </a:rPr>
              <a:t>1.1)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7883" y="1507029"/>
            <a:ext cx="7921174" cy="477873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26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8267"/>
            <a:ext cx="6760209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ahoma"/>
                <a:cs typeface="Tahoma"/>
              </a:rPr>
              <a:t>Incorporating</a:t>
            </a:r>
            <a:r>
              <a:rPr sz="3200" b="1" spc="-75" dirty="0">
                <a:latin typeface="Tahoma"/>
                <a:cs typeface="Tahoma"/>
              </a:rPr>
              <a:t> </a:t>
            </a:r>
            <a:r>
              <a:rPr sz="3200" b="1" spc="-10" dirty="0">
                <a:latin typeface="Tahoma"/>
                <a:cs typeface="Tahoma"/>
              </a:rPr>
              <a:t>Human-Computer </a:t>
            </a:r>
            <a:r>
              <a:rPr sz="3200" b="1" dirty="0">
                <a:latin typeface="Tahoma"/>
                <a:cs typeface="Tahoma"/>
              </a:rPr>
              <a:t>Interaction</a:t>
            </a:r>
            <a:r>
              <a:rPr sz="3200" b="1" spc="-55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(HCI)</a:t>
            </a:r>
            <a:r>
              <a:rPr sz="3200" b="1" spc="-60" dirty="0">
                <a:latin typeface="Tahoma"/>
                <a:cs typeface="Tahoma"/>
              </a:rPr>
              <a:t> </a:t>
            </a:r>
            <a:r>
              <a:rPr sz="3200" b="1" spc="-10" dirty="0">
                <a:latin typeface="Tahoma"/>
                <a:cs typeface="Tahoma"/>
              </a:rPr>
              <a:t>Considerations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1325626"/>
            <a:ext cx="8068945" cy="5013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36854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4862195" algn="l"/>
              </a:tabLst>
            </a:pPr>
            <a:r>
              <a:rPr sz="3600" dirty="0">
                <a:latin typeface="Tahoma"/>
                <a:cs typeface="Tahoma"/>
              </a:rPr>
              <a:t>The</a:t>
            </a:r>
            <a:r>
              <a:rPr sz="3600" spc="-9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demand</a:t>
            </a:r>
            <a:r>
              <a:rPr sz="3600" spc="-9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for</a:t>
            </a:r>
            <a:r>
              <a:rPr sz="3600" spc="-9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analysts</a:t>
            </a:r>
            <a:r>
              <a:rPr sz="3600" spc="-9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who</a:t>
            </a:r>
            <a:r>
              <a:rPr sz="3600" spc="-95" dirty="0">
                <a:latin typeface="Tahoma"/>
                <a:cs typeface="Tahoma"/>
              </a:rPr>
              <a:t> </a:t>
            </a:r>
            <a:r>
              <a:rPr sz="3600" spc="-25" dirty="0">
                <a:latin typeface="Tahoma"/>
                <a:cs typeface="Tahoma"/>
              </a:rPr>
              <a:t>are </a:t>
            </a:r>
            <a:r>
              <a:rPr sz="3600" dirty="0">
                <a:latin typeface="Tahoma"/>
                <a:cs typeface="Tahoma"/>
              </a:rPr>
              <a:t>capable</a:t>
            </a:r>
            <a:r>
              <a:rPr sz="3600" spc="-1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of</a:t>
            </a:r>
            <a:r>
              <a:rPr sz="3600" spc="-1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incorporating</a:t>
            </a:r>
            <a:r>
              <a:rPr sz="3600" spc="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HCI</a:t>
            </a:r>
            <a:r>
              <a:rPr sz="3600" spc="-2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into</a:t>
            </a:r>
            <a:r>
              <a:rPr sz="3600" spc="-10" dirty="0">
                <a:latin typeface="Tahoma"/>
                <a:cs typeface="Tahoma"/>
              </a:rPr>
              <a:t> </a:t>
            </a:r>
            <a:r>
              <a:rPr sz="3600" spc="-25" dirty="0">
                <a:latin typeface="Tahoma"/>
                <a:cs typeface="Tahoma"/>
              </a:rPr>
              <a:t>the </a:t>
            </a:r>
            <a:r>
              <a:rPr sz="3600" dirty="0">
                <a:latin typeface="Tahoma"/>
                <a:cs typeface="Tahoma"/>
              </a:rPr>
              <a:t>systems</a:t>
            </a:r>
            <a:r>
              <a:rPr sz="3600" spc="-110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development</a:t>
            </a:r>
            <a:r>
              <a:rPr sz="3600" dirty="0">
                <a:latin typeface="Tahoma"/>
                <a:cs typeface="Tahoma"/>
              </a:rPr>
              <a:t>	process</a:t>
            </a:r>
            <a:r>
              <a:rPr sz="3600" spc="-60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keeps increasing,</a:t>
            </a:r>
            <a:endParaRPr sz="3600">
              <a:latin typeface="Tahoma"/>
              <a:cs typeface="Tahoma"/>
            </a:endParaRPr>
          </a:p>
          <a:p>
            <a:pPr marL="354965" marR="5080" indent="-342900">
              <a:lnSpc>
                <a:spcPct val="99000"/>
              </a:lnSpc>
              <a:spcBef>
                <a:spcPts val="910"/>
              </a:spcBef>
              <a:buChar char="•"/>
              <a:tabLst>
                <a:tab pos="354965" algn="l"/>
                <a:tab pos="6358255" algn="l"/>
                <a:tab pos="7407909" algn="l"/>
              </a:tabLst>
            </a:pPr>
            <a:r>
              <a:rPr sz="3600" dirty="0">
                <a:latin typeface="Tahoma"/>
                <a:cs typeface="Tahoma"/>
              </a:rPr>
              <a:t>as</a:t>
            </a:r>
            <a:r>
              <a:rPr sz="3600" spc="-6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companies</a:t>
            </a:r>
            <a:r>
              <a:rPr sz="3600" spc="-4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begin</a:t>
            </a:r>
            <a:r>
              <a:rPr sz="3600" spc="-6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to</a:t>
            </a:r>
            <a:r>
              <a:rPr sz="3600" spc="-5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realize</a:t>
            </a:r>
            <a:r>
              <a:rPr sz="3600" spc="-50" dirty="0">
                <a:latin typeface="Tahoma"/>
                <a:cs typeface="Tahoma"/>
              </a:rPr>
              <a:t> </a:t>
            </a:r>
            <a:r>
              <a:rPr sz="3600" spc="-20" dirty="0">
                <a:latin typeface="Tahoma"/>
                <a:cs typeface="Tahoma"/>
              </a:rPr>
              <a:t>that</a:t>
            </a:r>
            <a:r>
              <a:rPr sz="3600" dirty="0">
                <a:latin typeface="Tahoma"/>
                <a:cs typeface="Tahoma"/>
              </a:rPr>
              <a:t>	</a:t>
            </a:r>
            <a:r>
              <a:rPr sz="3600" spc="-25" dirty="0">
                <a:latin typeface="Tahoma"/>
                <a:cs typeface="Tahoma"/>
              </a:rPr>
              <a:t>the </a:t>
            </a:r>
            <a:r>
              <a:rPr sz="3350" b="1" spc="-75" dirty="0">
                <a:latin typeface="Tahoma"/>
                <a:cs typeface="Tahoma"/>
              </a:rPr>
              <a:t>quality</a:t>
            </a:r>
            <a:r>
              <a:rPr sz="3350" b="1" spc="-145" dirty="0">
                <a:latin typeface="Tahoma"/>
                <a:cs typeface="Tahoma"/>
              </a:rPr>
              <a:t> </a:t>
            </a:r>
            <a:r>
              <a:rPr sz="3350" b="1" dirty="0">
                <a:latin typeface="Tahoma"/>
                <a:cs typeface="Tahoma"/>
              </a:rPr>
              <a:t>of</a:t>
            </a:r>
            <a:r>
              <a:rPr sz="3350" b="1" spc="-105" dirty="0">
                <a:latin typeface="Tahoma"/>
                <a:cs typeface="Tahoma"/>
              </a:rPr>
              <a:t> </a:t>
            </a:r>
            <a:r>
              <a:rPr sz="3350" b="1" spc="-90" dirty="0">
                <a:latin typeface="Tahoma"/>
                <a:cs typeface="Tahoma"/>
              </a:rPr>
              <a:t>systems</a:t>
            </a:r>
            <a:r>
              <a:rPr sz="3350" b="1" spc="-1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and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350" b="1" spc="-75" dirty="0">
                <a:latin typeface="Tahoma"/>
                <a:cs typeface="Tahoma"/>
              </a:rPr>
              <a:t>quality</a:t>
            </a:r>
            <a:r>
              <a:rPr sz="3350" b="1" spc="-150" dirty="0">
                <a:latin typeface="Tahoma"/>
                <a:cs typeface="Tahoma"/>
              </a:rPr>
              <a:t> </a:t>
            </a:r>
            <a:r>
              <a:rPr sz="3350" b="1" spc="-25" dirty="0">
                <a:latin typeface="Tahoma"/>
                <a:cs typeface="Tahoma"/>
              </a:rPr>
              <a:t>of </a:t>
            </a:r>
            <a:r>
              <a:rPr sz="3350" b="1" spc="-85" dirty="0">
                <a:latin typeface="Tahoma"/>
                <a:cs typeface="Tahoma"/>
              </a:rPr>
              <a:t>work</a:t>
            </a:r>
            <a:r>
              <a:rPr sz="3350" b="1" spc="-10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life</a:t>
            </a:r>
            <a:r>
              <a:rPr sz="3600" spc="-4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can</a:t>
            </a:r>
            <a:r>
              <a:rPr sz="3600" spc="-5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be</a:t>
            </a:r>
            <a:r>
              <a:rPr sz="3600" spc="-4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improved</a:t>
            </a:r>
            <a:r>
              <a:rPr sz="3600" spc="-5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by</a:t>
            </a:r>
            <a:r>
              <a:rPr sz="3600" spc="-6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taking</a:t>
            </a:r>
            <a:r>
              <a:rPr sz="3600" spc="-45" dirty="0">
                <a:latin typeface="Tahoma"/>
                <a:cs typeface="Tahoma"/>
              </a:rPr>
              <a:t> </a:t>
            </a:r>
            <a:r>
              <a:rPr sz="3600" spc="-50" dirty="0">
                <a:latin typeface="Tahoma"/>
                <a:cs typeface="Tahoma"/>
              </a:rPr>
              <a:t>a </a:t>
            </a:r>
            <a:r>
              <a:rPr sz="3600" spc="-30" dirty="0">
                <a:latin typeface="Tahoma"/>
                <a:cs typeface="Tahoma"/>
              </a:rPr>
              <a:t>human-</a:t>
            </a:r>
            <a:r>
              <a:rPr sz="3600" dirty="0">
                <a:latin typeface="Tahoma"/>
                <a:cs typeface="Tahoma"/>
              </a:rPr>
              <a:t>centered</a:t>
            </a:r>
            <a:r>
              <a:rPr sz="3600" spc="-3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approach</a:t>
            </a:r>
            <a:r>
              <a:rPr sz="3600" spc="-80" dirty="0">
                <a:latin typeface="Tahoma"/>
                <a:cs typeface="Tahoma"/>
              </a:rPr>
              <a:t> </a:t>
            </a:r>
            <a:r>
              <a:rPr sz="3600" spc="-25" dirty="0">
                <a:latin typeface="Tahoma"/>
                <a:cs typeface="Tahoma"/>
              </a:rPr>
              <a:t>at</a:t>
            </a:r>
            <a:r>
              <a:rPr sz="3600" dirty="0">
                <a:latin typeface="Tahoma"/>
                <a:cs typeface="Tahoma"/>
              </a:rPr>
              <a:t>	</a:t>
            </a:r>
            <a:r>
              <a:rPr sz="3600" spc="-25" dirty="0">
                <a:latin typeface="Tahoma"/>
                <a:cs typeface="Tahoma"/>
              </a:rPr>
              <a:t>the </a:t>
            </a:r>
            <a:r>
              <a:rPr sz="3600" dirty="0">
                <a:latin typeface="Tahoma"/>
                <a:cs typeface="Tahoma"/>
              </a:rPr>
              <a:t>outset</a:t>
            </a:r>
            <a:r>
              <a:rPr sz="3600" spc="-3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of</a:t>
            </a:r>
            <a:r>
              <a:rPr sz="3600" spc="-4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</a:t>
            </a:r>
            <a:r>
              <a:rPr sz="3600" spc="-5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project</a:t>
            </a:r>
            <a:endParaRPr sz="3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27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375158"/>
            <a:ext cx="8419465" cy="55340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395"/>
              </a:spcBef>
              <a:buAutoNum type="arabicParenR"/>
              <a:tabLst>
                <a:tab pos="431800" algn="l"/>
              </a:tabLst>
            </a:pPr>
            <a:r>
              <a:rPr sz="2400" b="1" dirty="0">
                <a:solidFill>
                  <a:srgbClr val="DF1738"/>
                </a:solidFill>
                <a:latin typeface="Tahoma"/>
                <a:cs typeface="Tahoma"/>
              </a:rPr>
              <a:t>Identifying</a:t>
            </a:r>
            <a:r>
              <a:rPr sz="2400" b="1" spc="-11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DF1738"/>
                </a:solidFill>
                <a:latin typeface="Tahoma"/>
                <a:cs typeface="Tahoma"/>
              </a:rPr>
              <a:t>Problems,</a:t>
            </a:r>
            <a:r>
              <a:rPr sz="2400" b="1" spc="-11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DF1738"/>
                </a:solidFill>
                <a:latin typeface="Tahoma"/>
                <a:cs typeface="Tahoma"/>
              </a:rPr>
              <a:t>Opportunities,</a:t>
            </a:r>
            <a:r>
              <a:rPr sz="2400" b="1" spc="-95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DF1738"/>
                </a:solidFill>
                <a:latin typeface="Tahoma"/>
                <a:cs typeface="Tahoma"/>
              </a:rPr>
              <a:t>and</a:t>
            </a:r>
            <a:r>
              <a:rPr sz="2400" b="1" spc="-12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DF1738"/>
                </a:solidFill>
                <a:latin typeface="Tahoma"/>
                <a:cs typeface="Tahoma"/>
              </a:rPr>
              <a:t>Objectives</a:t>
            </a:r>
            <a:endParaRPr sz="2400">
              <a:latin typeface="Tahoma"/>
              <a:cs typeface="Tahoma"/>
            </a:endParaRPr>
          </a:p>
          <a:p>
            <a:pPr marL="596265" marR="1188085" lvl="1" indent="-534035">
              <a:lnSpc>
                <a:spcPct val="80000"/>
              </a:lnSpc>
              <a:spcBef>
                <a:spcPts val="1305"/>
              </a:spcBef>
              <a:buClr>
                <a:srgbClr val="99CCCC"/>
              </a:buClr>
              <a:buSzPct val="69444"/>
              <a:buFont typeface="Wingdings"/>
              <a:buChar char=""/>
              <a:tabLst>
                <a:tab pos="596265" algn="l"/>
              </a:tabLst>
            </a:pPr>
            <a:r>
              <a:rPr sz="3600" b="1" dirty="0">
                <a:latin typeface="Tahoma"/>
                <a:cs typeface="Tahoma"/>
              </a:rPr>
              <a:t>Problems</a:t>
            </a:r>
            <a:r>
              <a:rPr sz="3600" dirty="0">
                <a:latin typeface="Tahoma"/>
                <a:cs typeface="Tahoma"/>
              </a:rPr>
              <a:t>:</a:t>
            </a:r>
            <a:r>
              <a:rPr sz="3600" spc="-110" dirty="0">
                <a:latin typeface="Tahoma"/>
                <a:cs typeface="Tahoma"/>
              </a:rPr>
              <a:t> </a:t>
            </a:r>
            <a:r>
              <a:rPr sz="3600" spc="-20" dirty="0">
                <a:latin typeface="Tahoma"/>
                <a:cs typeface="Tahoma"/>
              </a:rPr>
              <a:t>-</a:t>
            </a:r>
            <a:r>
              <a:rPr sz="3600" dirty="0">
                <a:latin typeface="Verdana"/>
                <a:cs typeface="Verdana"/>
              </a:rPr>
              <a:t>Recognize</a:t>
            </a:r>
            <a:r>
              <a:rPr sz="3600" spc="-125" dirty="0">
                <a:latin typeface="Verdana"/>
                <a:cs typeface="Verdana"/>
              </a:rPr>
              <a:t> </a:t>
            </a:r>
            <a:r>
              <a:rPr sz="3600" spc="-25" dirty="0">
                <a:latin typeface="Verdana"/>
                <a:cs typeface="Verdana"/>
              </a:rPr>
              <a:t>the </a:t>
            </a:r>
            <a:r>
              <a:rPr sz="3600" dirty="0">
                <a:latin typeface="Verdana"/>
                <a:cs typeface="Verdana"/>
              </a:rPr>
              <a:t>Problem,</a:t>
            </a:r>
            <a:r>
              <a:rPr sz="3600" spc="-90" dirty="0">
                <a:latin typeface="Verdana"/>
                <a:cs typeface="Verdana"/>
              </a:rPr>
              <a:t> </a:t>
            </a:r>
            <a:r>
              <a:rPr sz="3600" dirty="0">
                <a:latin typeface="Verdana"/>
                <a:cs typeface="Verdana"/>
              </a:rPr>
              <a:t>Define</a:t>
            </a:r>
            <a:r>
              <a:rPr sz="3600" spc="-95" dirty="0">
                <a:latin typeface="Verdana"/>
                <a:cs typeface="Verdana"/>
              </a:rPr>
              <a:t> </a:t>
            </a:r>
            <a:r>
              <a:rPr sz="3600" dirty="0">
                <a:latin typeface="Verdana"/>
                <a:cs typeface="Verdana"/>
              </a:rPr>
              <a:t>the</a:t>
            </a:r>
            <a:r>
              <a:rPr sz="3600" spc="-105" dirty="0">
                <a:latin typeface="Verdana"/>
                <a:cs typeface="Verdana"/>
              </a:rPr>
              <a:t> </a:t>
            </a:r>
            <a:r>
              <a:rPr sz="3600" spc="-10" dirty="0">
                <a:latin typeface="Verdana"/>
                <a:cs typeface="Verdana"/>
              </a:rPr>
              <a:t>problem</a:t>
            </a:r>
            <a:endParaRPr sz="3600">
              <a:latin typeface="Verdana"/>
              <a:cs typeface="Verdana"/>
            </a:endParaRPr>
          </a:p>
          <a:p>
            <a:pPr marL="355600" marR="775970" lvl="1" indent="-355600">
              <a:lnSpc>
                <a:spcPct val="100000"/>
              </a:lnSpc>
              <a:spcBef>
                <a:spcPts val="869"/>
              </a:spcBef>
              <a:buSzPct val="97222"/>
              <a:buFont typeface="Wingdings"/>
              <a:buChar char=""/>
              <a:tabLst>
                <a:tab pos="355600" algn="l"/>
                <a:tab pos="376555" algn="l"/>
              </a:tabLst>
            </a:pPr>
            <a:r>
              <a:rPr sz="3600" b="1" dirty="0">
                <a:latin typeface="Tahoma"/>
                <a:cs typeface="Tahoma"/>
              </a:rPr>
              <a:t>Opportunities</a:t>
            </a:r>
            <a:r>
              <a:rPr sz="3600" b="1" spc="-1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:</a:t>
            </a:r>
            <a:r>
              <a:rPr sz="3600" spc="-7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situations</a:t>
            </a:r>
            <a:r>
              <a:rPr sz="3600" spc="-6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that</a:t>
            </a:r>
            <a:r>
              <a:rPr sz="3600" spc="-60" dirty="0">
                <a:latin typeface="Tahoma"/>
                <a:cs typeface="Tahoma"/>
              </a:rPr>
              <a:t> </a:t>
            </a:r>
            <a:r>
              <a:rPr sz="3600" spc="-25" dirty="0">
                <a:latin typeface="Tahoma"/>
                <a:cs typeface="Tahoma"/>
              </a:rPr>
              <a:t>the </a:t>
            </a:r>
            <a:r>
              <a:rPr sz="3600" dirty="0">
                <a:latin typeface="Tahoma"/>
                <a:cs typeface="Tahoma"/>
              </a:rPr>
              <a:t>analyst</a:t>
            </a:r>
            <a:r>
              <a:rPr sz="3600" spc="-5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believes</a:t>
            </a:r>
            <a:r>
              <a:rPr sz="3600" spc="-6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can</a:t>
            </a:r>
            <a:r>
              <a:rPr sz="3600" spc="-4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be</a:t>
            </a:r>
            <a:r>
              <a:rPr sz="3600" spc="-6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improved </a:t>
            </a:r>
            <a:r>
              <a:rPr sz="3600" dirty="0">
                <a:latin typeface="Tahoma"/>
                <a:cs typeface="Tahoma"/>
              </a:rPr>
              <a:t>through</a:t>
            </a:r>
            <a:r>
              <a:rPr sz="3600" spc="-3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the</a:t>
            </a:r>
            <a:r>
              <a:rPr sz="3600" spc="-2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use</a:t>
            </a:r>
            <a:r>
              <a:rPr sz="3600" spc="-1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of</a:t>
            </a:r>
            <a:r>
              <a:rPr sz="3600" spc="-30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computerized </a:t>
            </a:r>
            <a:r>
              <a:rPr sz="3600" dirty="0">
                <a:latin typeface="Tahoma"/>
                <a:cs typeface="Tahoma"/>
              </a:rPr>
              <a:t>information</a:t>
            </a:r>
            <a:r>
              <a:rPr sz="3600" spc="-5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systems.</a:t>
            </a:r>
            <a:endParaRPr sz="3600">
              <a:latin typeface="Tahoma"/>
              <a:cs typeface="Tahoma"/>
            </a:endParaRPr>
          </a:p>
          <a:p>
            <a:pPr marL="355600" marR="822325" lvl="1" indent="-355600">
              <a:lnSpc>
                <a:spcPct val="100000"/>
              </a:lnSpc>
              <a:spcBef>
                <a:spcPts val="865"/>
              </a:spcBef>
              <a:buSzPct val="97222"/>
              <a:buFont typeface="Wingdings"/>
              <a:buChar char=""/>
              <a:tabLst>
                <a:tab pos="355600" algn="l"/>
                <a:tab pos="376555" algn="l"/>
              </a:tabLst>
            </a:pPr>
            <a:r>
              <a:rPr sz="3600" b="1" dirty="0">
                <a:latin typeface="Tahoma"/>
                <a:cs typeface="Tahoma"/>
              </a:rPr>
              <a:t>Objectives</a:t>
            </a:r>
            <a:r>
              <a:rPr sz="3600" b="1" spc="-2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:</a:t>
            </a:r>
            <a:r>
              <a:rPr sz="3600" spc="-6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how</a:t>
            </a:r>
            <a:r>
              <a:rPr sz="3600" spc="-6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can</a:t>
            </a:r>
            <a:r>
              <a:rPr sz="3600" spc="-6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the</a:t>
            </a:r>
            <a:r>
              <a:rPr sz="3600" spc="-6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business </a:t>
            </a:r>
            <a:r>
              <a:rPr sz="3600" dirty="0">
                <a:latin typeface="Tahoma"/>
                <a:cs typeface="Tahoma"/>
              </a:rPr>
              <a:t>reach</a:t>
            </a:r>
            <a:r>
              <a:rPr sz="3600" spc="-5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its</a:t>
            </a:r>
            <a:r>
              <a:rPr sz="3600" spc="-6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objectives</a:t>
            </a:r>
            <a:r>
              <a:rPr sz="3600" spc="-6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by</a:t>
            </a:r>
            <a:r>
              <a:rPr sz="3600" spc="-70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addressing </a:t>
            </a:r>
            <a:r>
              <a:rPr sz="3600" dirty="0">
                <a:latin typeface="Tahoma"/>
                <a:cs typeface="Tahoma"/>
              </a:rPr>
              <a:t>specific</a:t>
            </a:r>
            <a:r>
              <a:rPr sz="3600" spc="-5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problems</a:t>
            </a:r>
            <a:r>
              <a:rPr sz="3600" spc="-7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or</a:t>
            </a:r>
            <a:r>
              <a:rPr sz="3600" spc="-6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opportunities.</a:t>
            </a:r>
            <a:endParaRPr sz="3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28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412749"/>
            <a:ext cx="7527290" cy="4106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9240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DF1738"/>
                </a:solidFill>
                <a:latin typeface="Tahoma"/>
                <a:cs typeface="Tahoma"/>
              </a:rPr>
              <a:t>Identifying</a:t>
            </a:r>
            <a:r>
              <a:rPr sz="2800" b="1" spc="-12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DF1738"/>
                </a:solidFill>
                <a:latin typeface="Tahoma"/>
                <a:cs typeface="Tahoma"/>
              </a:rPr>
              <a:t>Problems,</a:t>
            </a:r>
            <a:r>
              <a:rPr sz="2800" b="1" spc="-114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800" b="1" spc="-10" dirty="0">
                <a:solidFill>
                  <a:srgbClr val="DF1738"/>
                </a:solidFill>
                <a:latin typeface="Tahoma"/>
                <a:cs typeface="Tahoma"/>
              </a:rPr>
              <a:t>Opportunities,</a:t>
            </a:r>
            <a:r>
              <a:rPr sz="2800" b="1" spc="-13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800" b="1" spc="-25" dirty="0">
                <a:solidFill>
                  <a:srgbClr val="DF1738"/>
                </a:solidFill>
                <a:latin typeface="Tahoma"/>
                <a:cs typeface="Tahoma"/>
              </a:rPr>
              <a:t>and </a:t>
            </a:r>
            <a:r>
              <a:rPr sz="2800" b="1" spc="-10" dirty="0">
                <a:solidFill>
                  <a:srgbClr val="DF1738"/>
                </a:solidFill>
                <a:latin typeface="Tahoma"/>
                <a:cs typeface="Tahoma"/>
              </a:rPr>
              <a:t>Objectives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2655"/>
              </a:spcBef>
              <a:buFont typeface="Tahoma"/>
              <a:buChar char="•"/>
              <a:tabLst>
                <a:tab pos="354965" algn="l"/>
              </a:tabLst>
            </a:pPr>
            <a:r>
              <a:rPr sz="3600" b="1" spc="-10" dirty="0">
                <a:latin typeface="Tahoma"/>
                <a:cs typeface="Tahoma"/>
              </a:rPr>
              <a:t>Activity:</a:t>
            </a:r>
            <a:endParaRPr sz="36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775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3200" dirty="0">
                <a:latin typeface="Tahoma"/>
                <a:cs typeface="Tahoma"/>
              </a:rPr>
              <a:t>Interviewing</a:t>
            </a:r>
            <a:r>
              <a:rPr sz="3200" spc="-9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user</a:t>
            </a:r>
            <a:r>
              <a:rPr sz="3200" spc="-10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management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770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3200" dirty="0">
                <a:latin typeface="Tahoma"/>
                <a:cs typeface="Tahoma"/>
              </a:rPr>
              <a:t>Summarizing</a:t>
            </a:r>
            <a:r>
              <a:rPr sz="3200" spc="-1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1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knowledge</a:t>
            </a:r>
            <a:r>
              <a:rPr sz="3200" spc="-12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obtained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765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3200" dirty="0">
                <a:latin typeface="Tahoma"/>
                <a:cs typeface="Tahoma"/>
              </a:rPr>
              <a:t>Estimating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scope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project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770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3200" dirty="0">
                <a:latin typeface="Tahoma"/>
                <a:cs typeface="Tahoma"/>
              </a:rPr>
              <a:t>Documenting</a:t>
            </a:r>
            <a:r>
              <a:rPr sz="3200" spc="-1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11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results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29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459740" y="412749"/>
            <a:ext cx="8418195" cy="5987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900" marR="100711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DF1738"/>
                </a:solidFill>
                <a:latin typeface="Tahoma"/>
                <a:cs typeface="Tahoma"/>
              </a:rPr>
              <a:t>Identifying</a:t>
            </a:r>
            <a:r>
              <a:rPr sz="2800" b="1" spc="-12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DF1738"/>
                </a:solidFill>
                <a:latin typeface="Tahoma"/>
                <a:cs typeface="Tahoma"/>
              </a:rPr>
              <a:t>Problems,</a:t>
            </a:r>
            <a:r>
              <a:rPr sz="2800" b="1" spc="-114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800" b="1" spc="-10" dirty="0">
                <a:solidFill>
                  <a:srgbClr val="DF1738"/>
                </a:solidFill>
                <a:latin typeface="Tahoma"/>
                <a:cs typeface="Tahoma"/>
              </a:rPr>
              <a:t>Opportunities,</a:t>
            </a:r>
            <a:r>
              <a:rPr sz="2800" b="1" spc="-13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800" b="1" spc="-25" dirty="0">
                <a:solidFill>
                  <a:srgbClr val="DF1738"/>
                </a:solidFill>
                <a:latin typeface="Tahoma"/>
                <a:cs typeface="Tahoma"/>
              </a:rPr>
              <a:t>and </a:t>
            </a:r>
            <a:r>
              <a:rPr sz="2800" b="1" spc="-10" dirty="0">
                <a:solidFill>
                  <a:srgbClr val="DF1738"/>
                </a:solidFill>
                <a:latin typeface="Tahoma"/>
                <a:cs typeface="Tahoma"/>
              </a:rPr>
              <a:t>Objectives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870"/>
              </a:spcBef>
            </a:pPr>
            <a:r>
              <a:rPr sz="3600" b="1" spc="-10" dirty="0">
                <a:solidFill>
                  <a:srgbClr val="FF0000"/>
                </a:solidFill>
                <a:latin typeface="Tahoma"/>
                <a:cs typeface="Tahoma"/>
              </a:rPr>
              <a:t>Output</a:t>
            </a:r>
            <a:r>
              <a:rPr sz="3600" spc="-10" dirty="0">
                <a:solidFill>
                  <a:srgbClr val="FF0000"/>
                </a:solidFill>
                <a:latin typeface="Tahoma"/>
                <a:cs typeface="Tahoma"/>
              </a:rPr>
              <a:t>:</a:t>
            </a:r>
            <a:endParaRPr sz="3600">
              <a:latin typeface="Tahoma"/>
              <a:cs typeface="Tahoma"/>
            </a:endParaRPr>
          </a:p>
          <a:p>
            <a:pPr marL="756285" indent="-286385">
              <a:lnSpc>
                <a:spcPct val="100000"/>
              </a:lnSpc>
              <a:spcBef>
                <a:spcPts val="975"/>
              </a:spcBef>
              <a:buClr>
                <a:srgbClr val="E11738"/>
              </a:buClr>
              <a:buFont typeface="Tahoma"/>
              <a:buChar char="•"/>
              <a:tabLst>
                <a:tab pos="756285" algn="l"/>
              </a:tabLst>
            </a:pPr>
            <a:r>
              <a:rPr sz="4000" b="1" dirty="0">
                <a:latin typeface="Tahoma"/>
                <a:cs typeface="Tahoma"/>
              </a:rPr>
              <a:t>Feasibility</a:t>
            </a:r>
            <a:r>
              <a:rPr sz="4000" b="1" spc="-125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report</a:t>
            </a:r>
            <a:r>
              <a:rPr sz="4000" b="1" spc="-150" dirty="0">
                <a:latin typeface="Tahoma"/>
                <a:cs typeface="Tahoma"/>
              </a:rPr>
              <a:t> </a:t>
            </a:r>
            <a:r>
              <a:rPr sz="4000" b="1" spc="-10" dirty="0">
                <a:latin typeface="Tahoma"/>
                <a:cs typeface="Tahoma"/>
              </a:rPr>
              <a:t>containing</a:t>
            </a:r>
            <a:endParaRPr sz="4000">
              <a:latin typeface="Tahoma"/>
              <a:cs typeface="Tahoma"/>
            </a:endParaRPr>
          </a:p>
          <a:p>
            <a:pPr marL="1290955" lvl="1" indent="-365125">
              <a:lnSpc>
                <a:spcPct val="100000"/>
              </a:lnSpc>
              <a:spcBef>
                <a:spcPts val="855"/>
              </a:spcBef>
              <a:buClr>
                <a:srgbClr val="FF0000"/>
              </a:buClr>
              <a:buSzPct val="97222"/>
              <a:buFont typeface="Wingdings"/>
              <a:buChar char=""/>
              <a:tabLst>
                <a:tab pos="1290955" algn="l"/>
              </a:tabLst>
            </a:pPr>
            <a:r>
              <a:rPr sz="3600" dirty="0">
                <a:latin typeface="Tahoma"/>
                <a:cs typeface="Tahoma"/>
              </a:rPr>
              <a:t>Problem</a:t>
            </a:r>
            <a:r>
              <a:rPr sz="3600" spc="-8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definition</a:t>
            </a:r>
            <a:r>
              <a:rPr sz="3600" spc="-80" dirty="0">
                <a:latin typeface="Tahoma"/>
                <a:cs typeface="Tahoma"/>
              </a:rPr>
              <a:t> </a:t>
            </a:r>
            <a:r>
              <a:rPr sz="3600" spc="-25" dirty="0">
                <a:latin typeface="Tahoma"/>
                <a:cs typeface="Tahoma"/>
              </a:rPr>
              <a:t>and</a:t>
            </a:r>
            <a:endParaRPr sz="3600">
              <a:latin typeface="Tahoma"/>
              <a:cs typeface="Tahoma"/>
            </a:endParaRPr>
          </a:p>
          <a:p>
            <a:pPr marL="1434465" lvl="1" indent="-507365">
              <a:lnSpc>
                <a:spcPct val="100000"/>
              </a:lnSpc>
              <a:spcBef>
                <a:spcPts val="865"/>
              </a:spcBef>
              <a:buClr>
                <a:srgbClr val="FF0000"/>
              </a:buClr>
              <a:buSzPct val="97222"/>
              <a:buFont typeface="Wingdings"/>
              <a:buChar char=""/>
              <a:tabLst>
                <a:tab pos="1434465" algn="l"/>
              </a:tabLst>
            </a:pPr>
            <a:r>
              <a:rPr sz="3600" dirty="0">
                <a:latin typeface="Tahoma"/>
                <a:cs typeface="Tahoma"/>
              </a:rPr>
              <a:t>Objective</a:t>
            </a:r>
            <a:r>
              <a:rPr sz="3600" spc="-15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summaries</a:t>
            </a:r>
            <a:r>
              <a:rPr sz="3600" spc="-12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from</a:t>
            </a:r>
            <a:r>
              <a:rPr sz="3600" spc="-14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which</a:t>
            </a:r>
            <a:endParaRPr sz="3600">
              <a:latin typeface="Tahoma"/>
              <a:cs typeface="Tahoma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60"/>
              </a:spcBef>
            </a:pPr>
            <a:r>
              <a:rPr sz="4400" dirty="0">
                <a:latin typeface="Tahoma"/>
                <a:cs typeface="Tahoma"/>
              </a:rPr>
              <a:t>Management</a:t>
            </a:r>
            <a:r>
              <a:rPr sz="4400" spc="40" dirty="0">
                <a:latin typeface="Tahoma"/>
                <a:cs typeface="Tahoma"/>
              </a:rPr>
              <a:t> </a:t>
            </a:r>
            <a:r>
              <a:rPr sz="4400" dirty="0">
                <a:latin typeface="Tahoma"/>
                <a:cs typeface="Tahoma"/>
              </a:rPr>
              <a:t>can</a:t>
            </a:r>
            <a:r>
              <a:rPr sz="4400" spc="25" dirty="0">
                <a:latin typeface="Tahoma"/>
                <a:cs typeface="Tahoma"/>
              </a:rPr>
              <a:t> </a:t>
            </a:r>
            <a:r>
              <a:rPr sz="4400" dirty="0">
                <a:latin typeface="Tahoma"/>
                <a:cs typeface="Tahoma"/>
              </a:rPr>
              <a:t>make</a:t>
            </a:r>
            <a:r>
              <a:rPr sz="4400" spc="25" dirty="0">
                <a:latin typeface="Tahoma"/>
                <a:cs typeface="Tahoma"/>
              </a:rPr>
              <a:t> </a:t>
            </a:r>
            <a:r>
              <a:rPr sz="4400" dirty="0">
                <a:latin typeface="Tahoma"/>
                <a:cs typeface="Tahoma"/>
              </a:rPr>
              <a:t>a</a:t>
            </a:r>
            <a:r>
              <a:rPr sz="4400" spc="40" dirty="0">
                <a:latin typeface="Tahoma"/>
                <a:cs typeface="Tahoma"/>
              </a:rPr>
              <a:t> </a:t>
            </a:r>
            <a:r>
              <a:rPr sz="4400" spc="-10" dirty="0">
                <a:latin typeface="Tahoma"/>
                <a:cs typeface="Tahoma"/>
              </a:rPr>
              <a:t>decision </a:t>
            </a:r>
            <a:r>
              <a:rPr sz="4400" dirty="0">
                <a:latin typeface="Tahoma"/>
                <a:cs typeface="Tahoma"/>
              </a:rPr>
              <a:t>on</a:t>
            </a:r>
            <a:r>
              <a:rPr sz="4400" spc="370" dirty="0">
                <a:latin typeface="Tahoma"/>
                <a:cs typeface="Tahoma"/>
              </a:rPr>
              <a:t> </a:t>
            </a:r>
            <a:r>
              <a:rPr sz="4400" dirty="0">
                <a:latin typeface="Tahoma"/>
                <a:cs typeface="Tahoma"/>
              </a:rPr>
              <a:t>whether</a:t>
            </a:r>
            <a:r>
              <a:rPr sz="4400" spc="380" dirty="0">
                <a:latin typeface="Tahoma"/>
                <a:cs typeface="Tahoma"/>
              </a:rPr>
              <a:t> </a:t>
            </a:r>
            <a:r>
              <a:rPr sz="4400" dirty="0">
                <a:latin typeface="Tahoma"/>
                <a:cs typeface="Tahoma"/>
              </a:rPr>
              <a:t>to</a:t>
            </a:r>
            <a:r>
              <a:rPr sz="4400" spc="365" dirty="0">
                <a:latin typeface="Tahoma"/>
                <a:cs typeface="Tahoma"/>
              </a:rPr>
              <a:t> </a:t>
            </a:r>
            <a:r>
              <a:rPr sz="4400" dirty="0">
                <a:latin typeface="Tahoma"/>
                <a:cs typeface="Tahoma"/>
              </a:rPr>
              <a:t>proceed</a:t>
            </a:r>
            <a:r>
              <a:rPr sz="4400" spc="385" dirty="0">
                <a:latin typeface="Tahoma"/>
                <a:cs typeface="Tahoma"/>
              </a:rPr>
              <a:t> </a:t>
            </a:r>
            <a:r>
              <a:rPr sz="4400" dirty="0">
                <a:latin typeface="Tahoma"/>
                <a:cs typeface="Tahoma"/>
              </a:rPr>
              <a:t>with</a:t>
            </a:r>
            <a:r>
              <a:rPr sz="4400" spc="360" dirty="0">
                <a:latin typeface="Tahoma"/>
                <a:cs typeface="Tahoma"/>
              </a:rPr>
              <a:t> </a:t>
            </a:r>
            <a:r>
              <a:rPr sz="4400" spc="-25" dirty="0">
                <a:latin typeface="Tahoma"/>
                <a:cs typeface="Tahoma"/>
              </a:rPr>
              <a:t>the </a:t>
            </a:r>
            <a:r>
              <a:rPr sz="4400" dirty="0">
                <a:latin typeface="Tahoma"/>
                <a:cs typeface="Tahoma"/>
              </a:rPr>
              <a:t>proposed</a:t>
            </a:r>
            <a:r>
              <a:rPr sz="4400" spc="-15" dirty="0">
                <a:latin typeface="Tahoma"/>
                <a:cs typeface="Tahoma"/>
              </a:rPr>
              <a:t> </a:t>
            </a:r>
            <a:r>
              <a:rPr sz="4400" spc="-10" dirty="0">
                <a:latin typeface="Tahoma"/>
                <a:cs typeface="Tahoma"/>
              </a:rPr>
              <a:t>project</a:t>
            </a:r>
            <a:endParaRPr sz="4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30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451228" y="412749"/>
            <a:ext cx="639318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1920" marR="5080" indent="-137985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DF1738"/>
                </a:solidFill>
                <a:latin typeface="Tahoma"/>
                <a:cs typeface="Tahoma"/>
              </a:rPr>
              <a:t>2)</a:t>
            </a:r>
            <a:r>
              <a:rPr sz="2800" b="1" spc="-10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DF1738"/>
                </a:solidFill>
                <a:latin typeface="Tahoma"/>
                <a:cs typeface="Tahoma"/>
              </a:rPr>
              <a:t>Determining</a:t>
            </a:r>
            <a:r>
              <a:rPr sz="2800" b="1" spc="-65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DF1738"/>
                </a:solidFill>
                <a:latin typeface="Tahoma"/>
                <a:cs typeface="Tahoma"/>
              </a:rPr>
              <a:t>Human</a:t>
            </a:r>
            <a:r>
              <a:rPr sz="2800" b="1" spc="-10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800" b="1" spc="-10" dirty="0">
                <a:solidFill>
                  <a:srgbClr val="DF1738"/>
                </a:solidFill>
                <a:latin typeface="Tahoma"/>
                <a:cs typeface="Tahoma"/>
              </a:rPr>
              <a:t>Information </a:t>
            </a:r>
            <a:r>
              <a:rPr sz="2800" b="1" dirty="0">
                <a:solidFill>
                  <a:srgbClr val="DF1738"/>
                </a:solidFill>
                <a:latin typeface="Tahoma"/>
                <a:cs typeface="Tahoma"/>
              </a:rPr>
              <a:t>Requirements</a:t>
            </a:r>
            <a:r>
              <a:rPr sz="2800" b="1" spc="-14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800" b="1" spc="-10" dirty="0">
                <a:solidFill>
                  <a:srgbClr val="DF1738"/>
                </a:solidFill>
                <a:latin typeface="Tahoma"/>
                <a:cs typeface="Tahoma"/>
              </a:rPr>
              <a:t>(HCI)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1304289"/>
            <a:ext cx="8463280" cy="178244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869"/>
              </a:spcBef>
            </a:pPr>
            <a:r>
              <a:rPr sz="3200" dirty="0">
                <a:solidFill>
                  <a:srgbClr val="000000"/>
                </a:solidFill>
              </a:rPr>
              <a:t>The</a:t>
            </a:r>
            <a:r>
              <a:rPr sz="3200" spc="-35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primary</a:t>
            </a:r>
            <a:r>
              <a:rPr sz="3200" spc="-50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purpose</a:t>
            </a:r>
            <a:r>
              <a:rPr sz="3200" spc="-20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of</a:t>
            </a:r>
            <a:r>
              <a:rPr sz="3200" spc="-50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Phase</a:t>
            </a:r>
            <a:r>
              <a:rPr sz="3200" spc="-50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II</a:t>
            </a:r>
            <a:r>
              <a:rPr sz="3200" spc="-25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is</a:t>
            </a:r>
            <a:r>
              <a:rPr sz="3200" spc="-35" dirty="0">
                <a:solidFill>
                  <a:srgbClr val="000000"/>
                </a:solidFill>
              </a:rPr>
              <a:t> </a:t>
            </a:r>
            <a:r>
              <a:rPr sz="3200" spc="-25" dirty="0">
                <a:solidFill>
                  <a:srgbClr val="000000"/>
                </a:solidFill>
              </a:rPr>
              <a:t>to </a:t>
            </a:r>
            <a:r>
              <a:rPr sz="3200" dirty="0">
                <a:solidFill>
                  <a:srgbClr val="000000"/>
                </a:solidFill>
              </a:rPr>
              <a:t>understand</a:t>
            </a:r>
            <a:r>
              <a:rPr sz="3200" spc="-50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what</a:t>
            </a:r>
            <a:r>
              <a:rPr sz="3200" spc="-25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users</a:t>
            </a:r>
            <a:r>
              <a:rPr sz="3200" spc="-45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need</a:t>
            </a:r>
            <a:r>
              <a:rPr sz="3200" spc="-25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to</a:t>
            </a:r>
            <a:r>
              <a:rPr sz="3200" spc="-40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perform</a:t>
            </a:r>
            <a:r>
              <a:rPr sz="3200" spc="-35" dirty="0">
                <a:solidFill>
                  <a:srgbClr val="000000"/>
                </a:solidFill>
              </a:rPr>
              <a:t> </a:t>
            </a:r>
            <a:r>
              <a:rPr sz="3200" spc="-10" dirty="0">
                <a:solidFill>
                  <a:srgbClr val="000000"/>
                </a:solidFill>
              </a:rPr>
              <a:t>their jobs.</a:t>
            </a:r>
            <a:endParaRPr sz="3200"/>
          </a:p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000000"/>
                </a:solidFill>
              </a:rPr>
              <a:t>Formal</a:t>
            </a:r>
            <a:r>
              <a:rPr sz="3200" spc="-30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process</a:t>
            </a:r>
            <a:r>
              <a:rPr sz="3200" spc="-50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of</a:t>
            </a:r>
            <a:r>
              <a:rPr sz="3200" spc="-20" dirty="0">
                <a:solidFill>
                  <a:srgbClr val="000000"/>
                </a:solidFill>
              </a:rPr>
              <a:t> </a:t>
            </a:r>
            <a:r>
              <a:rPr sz="3200" spc="-10" dirty="0">
                <a:solidFill>
                  <a:srgbClr val="000000"/>
                </a:solidFill>
              </a:rPr>
              <a:t>using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383540" y="3060014"/>
            <a:ext cx="8043545" cy="3648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Tahoma"/>
              <a:buChar char="•"/>
              <a:tabLst>
                <a:tab pos="354965" algn="l"/>
              </a:tabLst>
            </a:pPr>
            <a:r>
              <a:rPr sz="3200" b="1" spc="-10" dirty="0">
                <a:latin typeface="Tahoma"/>
                <a:cs typeface="Tahoma"/>
              </a:rPr>
              <a:t>Research</a:t>
            </a:r>
            <a:r>
              <a:rPr sz="3200" spc="-10" dirty="0">
                <a:latin typeface="Tahoma"/>
                <a:cs typeface="Tahoma"/>
              </a:rPr>
              <a:t>,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Font typeface="Tahoma"/>
              <a:buChar char="•"/>
              <a:tabLst>
                <a:tab pos="354965" algn="l"/>
              </a:tabLst>
            </a:pPr>
            <a:r>
              <a:rPr sz="3200" b="1" spc="-10" dirty="0">
                <a:latin typeface="Tahoma"/>
                <a:cs typeface="Tahoma"/>
              </a:rPr>
              <a:t>Interview</a:t>
            </a:r>
            <a:r>
              <a:rPr sz="3200" spc="-10" dirty="0">
                <a:latin typeface="Tahoma"/>
                <a:cs typeface="Tahoma"/>
              </a:rPr>
              <a:t>,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Font typeface="Tahoma"/>
              <a:buChar char="•"/>
              <a:tabLst>
                <a:tab pos="354965" algn="l"/>
              </a:tabLst>
            </a:pPr>
            <a:r>
              <a:rPr sz="3200" b="1" spc="-10" dirty="0">
                <a:latin typeface="Tahoma"/>
                <a:cs typeface="Tahoma"/>
              </a:rPr>
              <a:t>Questionnaires</a:t>
            </a:r>
            <a:r>
              <a:rPr sz="3200" spc="-10" dirty="0">
                <a:latin typeface="Tahoma"/>
                <a:cs typeface="Tahoma"/>
              </a:rPr>
              <a:t>,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ts val="3070"/>
              </a:lnSpc>
              <a:spcBef>
                <a:spcPts val="74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Sampling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And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Other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Techniques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Collect </a:t>
            </a:r>
            <a:r>
              <a:rPr sz="3200" dirty="0">
                <a:latin typeface="Tahoma"/>
                <a:cs typeface="Tahoma"/>
              </a:rPr>
              <a:t>Information </a:t>
            </a:r>
            <a:r>
              <a:rPr sz="3200" spc="-10" dirty="0">
                <a:latin typeface="Tahoma"/>
                <a:cs typeface="Tahoma"/>
              </a:rPr>
              <a:t>About</a:t>
            </a:r>
            <a:endParaRPr sz="32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35"/>
              </a:spcBef>
              <a:buClr>
                <a:srgbClr val="E11738"/>
              </a:buClr>
              <a:buFont typeface="Tahoma"/>
              <a:buChar char="•"/>
              <a:tabLst>
                <a:tab pos="756285" algn="l"/>
              </a:tabLst>
            </a:pPr>
            <a:r>
              <a:rPr sz="2800" b="1" spc="-10" dirty="0">
                <a:latin typeface="Tahoma"/>
                <a:cs typeface="Tahoma"/>
              </a:rPr>
              <a:t>System</a:t>
            </a:r>
            <a:r>
              <a:rPr sz="2800" spc="-10" dirty="0">
                <a:latin typeface="Tahoma"/>
                <a:cs typeface="Tahoma"/>
              </a:rPr>
              <a:t>,</a:t>
            </a:r>
            <a:endParaRPr sz="28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buClr>
                <a:srgbClr val="E11738"/>
              </a:buClr>
              <a:buFont typeface="Tahoma"/>
              <a:buChar char="•"/>
              <a:tabLst>
                <a:tab pos="756285" algn="l"/>
              </a:tabLst>
            </a:pPr>
            <a:r>
              <a:rPr sz="2800" b="1" dirty="0">
                <a:latin typeface="Tahoma"/>
                <a:cs typeface="Tahoma"/>
              </a:rPr>
              <a:t>Requirements</a:t>
            </a:r>
            <a:r>
              <a:rPr sz="2800" b="1" spc="-8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And</a:t>
            </a:r>
            <a:endParaRPr sz="28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buClr>
                <a:srgbClr val="E11738"/>
              </a:buClr>
              <a:buFont typeface="Tahoma"/>
              <a:buChar char="•"/>
              <a:tabLst>
                <a:tab pos="756285" algn="l"/>
              </a:tabLst>
            </a:pPr>
            <a:r>
              <a:rPr sz="2800" b="1" spc="-10" dirty="0">
                <a:latin typeface="Tahoma"/>
                <a:cs typeface="Tahoma"/>
              </a:rPr>
              <a:t>Preferences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31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698117" y="412749"/>
            <a:ext cx="590105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44905" marR="5080" indent="-113284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DF1738"/>
                </a:solidFill>
                <a:latin typeface="Tahoma"/>
                <a:cs typeface="Tahoma"/>
              </a:rPr>
              <a:t>Determining</a:t>
            </a:r>
            <a:r>
              <a:rPr sz="2800" b="1" spc="-105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DF1738"/>
                </a:solidFill>
                <a:latin typeface="Tahoma"/>
                <a:cs typeface="Tahoma"/>
              </a:rPr>
              <a:t>Human</a:t>
            </a:r>
            <a:r>
              <a:rPr sz="2800" b="1" spc="-13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800" b="1" spc="-10" dirty="0">
                <a:solidFill>
                  <a:srgbClr val="DF1738"/>
                </a:solidFill>
                <a:latin typeface="Tahoma"/>
                <a:cs typeface="Tahoma"/>
              </a:rPr>
              <a:t>Information </a:t>
            </a:r>
            <a:r>
              <a:rPr sz="2800" b="1" dirty="0">
                <a:solidFill>
                  <a:srgbClr val="DF1738"/>
                </a:solidFill>
                <a:latin typeface="Tahoma"/>
                <a:cs typeface="Tahoma"/>
              </a:rPr>
              <a:t>Requirements</a:t>
            </a:r>
            <a:r>
              <a:rPr sz="2800" b="1" spc="-15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800" b="1" spc="-10" dirty="0">
                <a:solidFill>
                  <a:srgbClr val="DF1738"/>
                </a:solidFill>
                <a:latin typeface="Tahoma"/>
                <a:cs typeface="Tahoma"/>
              </a:rPr>
              <a:t>(HCI)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1304289"/>
            <a:ext cx="17151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00000"/>
                </a:solidFill>
                <a:latin typeface="Tahoma"/>
                <a:cs typeface="Tahoma"/>
              </a:rPr>
              <a:t>Activity</a:t>
            </a:r>
            <a:r>
              <a:rPr sz="3200" spc="-10" dirty="0">
                <a:solidFill>
                  <a:srgbClr val="000000"/>
                </a:solidFill>
              </a:rPr>
              <a:t>: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0739" y="1791665"/>
            <a:ext cx="8032115" cy="3733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E11738"/>
              </a:buClr>
              <a:buChar char="•"/>
              <a:tabLst>
                <a:tab pos="299085" algn="l"/>
              </a:tabLst>
            </a:pPr>
            <a:r>
              <a:rPr sz="3200" spc="-10" dirty="0">
                <a:latin typeface="Tahoma"/>
                <a:cs typeface="Tahoma"/>
              </a:rPr>
              <a:t>Interviewing</a:t>
            </a:r>
            <a:endParaRPr sz="32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lr>
                <a:srgbClr val="E11738"/>
              </a:buClr>
              <a:buChar char="•"/>
              <a:tabLst>
                <a:tab pos="299085" algn="l"/>
              </a:tabLst>
            </a:pPr>
            <a:r>
              <a:rPr sz="3200" dirty="0">
                <a:latin typeface="Tahoma"/>
                <a:cs typeface="Tahoma"/>
              </a:rPr>
              <a:t>Sampling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and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investing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hard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data</a:t>
            </a:r>
            <a:endParaRPr sz="32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Clr>
                <a:srgbClr val="E11738"/>
              </a:buClr>
              <a:buChar char="•"/>
              <a:tabLst>
                <a:tab pos="299085" algn="l"/>
              </a:tabLst>
            </a:pPr>
            <a:r>
              <a:rPr sz="3200" spc="-10" dirty="0">
                <a:latin typeface="Tahoma"/>
                <a:cs typeface="Tahoma"/>
              </a:rPr>
              <a:t>Questionnaires</a:t>
            </a:r>
            <a:endParaRPr sz="3200">
              <a:latin typeface="Tahoma"/>
              <a:cs typeface="Tahoma"/>
            </a:endParaRPr>
          </a:p>
          <a:p>
            <a:pPr marL="299085" indent="-286385">
              <a:lnSpc>
                <a:spcPts val="3454"/>
              </a:lnSpc>
              <a:buClr>
                <a:srgbClr val="E11738"/>
              </a:buClr>
              <a:buChar char="•"/>
              <a:tabLst>
                <a:tab pos="299085" algn="l"/>
              </a:tabLst>
            </a:pPr>
            <a:r>
              <a:rPr sz="3200" dirty="0">
                <a:latin typeface="Tahoma"/>
                <a:cs typeface="Tahoma"/>
              </a:rPr>
              <a:t>Observe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decision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maker’s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behavior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and</a:t>
            </a:r>
            <a:endParaRPr sz="3200">
              <a:latin typeface="Tahoma"/>
              <a:cs typeface="Tahoma"/>
            </a:endParaRPr>
          </a:p>
          <a:p>
            <a:pPr marL="299085">
              <a:lnSpc>
                <a:spcPts val="3454"/>
              </a:lnSpc>
            </a:pPr>
            <a:r>
              <a:rPr sz="3200" spc="-10" dirty="0">
                <a:latin typeface="Tahoma"/>
                <a:cs typeface="Tahoma"/>
              </a:rPr>
              <a:t>environment</a:t>
            </a:r>
            <a:endParaRPr sz="32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Clr>
                <a:srgbClr val="E11738"/>
              </a:buClr>
              <a:buChar char="•"/>
              <a:tabLst>
                <a:tab pos="299085" algn="l"/>
              </a:tabLst>
            </a:pPr>
            <a:r>
              <a:rPr sz="3200" spc="-10" dirty="0">
                <a:latin typeface="Tahoma"/>
                <a:cs typeface="Tahoma"/>
              </a:rPr>
              <a:t>Prototyping</a:t>
            </a:r>
            <a:endParaRPr sz="3200">
              <a:latin typeface="Tahoma"/>
              <a:cs typeface="Tahoma"/>
            </a:endParaRPr>
          </a:p>
          <a:p>
            <a:pPr marL="299085" marR="309245" indent="-287020">
              <a:lnSpc>
                <a:spcPts val="3080"/>
              </a:lnSpc>
              <a:spcBef>
                <a:spcPts val="735"/>
              </a:spcBef>
              <a:buClr>
                <a:srgbClr val="E11738"/>
              </a:buClr>
              <a:buChar char="•"/>
              <a:tabLst>
                <a:tab pos="299085" algn="l"/>
              </a:tabLst>
            </a:pPr>
            <a:r>
              <a:rPr sz="3200" dirty="0">
                <a:latin typeface="Tahoma"/>
                <a:cs typeface="Tahoma"/>
              </a:rPr>
              <a:t>Learn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who,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what,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where,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when,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how, </a:t>
            </a:r>
            <a:r>
              <a:rPr sz="3200" dirty="0">
                <a:latin typeface="Tahoma"/>
                <a:cs typeface="Tahoma"/>
              </a:rPr>
              <a:t>and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why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current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system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30945" y="6572137"/>
            <a:ext cx="276860" cy="178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1-</a:t>
            </a:r>
            <a:r>
              <a:rPr sz="1000" spc="-35" dirty="0">
                <a:latin typeface="Tahoma"/>
                <a:cs typeface="Tahoma"/>
              </a:rPr>
              <a:t>32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59740" y="1327150"/>
            <a:ext cx="7943215" cy="5109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There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are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several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questions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analyst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must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answer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this </a:t>
            </a:r>
            <a:r>
              <a:rPr sz="2400" spc="-10" dirty="0">
                <a:latin typeface="Tahoma"/>
                <a:cs typeface="Tahoma"/>
              </a:rPr>
              <a:t>phase:</a:t>
            </a:r>
            <a:endParaRPr sz="2400">
              <a:latin typeface="Tahoma"/>
              <a:cs typeface="Tahoma"/>
            </a:endParaRPr>
          </a:p>
          <a:p>
            <a:pPr marL="466725" indent="-454025">
              <a:lnSpc>
                <a:spcPct val="100000"/>
              </a:lnSpc>
              <a:spcBef>
                <a:spcPts val="670"/>
              </a:spcBef>
              <a:buFont typeface="Wingdings"/>
              <a:buChar char=""/>
              <a:tabLst>
                <a:tab pos="466725" algn="l"/>
              </a:tabLst>
            </a:pPr>
            <a:r>
              <a:rPr sz="2800" b="1" spc="-20" dirty="0">
                <a:latin typeface="Tahoma"/>
                <a:cs typeface="Tahoma"/>
              </a:rPr>
              <a:t>Who</a:t>
            </a:r>
            <a:r>
              <a:rPr sz="2800" spc="-20" dirty="0">
                <a:latin typeface="Tahoma"/>
                <a:cs typeface="Tahoma"/>
              </a:rPr>
              <a:t>—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people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who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are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involved</a:t>
            </a:r>
            <a:endParaRPr sz="2800">
              <a:latin typeface="Tahoma"/>
              <a:cs typeface="Tahoma"/>
            </a:endParaRPr>
          </a:p>
          <a:p>
            <a:pPr marL="753110" lvl="1" indent="-283210">
              <a:lnSpc>
                <a:spcPct val="100000"/>
              </a:lnSpc>
              <a:spcBef>
                <a:spcPts val="670"/>
              </a:spcBef>
              <a:buClr>
                <a:srgbClr val="E11738"/>
              </a:buClr>
              <a:buFont typeface="Tahoma"/>
              <a:buChar char="•"/>
              <a:tabLst>
                <a:tab pos="753110" algn="l"/>
              </a:tabLst>
            </a:pPr>
            <a:r>
              <a:rPr sz="2800" b="1" spc="-20" dirty="0">
                <a:latin typeface="Tahoma"/>
                <a:cs typeface="Tahoma"/>
              </a:rPr>
              <a:t>What</a:t>
            </a:r>
            <a:r>
              <a:rPr sz="2800" spc="-20" dirty="0">
                <a:latin typeface="Tahoma"/>
                <a:cs typeface="Tahoma"/>
              </a:rPr>
              <a:t>—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business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activity</a:t>
            </a:r>
            <a:endParaRPr sz="2800">
              <a:latin typeface="Tahoma"/>
              <a:cs typeface="Tahoma"/>
            </a:endParaRPr>
          </a:p>
          <a:p>
            <a:pPr marL="641985" marR="212725" lvl="1" indent="-172720">
              <a:lnSpc>
                <a:spcPct val="100000"/>
              </a:lnSpc>
              <a:spcBef>
                <a:spcPts val="675"/>
              </a:spcBef>
              <a:buFont typeface="Tahoma"/>
              <a:buChar char="•"/>
              <a:tabLst>
                <a:tab pos="641985" algn="l"/>
                <a:tab pos="752475" algn="l"/>
              </a:tabLst>
            </a:pPr>
            <a:r>
              <a:rPr sz="2800" dirty="0">
                <a:solidFill>
                  <a:srgbClr val="E11738"/>
                </a:solidFill>
                <a:latin typeface="Tahoma"/>
                <a:cs typeface="Tahoma"/>
              </a:rPr>
              <a:t>	</a:t>
            </a:r>
            <a:r>
              <a:rPr sz="2800" b="1" spc="-25" dirty="0">
                <a:latin typeface="Tahoma"/>
                <a:cs typeface="Tahoma"/>
              </a:rPr>
              <a:t>Where</a:t>
            </a:r>
            <a:r>
              <a:rPr sz="2800" spc="-25" dirty="0">
                <a:latin typeface="Tahoma"/>
                <a:cs typeface="Tahoma"/>
              </a:rPr>
              <a:t>—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environment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in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which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work </a:t>
            </a:r>
            <a:r>
              <a:rPr sz="2800" dirty="0">
                <a:latin typeface="Tahoma"/>
                <a:cs typeface="Tahoma"/>
              </a:rPr>
              <a:t>takes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place</a:t>
            </a:r>
            <a:endParaRPr sz="2800">
              <a:latin typeface="Tahoma"/>
              <a:cs typeface="Tahoma"/>
            </a:endParaRPr>
          </a:p>
          <a:p>
            <a:pPr marL="753110" lvl="1" indent="-283210">
              <a:lnSpc>
                <a:spcPct val="100000"/>
              </a:lnSpc>
              <a:spcBef>
                <a:spcPts val="670"/>
              </a:spcBef>
              <a:buClr>
                <a:srgbClr val="E11738"/>
              </a:buClr>
              <a:buFont typeface="Tahoma"/>
              <a:buChar char="•"/>
              <a:tabLst>
                <a:tab pos="753110" algn="l"/>
              </a:tabLst>
            </a:pPr>
            <a:r>
              <a:rPr sz="2800" b="1" spc="-30" dirty="0">
                <a:latin typeface="Tahoma"/>
                <a:cs typeface="Tahoma"/>
              </a:rPr>
              <a:t>When</a:t>
            </a:r>
            <a:r>
              <a:rPr sz="2800" spc="-30" dirty="0">
                <a:latin typeface="Tahoma"/>
                <a:cs typeface="Tahoma"/>
              </a:rPr>
              <a:t>—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timing</a:t>
            </a:r>
            <a:endParaRPr sz="2800">
              <a:latin typeface="Tahoma"/>
              <a:cs typeface="Tahoma"/>
            </a:endParaRPr>
          </a:p>
          <a:p>
            <a:pPr marL="641985" marR="1085215" lvl="1" indent="-172720">
              <a:lnSpc>
                <a:spcPct val="100000"/>
              </a:lnSpc>
              <a:spcBef>
                <a:spcPts val="675"/>
              </a:spcBef>
              <a:buFont typeface="Tahoma"/>
              <a:buChar char="•"/>
              <a:tabLst>
                <a:tab pos="641985" algn="l"/>
                <a:tab pos="752475" algn="l"/>
              </a:tabLst>
            </a:pPr>
            <a:r>
              <a:rPr sz="2800" dirty="0">
                <a:solidFill>
                  <a:srgbClr val="E11738"/>
                </a:solidFill>
                <a:latin typeface="Tahoma"/>
                <a:cs typeface="Tahoma"/>
              </a:rPr>
              <a:t>	</a:t>
            </a:r>
            <a:r>
              <a:rPr sz="2800" b="1" spc="-10" dirty="0">
                <a:latin typeface="Tahoma"/>
                <a:cs typeface="Tahoma"/>
              </a:rPr>
              <a:t>How</a:t>
            </a:r>
            <a:r>
              <a:rPr sz="2800" spc="-10" dirty="0">
                <a:latin typeface="Tahoma"/>
                <a:cs typeface="Tahoma"/>
              </a:rPr>
              <a:t>—</a:t>
            </a:r>
            <a:r>
              <a:rPr sz="2800" dirty="0">
                <a:latin typeface="Tahoma"/>
                <a:cs typeface="Tahoma"/>
              </a:rPr>
              <a:t>how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current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procedures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are </a:t>
            </a:r>
            <a:r>
              <a:rPr sz="2800" spc="-10" dirty="0">
                <a:latin typeface="Tahoma"/>
                <a:cs typeface="Tahoma"/>
              </a:rPr>
              <a:t>performed</a:t>
            </a:r>
            <a:endParaRPr sz="2800">
              <a:latin typeface="Tahoma"/>
              <a:cs typeface="Tahoma"/>
            </a:endParaRPr>
          </a:p>
          <a:p>
            <a:pPr marL="641985" marR="932815" lvl="1" indent="-172720">
              <a:lnSpc>
                <a:spcPct val="100000"/>
              </a:lnSpc>
              <a:spcBef>
                <a:spcPts val="675"/>
              </a:spcBef>
              <a:buFont typeface="Tahoma"/>
              <a:buChar char="•"/>
              <a:tabLst>
                <a:tab pos="641985" algn="l"/>
                <a:tab pos="752475" algn="l"/>
              </a:tabLst>
            </a:pPr>
            <a:r>
              <a:rPr sz="2800" dirty="0">
                <a:solidFill>
                  <a:srgbClr val="E11738"/>
                </a:solidFill>
                <a:latin typeface="Tahoma"/>
                <a:cs typeface="Tahoma"/>
              </a:rPr>
              <a:t>	</a:t>
            </a:r>
            <a:r>
              <a:rPr sz="2800" b="1" spc="-35" dirty="0">
                <a:latin typeface="Tahoma"/>
                <a:cs typeface="Tahoma"/>
              </a:rPr>
              <a:t>Why</a:t>
            </a:r>
            <a:r>
              <a:rPr sz="2800" spc="-35" dirty="0">
                <a:latin typeface="Tahoma"/>
                <a:cs typeface="Tahoma"/>
              </a:rPr>
              <a:t>—</a:t>
            </a:r>
            <a:r>
              <a:rPr sz="2800" dirty="0">
                <a:latin typeface="Tahoma"/>
                <a:cs typeface="Tahoma"/>
              </a:rPr>
              <a:t>why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system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uses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current system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9644" y="412749"/>
            <a:ext cx="590105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ahoma"/>
                <a:cs typeface="Tahoma"/>
              </a:rPr>
              <a:t>Determining</a:t>
            </a:r>
            <a:r>
              <a:rPr sz="2800" b="1" spc="-105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Human</a:t>
            </a:r>
            <a:r>
              <a:rPr sz="2800" b="1" spc="-130" dirty="0">
                <a:latin typeface="Tahoma"/>
                <a:cs typeface="Tahoma"/>
              </a:rPr>
              <a:t> </a:t>
            </a:r>
            <a:r>
              <a:rPr sz="2800" b="1" spc="-10" dirty="0">
                <a:latin typeface="Tahoma"/>
                <a:cs typeface="Tahoma"/>
              </a:rPr>
              <a:t>Information </a:t>
            </a:r>
            <a:r>
              <a:rPr sz="2800" b="1" dirty="0">
                <a:latin typeface="Tahoma"/>
                <a:cs typeface="Tahoma"/>
              </a:rPr>
              <a:t>Requirements</a:t>
            </a:r>
            <a:r>
              <a:rPr sz="2800" b="1" spc="-140" dirty="0">
                <a:latin typeface="Tahoma"/>
                <a:cs typeface="Tahoma"/>
              </a:rPr>
              <a:t> </a:t>
            </a:r>
            <a:r>
              <a:rPr sz="2800" b="1" spc="-10" dirty="0">
                <a:latin typeface="Tahoma"/>
                <a:cs typeface="Tahoma"/>
              </a:rPr>
              <a:t>(HCI)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33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88340" y="412749"/>
            <a:ext cx="7517765" cy="6219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92325" marR="674370" indent="-113284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DF1738"/>
                </a:solidFill>
                <a:latin typeface="Tahoma"/>
                <a:cs typeface="Tahoma"/>
              </a:rPr>
              <a:t>Determining</a:t>
            </a:r>
            <a:r>
              <a:rPr sz="2800" b="1" spc="-105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DF1738"/>
                </a:solidFill>
                <a:latin typeface="Tahoma"/>
                <a:cs typeface="Tahoma"/>
              </a:rPr>
              <a:t>Human</a:t>
            </a:r>
            <a:r>
              <a:rPr sz="2800" b="1" spc="-13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800" b="1" spc="-10" dirty="0">
                <a:solidFill>
                  <a:srgbClr val="DF1738"/>
                </a:solidFill>
                <a:latin typeface="Tahoma"/>
                <a:cs typeface="Tahoma"/>
              </a:rPr>
              <a:t>Information </a:t>
            </a:r>
            <a:r>
              <a:rPr sz="2800" b="1" dirty="0">
                <a:solidFill>
                  <a:srgbClr val="DF1738"/>
                </a:solidFill>
                <a:latin typeface="Tahoma"/>
                <a:cs typeface="Tahoma"/>
              </a:rPr>
              <a:t>Requirements</a:t>
            </a:r>
            <a:r>
              <a:rPr sz="2800" b="1" spc="-15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800" b="1" spc="-10" dirty="0">
                <a:solidFill>
                  <a:srgbClr val="DF1738"/>
                </a:solidFill>
                <a:latin typeface="Tahoma"/>
                <a:cs typeface="Tahoma"/>
              </a:rPr>
              <a:t>(HCI)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ts val="2780"/>
              </a:lnSpc>
            </a:pPr>
            <a:r>
              <a:rPr sz="2400" b="1" spc="-10" dirty="0">
                <a:solidFill>
                  <a:srgbClr val="FF0000"/>
                </a:solidFill>
                <a:latin typeface="Tahoma"/>
                <a:cs typeface="Tahoma"/>
              </a:rPr>
              <a:t>OUTPUT</a:t>
            </a:r>
            <a:r>
              <a:rPr sz="2400" spc="-10" dirty="0">
                <a:latin typeface="Tahoma"/>
                <a:cs typeface="Tahoma"/>
              </a:rPr>
              <a:t>:</a:t>
            </a:r>
            <a:endParaRPr sz="2400">
              <a:latin typeface="Tahoma"/>
              <a:cs typeface="Tahoma"/>
            </a:endParaRPr>
          </a:p>
          <a:p>
            <a:pPr marL="354330" marR="5080" indent="-342265">
              <a:lnSpc>
                <a:spcPct val="80000"/>
              </a:lnSpc>
              <a:spcBef>
                <a:spcPts val="860"/>
              </a:spcBef>
              <a:buChar char="•"/>
              <a:tabLst>
                <a:tab pos="355600" algn="l"/>
              </a:tabLst>
            </a:pPr>
            <a:r>
              <a:rPr sz="3600" dirty="0">
                <a:latin typeface="Tahoma"/>
                <a:cs typeface="Tahoma"/>
              </a:rPr>
              <a:t>The</a:t>
            </a:r>
            <a:r>
              <a:rPr sz="3600" spc="-8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analyst</a:t>
            </a:r>
            <a:r>
              <a:rPr sz="3600" spc="-8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understands</a:t>
            </a:r>
            <a:r>
              <a:rPr sz="3600" spc="-5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how</a:t>
            </a:r>
            <a:r>
              <a:rPr sz="3600" spc="-8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users 	</a:t>
            </a:r>
            <a:r>
              <a:rPr sz="3600" dirty="0">
                <a:latin typeface="Tahoma"/>
                <a:cs typeface="Tahoma"/>
              </a:rPr>
              <a:t>accomplish</a:t>
            </a:r>
            <a:r>
              <a:rPr sz="3600" spc="-114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their</a:t>
            </a:r>
            <a:r>
              <a:rPr sz="3600" spc="-9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work</a:t>
            </a:r>
            <a:r>
              <a:rPr sz="3600" spc="-110" dirty="0">
                <a:latin typeface="Tahoma"/>
                <a:cs typeface="Tahoma"/>
              </a:rPr>
              <a:t> </a:t>
            </a:r>
            <a:r>
              <a:rPr sz="3600" spc="-20" dirty="0">
                <a:latin typeface="Tahoma"/>
                <a:cs typeface="Tahoma"/>
              </a:rPr>
              <a:t>when 	</a:t>
            </a:r>
            <a:r>
              <a:rPr sz="3600" dirty="0">
                <a:latin typeface="Tahoma"/>
                <a:cs typeface="Tahoma"/>
              </a:rPr>
              <a:t>interacting</a:t>
            </a:r>
            <a:r>
              <a:rPr sz="3600" spc="-7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with</a:t>
            </a:r>
            <a:r>
              <a:rPr sz="3600" spc="-9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</a:t>
            </a:r>
            <a:r>
              <a:rPr sz="3600" spc="-9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computer.</a:t>
            </a:r>
            <a:endParaRPr sz="3600">
              <a:latin typeface="Tahoma"/>
              <a:cs typeface="Tahoma"/>
            </a:endParaRPr>
          </a:p>
          <a:p>
            <a:pPr marL="755015" marR="154940" lvl="1" indent="-285750">
              <a:lnSpc>
                <a:spcPts val="3070"/>
              </a:lnSpc>
              <a:spcBef>
                <a:spcPts val="745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3200" dirty="0">
                <a:latin typeface="Tahoma"/>
                <a:cs typeface="Tahoma"/>
              </a:rPr>
              <a:t>Begin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know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how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make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25" dirty="0">
                <a:latin typeface="Tahoma"/>
                <a:cs typeface="Tahoma"/>
              </a:rPr>
              <a:t> new 	</a:t>
            </a:r>
            <a:r>
              <a:rPr sz="3200" dirty="0">
                <a:latin typeface="Tahoma"/>
                <a:cs typeface="Tahoma"/>
              </a:rPr>
              <a:t>system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more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useful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and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usable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30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3200" dirty="0">
                <a:latin typeface="Tahoma"/>
                <a:cs typeface="Tahoma"/>
              </a:rPr>
              <a:t>Know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business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functions</a:t>
            </a:r>
            <a:endParaRPr sz="32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Have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complete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information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on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the: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5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People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Goals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2800" spc="-20" dirty="0">
                <a:latin typeface="Tahoma"/>
                <a:cs typeface="Tahoma"/>
              </a:rPr>
              <a:t>Data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2800" dirty="0">
                <a:latin typeface="Tahoma"/>
                <a:cs typeface="Tahoma"/>
              </a:rPr>
              <a:t>Procedure</a:t>
            </a:r>
            <a:r>
              <a:rPr sz="2800" spc="-16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involved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34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Tahoma"/>
                <a:cs typeface="Tahoma"/>
              </a:rPr>
              <a:t>3)</a:t>
            </a:r>
            <a:r>
              <a:rPr b="1" spc="-40" dirty="0">
                <a:latin typeface="Tahoma"/>
                <a:cs typeface="Tahoma"/>
              </a:rPr>
              <a:t> </a:t>
            </a:r>
            <a:r>
              <a:rPr b="1" dirty="0">
                <a:latin typeface="Tahoma"/>
                <a:cs typeface="Tahoma"/>
              </a:rPr>
              <a:t>Analyzing</a:t>
            </a:r>
            <a:r>
              <a:rPr b="1" spc="-55" dirty="0">
                <a:latin typeface="Tahoma"/>
                <a:cs typeface="Tahoma"/>
              </a:rPr>
              <a:t> </a:t>
            </a:r>
            <a:r>
              <a:rPr b="1" dirty="0">
                <a:latin typeface="Tahoma"/>
                <a:cs typeface="Tahoma"/>
              </a:rPr>
              <a:t>System</a:t>
            </a:r>
            <a:r>
              <a:rPr b="1" spc="-25" dirty="0">
                <a:latin typeface="Tahoma"/>
                <a:cs typeface="Tahoma"/>
              </a:rPr>
              <a:t> </a:t>
            </a:r>
            <a:r>
              <a:rPr b="1" spc="-10" dirty="0">
                <a:latin typeface="Tahoma"/>
                <a:cs typeface="Tahoma"/>
              </a:rPr>
              <a:t>Needs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284478"/>
            <a:ext cx="8380730" cy="50184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5600" marR="177800" indent="-342900">
              <a:lnSpc>
                <a:spcPct val="90000"/>
              </a:lnSpc>
              <a:spcBef>
                <a:spcPts val="430"/>
              </a:spcBef>
            </a:pPr>
            <a:r>
              <a:rPr sz="2800" dirty="0">
                <a:latin typeface="Tahoma"/>
                <a:cs typeface="Tahoma"/>
              </a:rPr>
              <a:t>The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primary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purpose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of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Phase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III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is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determine </a:t>
            </a:r>
            <a:r>
              <a:rPr sz="2800" dirty="0">
                <a:latin typeface="Tahoma"/>
                <a:cs typeface="Tahoma"/>
              </a:rPr>
              <a:t>what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information</a:t>
            </a:r>
            <a:r>
              <a:rPr sz="2800" b="1" spc="1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and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processes</a:t>
            </a:r>
            <a:r>
              <a:rPr sz="2800" b="1" spc="-2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are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needed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to </a:t>
            </a:r>
            <a:r>
              <a:rPr sz="2800" dirty="0">
                <a:latin typeface="Tahoma"/>
                <a:cs typeface="Tahoma"/>
              </a:rPr>
              <a:t>resolve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problem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or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take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advantage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of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an </a:t>
            </a:r>
            <a:r>
              <a:rPr sz="2800" spc="-10" dirty="0">
                <a:latin typeface="Tahoma"/>
                <a:cs typeface="Tahoma"/>
              </a:rPr>
              <a:t>opportunity.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Typical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tools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used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in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this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phase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are: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Data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flow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diagrams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Data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dictionaries</a:t>
            </a:r>
            <a:endParaRPr sz="2800">
              <a:latin typeface="Tahoma"/>
              <a:cs typeface="Tahoma"/>
            </a:endParaRPr>
          </a:p>
          <a:p>
            <a:pPr marL="355600" marR="637540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Analyzing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structured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decisions</a:t>
            </a:r>
            <a:r>
              <a:rPr sz="2800" spc="-12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using</a:t>
            </a:r>
            <a:r>
              <a:rPr sz="2800" spc="-114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structured </a:t>
            </a:r>
            <a:r>
              <a:rPr sz="2800" dirty="0">
                <a:latin typeface="Tahoma"/>
                <a:cs typeface="Tahoma"/>
              </a:rPr>
              <a:t>English,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decision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tables,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and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decision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trees</a:t>
            </a:r>
            <a:endParaRPr sz="28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Analyzing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semi-</a:t>
            </a:r>
            <a:r>
              <a:rPr sz="2800" dirty="0">
                <a:latin typeface="Tahoma"/>
                <a:cs typeface="Tahoma"/>
              </a:rPr>
              <a:t>structured</a:t>
            </a:r>
            <a:r>
              <a:rPr sz="2800" spc="-114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decisions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using</a:t>
            </a:r>
            <a:r>
              <a:rPr sz="2800" spc="-12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the </a:t>
            </a:r>
            <a:r>
              <a:rPr sz="2800" dirty="0">
                <a:latin typeface="Tahoma"/>
                <a:cs typeface="Tahoma"/>
              </a:rPr>
              <a:t>tradeoff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process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and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use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of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weighting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methods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35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Tahoma"/>
                <a:cs typeface="Tahoma"/>
              </a:rPr>
              <a:t>3)</a:t>
            </a:r>
            <a:r>
              <a:rPr b="1" spc="-40" dirty="0">
                <a:latin typeface="Tahoma"/>
                <a:cs typeface="Tahoma"/>
              </a:rPr>
              <a:t> </a:t>
            </a:r>
            <a:r>
              <a:rPr b="1" dirty="0">
                <a:latin typeface="Tahoma"/>
                <a:cs typeface="Tahoma"/>
              </a:rPr>
              <a:t>Analyzing</a:t>
            </a:r>
            <a:r>
              <a:rPr b="1" spc="-55" dirty="0">
                <a:latin typeface="Tahoma"/>
                <a:cs typeface="Tahoma"/>
              </a:rPr>
              <a:t> </a:t>
            </a:r>
            <a:r>
              <a:rPr b="1" dirty="0">
                <a:latin typeface="Tahoma"/>
                <a:cs typeface="Tahoma"/>
              </a:rPr>
              <a:t>System</a:t>
            </a:r>
            <a:r>
              <a:rPr b="1" spc="-25" dirty="0">
                <a:latin typeface="Tahoma"/>
                <a:cs typeface="Tahoma"/>
              </a:rPr>
              <a:t> </a:t>
            </a:r>
            <a:r>
              <a:rPr b="1" spc="-10" dirty="0">
                <a:latin typeface="Tahoma"/>
                <a:cs typeface="Tahoma"/>
              </a:rPr>
              <a:t>Needs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228318"/>
            <a:ext cx="7750809" cy="3440429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3200" b="1" spc="-10" dirty="0">
                <a:latin typeface="Tahoma"/>
                <a:cs typeface="Tahoma"/>
              </a:rPr>
              <a:t>Deliverables: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Data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Flow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Diagram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and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optionally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Data </a:t>
            </a:r>
            <a:r>
              <a:rPr sz="3200" spc="-10" dirty="0">
                <a:latin typeface="Tahoma"/>
                <a:cs typeface="Tahoma"/>
              </a:rPr>
              <a:t>Dictionary.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Presentation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Systems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Proposal.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Updated</a:t>
            </a:r>
            <a:r>
              <a:rPr sz="3200" spc="-11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Schedule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Updated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Risk</a:t>
            </a:r>
            <a:r>
              <a:rPr sz="3200" spc="-10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Management</a:t>
            </a:r>
            <a:r>
              <a:rPr sz="3200" spc="-10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Document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412749"/>
            <a:ext cx="8749030" cy="5975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23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DF1738"/>
                </a:solidFill>
                <a:latin typeface="Tahoma"/>
                <a:cs typeface="Tahoma"/>
              </a:rPr>
              <a:t>4)</a:t>
            </a:r>
            <a:r>
              <a:rPr sz="2800" spc="-12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DF1738"/>
                </a:solidFill>
                <a:latin typeface="Tahoma"/>
                <a:cs typeface="Tahoma"/>
              </a:rPr>
              <a:t>Designing</a:t>
            </a:r>
            <a:r>
              <a:rPr sz="2800" b="1" spc="-95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DF1738"/>
                </a:solidFill>
                <a:latin typeface="Tahoma"/>
                <a:cs typeface="Tahoma"/>
              </a:rPr>
              <a:t>the</a:t>
            </a:r>
            <a:r>
              <a:rPr sz="2800" b="1" spc="-125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DF1738"/>
                </a:solidFill>
                <a:latin typeface="Tahoma"/>
                <a:cs typeface="Tahoma"/>
              </a:rPr>
              <a:t>Recommended</a:t>
            </a:r>
            <a:r>
              <a:rPr sz="2800" b="1" spc="-7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2800" b="1" spc="-10" dirty="0">
                <a:solidFill>
                  <a:srgbClr val="DF1738"/>
                </a:solidFill>
                <a:latin typeface="Tahoma"/>
                <a:cs typeface="Tahoma"/>
              </a:rPr>
              <a:t>System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28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The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primary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purpose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Phase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IV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is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design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logical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and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physical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components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necessary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implement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recommended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system.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This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includes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80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2800" dirty="0">
                <a:latin typeface="Tahoma"/>
                <a:cs typeface="Tahoma"/>
              </a:rPr>
              <a:t>database</a:t>
            </a:r>
            <a:r>
              <a:rPr sz="2800" spc="-12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design,</a:t>
            </a:r>
            <a:endParaRPr sz="28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67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input/output</a:t>
            </a:r>
            <a:r>
              <a:rPr sz="2800" spc="-12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layouts,</a:t>
            </a:r>
            <a:endParaRPr sz="28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logical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data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flow,</a:t>
            </a:r>
            <a:endParaRPr sz="2800">
              <a:latin typeface="Tahoma"/>
              <a:cs typeface="Tahoma"/>
            </a:endParaRPr>
          </a:p>
          <a:p>
            <a:pPr marL="755015" marR="10160" lvl="1" indent="-285750">
              <a:lnSpc>
                <a:spcPct val="100000"/>
              </a:lnSpc>
              <a:spcBef>
                <a:spcPts val="67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structured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&amp;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semi-</a:t>
            </a:r>
            <a:r>
              <a:rPr sz="2800" dirty="0">
                <a:latin typeface="Tahoma"/>
                <a:cs typeface="Tahoma"/>
              </a:rPr>
              <a:t>structured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decision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designs,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and 	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architectural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design.</a:t>
            </a:r>
            <a:endParaRPr sz="28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In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addition,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controls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and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backup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procedures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are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2452" y="6363106"/>
            <a:ext cx="20739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ahoma"/>
                <a:cs typeface="Tahoma"/>
              </a:rPr>
              <a:t>documented.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145" y="6572198"/>
            <a:ext cx="2768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1-</a:t>
            </a:r>
            <a:r>
              <a:rPr sz="1000" spc="-35" dirty="0">
                <a:latin typeface="Tahoma"/>
                <a:cs typeface="Tahoma"/>
              </a:rPr>
              <a:t>36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37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321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4)</a:t>
            </a:r>
            <a:r>
              <a:rPr sz="2800" spc="-120" dirty="0"/>
              <a:t> </a:t>
            </a:r>
            <a:r>
              <a:rPr sz="2800" b="1" dirty="0">
                <a:latin typeface="Tahoma"/>
                <a:cs typeface="Tahoma"/>
              </a:rPr>
              <a:t>Designing</a:t>
            </a:r>
            <a:r>
              <a:rPr sz="2800" b="1" spc="-95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the</a:t>
            </a:r>
            <a:r>
              <a:rPr sz="2800" b="1" spc="-125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Recommended</a:t>
            </a:r>
            <a:r>
              <a:rPr sz="2800" b="1" spc="-70" dirty="0">
                <a:latin typeface="Tahoma"/>
                <a:cs typeface="Tahoma"/>
              </a:rPr>
              <a:t> </a:t>
            </a:r>
            <a:r>
              <a:rPr sz="2800" b="1" spc="-10" dirty="0">
                <a:latin typeface="Tahoma"/>
                <a:cs typeface="Tahoma"/>
              </a:rPr>
              <a:t>System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739" y="1228318"/>
            <a:ext cx="6487160" cy="236728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3200" dirty="0">
                <a:latin typeface="Tahoma"/>
                <a:cs typeface="Tahoma"/>
              </a:rPr>
              <a:t>Typical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tools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used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this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phase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are:</a:t>
            </a:r>
            <a:endParaRPr sz="32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Prototyping</a:t>
            </a:r>
            <a:r>
              <a:rPr sz="3200" spc="-16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Tools</a:t>
            </a:r>
            <a:endParaRPr sz="32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ERD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Tool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Data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Dictionary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Tools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38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12749"/>
            <a:ext cx="583184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4)</a:t>
            </a:r>
            <a:r>
              <a:rPr sz="4000" spc="-114" dirty="0"/>
              <a:t> </a:t>
            </a:r>
            <a:r>
              <a:rPr sz="4000" b="1" dirty="0">
                <a:latin typeface="Tahoma"/>
                <a:cs typeface="Tahoma"/>
              </a:rPr>
              <a:t>Designing</a:t>
            </a:r>
            <a:r>
              <a:rPr sz="4000" b="1" spc="-100" dirty="0">
                <a:latin typeface="Tahoma"/>
                <a:cs typeface="Tahoma"/>
              </a:rPr>
              <a:t> </a:t>
            </a:r>
            <a:r>
              <a:rPr sz="4000" b="1" spc="-25" dirty="0">
                <a:latin typeface="Tahoma"/>
                <a:cs typeface="Tahoma"/>
              </a:rPr>
              <a:t>the </a:t>
            </a:r>
            <a:r>
              <a:rPr sz="4000" b="1" dirty="0">
                <a:latin typeface="Tahoma"/>
                <a:cs typeface="Tahoma"/>
              </a:rPr>
              <a:t>Recommended</a:t>
            </a:r>
            <a:r>
              <a:rPr sz="4000" b="1" spc="-265" dirty="0">
                <a:latin typeface="Tahoma"/>
                <a:cs typeface="Tahoma"/>
              </a:rPr>
              <a:t> </a:t>
            </a:r>
            <a:r>
              <a:rPr sz="4000" b="1" spc="-10" dirty="0">
                <a:latin typeface="Tahoma"/>
                <a:cs typeface="Tahoma"/>
              </a:rPr>
              <a:t>System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61617" y="1948577"/>
            <a:ext cx="6728459" cy="391858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3200" b="1" spc="-10" dirty="0">
                <a:latin typeface="Tahoma"/>
                <a:cs typeface="Tahoma"/>
              </a:rPr>
              <a:t>Activity</a:t>
            </a:r>
            <a:r>
              <a:rPr sz="3200" spc="-10" dirty="0">
                <a:latin typeface="Tahoma"/>
                <a:cs typeface="Tahoma"/>
              </a:rPr>
              <a:t>:</a:t>
            </a:r>
            <a:endParaRPr sz="3200">
              <a:latin typeface="Tahoma"/>
              <a:cs typeface="Tahoma"/>
            </a:endParaRPr>
          </a:p>
          <a:p>
            <a:pPr marL="756285" indent="-286385">
              <a:lnSpc>
                <a:spcPct val="100000"/>
              </a:lnSpc>
              <a:spcBef>
                <a:spcPts val="345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Design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procedures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for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data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entry</a:t>
            </a:r>
            <a:endParaRPr sz="2800">
              <a:latin typeface="Tahoma"/>
              <a:cs typeface="Tahoma"/>
            </a:endParaRPr>
          </a:p>
          <a:p>
            <a:pPr marL="756285" indent="-286385">
              <a:lnSpc>
                <a:spcPct val="100000"/>
              </a:lnSpc>
              <a:spcBef>
                <a:spcPts val="335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Design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human-</a:t>
            </a:r>
            <a:r>
              <a:rPr sz="2800" dirty="0">
                <a:latin typeface="Tahoma"/>
                <a:cs typeface="Tahoma"/>
              </a:rPr>
              <a:t>computer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interface</a:t>
            </a:r>
            <a:endParaRPr sz="2800">
              <a:latin typeface="Tahoma"/>
              <a:cs typeface="Tahoma"/>
            </a:endParaRPr>
          </a:p>
          <a:p>
            <a:pPr marL="755650" indent="-285750">
              <a:lnSpc>
                <a:spcPct val="100000"/>
              </a:lnSpc>
              <a:spcBef>
                <a:spcPts val="335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2800" dirty="0">
                <a:latin typeface="Tahoma"/>
                <a:cs typeface="Tahoma"/>
              </a:rPr>
              <a:t>Design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system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controls</a:t>
            </a:r>
            <a:endParaRPr sz="2800">
              <a:latin typeface="Tahoma"/>
              <a:cs typeface="Tahoma"/>
            </a:endParaRPr>
          </a:p>
          <a:p>
            <a:pPr marL="756285" indent="-286385">
              <a:lnSpc>
                <a:spcPct val="100000"/>
              </a:lnSpc>
              <a:spcBef>
                <a:spcPts val="34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Design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database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and/or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files</a:t>
            </a:r>
            <a:endParaRPr sz="2800">
              <a:latin typeface="Tahoma"/>
              <a:cs typeface="Tahoma"/>
            </a:endParaRPr>
          </a:p>
          <a:p>
            <a:pPr marL="756285" indent="-286385">
              <a:lnSpc>
                <a:spcPct val="100000"/>
              </a:lnSpc>
              <a:spcBef>
                <a:spcPts val="335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Design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backup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procedures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3200" b="1" spc="-10" dirty="0">
                <a:latin typeface="Tahoma"/>
                <a:cs typeface="Tahoma"/>
              </a:rPr>
              <a:t>Output</a:t>
            </a:r>
            <a:endParaRPr sz="3200">
              <a:latin typeface="Tahoma"/>
              <a:cs typeface="Tahoma"/>
            </a:endParaRPr>
          </a:p>
          <a:p>
            <a:pPr marL="756285" indent="-286385">
              <a:lnSpc>
                <a:spcPct val="100000"/>
              </a:lnSpc>
              <a:spcBef>
                <a:spcPts val="345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Model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of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actual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system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30945" y="6572137"/>
            <a:ext cx="276860" cy="178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1-</a:t>
            </a:r>
            <a:r>
              <a:rPr sz="1000" spc="-35" dirty="0">
                <a:latin typeface="Tahoma"/>
                <a:cs typeface="Tahoma"/>
              </a:rPr>
              <a:t>39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83540" y="1173226"/>
            <a:ext cx="8028305" cy="53187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762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Presentation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Detail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Design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Document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to </a:t>
            </a:r>
            <a:r>
              <a:rPr sz="3200" dirty="0">
                <a:latin typeface="Tahoma"/>
                <a:cs typeface="Tahoma"/>
              </a:rPr>
              <a:t>developers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which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includes:</a:t>
            </a:r>
            <a:endParaRPr sz="32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Data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Flow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Diagrams,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ERD's,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&amp;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Data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Dictionary</a:t>
            </a:r>
            <a:endParaRPr sz="28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Controls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&amp;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Backup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Procedure</a:t>
            </a:r>
            <a:endParaRPr sz="28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67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Input/Output</a:t>
            </a:r>
            <a:r>
              <a:rPr sz="2800" spc="-204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Layouts</a:t>
            </a:r>
            <a:endParaRPr sz="28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Logical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&amp;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Physical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Designs</a:t>
            </a:r>
            <a:endParaRPr sz="28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67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Architectural</a:t>
            </a:r>
            <a:r>
              <a:rPr sz="2800" spc="-17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Design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Updated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Project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Schedule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Updated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Vision/Scope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Document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Updated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Risk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Management</a:t>
            </a:r>
            <a:r>
              <a:rPr sz="3200" spc="-9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Document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7109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solidFill>
                  <a:srgbClr val="FF0000"/>
                </a:solidFill>
                <a:latin typeface="Tahoma"/>
                <a:cs typeface="Tahoma"/>
              </a:rPr>
              <a:t>Deliverables: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40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412749"/>
            <a:ext cx="590486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5)</a:t>
            </a:r>
            <a:r>
              <a:rPr sz="4000" spc="-140" dirty="0"/>
              <a:t> </a:t>
            </a:r>
            <a:r>
              <a:rPr sz="4000" b="1" dirty="0">
                <a:latin typeface="Tahoma"/>
                <a:cs typeface="Tahoma"/>
              </a:rPr>
              <a:t>Developing</a:t>
            </a:r>
            <a:r>
              <a:rPr sz="4000" b="1" spc="-140" dirty="0">
                <a:latin typeface="Tahoma"/>
                <a:cs typeface="Tahoma"/>
              </a:rPr>
              <a:t> </a:t>
            </a:r>
            <a:r>
              <a:rPr sz="4000" b="1" spc="-25" dirty="0">
                <a:latin typeface="Tahoma"/>
                <a:cs typeface="Tahoma"/>
              </a:rPr>
              <a:t>and </a:t>
            </a:r>
            <a:r>
              <a:rPr sz="4000" b="1" dirty="0">
                <a:latin typeface="Tahoma"/>
                <a:cs typeface="Tahoma"/>
              </a:rPr>
              <a:t>Documenting</a:t>
            </a:r>
            <a:r>
              <a:rPr sz="4000" b="1" spc="-245" dirty="0">
                <a:latin typeface="Tahoma"/>
                <a:cs typeface="Tahoma"/>
              </a:rPr>
              <a:t> </a:t>
            </a:r>
            <a:r>
              <a:rPr sz="4000" b="1" spc="-10" dirty="0">
                <a:latin typeface="Tahoma"/>
                <a:cs typeface="Tahoma"/>
              </a:rPr>
              <a:t>Software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935607"/>
            <a:ext cx="7993380" cy="3049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576705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Purpose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Phase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V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is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build</a:t>
            </a:r>
            <a:r>
              <a:rPr sz="3200" spc="-25" dirty="0">
                <a:latin typeface="Tahoma"/>
                <a:cs typeface="Tahoma"/>
              </a:rPr>
              <a:t> the </a:t>
            </a:r>
            <a:r>
              <a:rPr sz="3200" dirty="0">
                <a:latin typeface="Tahoma"/>
                <a:cs typeface="Tahoma"/>
              </a:rPr>
              <a:t>recommended</a:t>
            </a:r>
            <a:r>
              <a:rPr sz="3200" spc="-12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system.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This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includes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purchasing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hardware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50" dirty="0">
                <a:latin typeface="Tahoma"/>
                <a:cs typeface="Tahoma"/>
              </a:rPr>
              <a:t>&amp; </a:t>
            </a:r>
            <a:r>
              <a:rPr sz="3200" dirty="0">
                <a:latin typeface="Tahoma"/>
                <a:cs typeface="Tahoma"/>
              </a:rPr>
              <a:t>software,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building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custom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software </a:t>
            </a:r>
            <a:r>
              <a:rPr sz="3200" dirty="0">
                <a:latin typeface="Tahoma"/>
                <a:cs typeface="Tahoma"/>
              </a:rPr>
              <a:t>components,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and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preparing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for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full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system testing.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41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412749"/>
            <a:ext cx="590486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5)</a:t>
            </a:r>
            <a:r>
              <a:rPr sz="4000" spc="-140" dirty="0"/>
              <a:t> </a:t>
            </a:r>
            <a:r>
              <a:rPr sz="4000" b="1" dirty="0">
                <a:latin typeface="Tahoma"/>
                <a:cs typeface="Tahoma"/>
              </a:rPr>
              <a:t>Developing</a:t>
            </a:r>
            <a:r>
              <a:rPr sz="4000" b="1" spc="-140" dirty="0">
                <a:latin typeface="Tahoma"/>
                <a:cs typeface="Tahoma"/>
              </a:rPr>
              <a:t> </a:t>
            </a:r>
            <a:r>
              <a:rPr sz="4000" b="1" spc="-25" dirty="0">
                <a:latin typeface="Tahoma"/>
                <a:cs typeface="Tahoma"/>
              </a:rPr>
              <a:t>and </a:t>
            </a:r>
            <a:r>
              <a:rPr sz="4000" b="1" dirty="0">
                <a:latin typeface="Tahoma"/>
                <a:cs typeface="Tahoma"/>
              </a:rPr>
              <a:t>Documenting</a:t>
            </a:r>
            <a:r>
              <a:rPr sz="4000" b="1" spc="-245" dirty="0">
                <a:latin typeface="Tahoma"/>
                <a:cs typeface="Tahoma"/>
              </a:rPr>
              <a:t> </a:t>
            </a:r>
            <a:r>
              <a:rPr sz="4000" b="1" spc="-10" dirty="0">
                <a:latin typeface="Tahoma"/>
                <a:cs typeface="Tahoma"/>
              </a:rPr>
              <a:t>Software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838680"/>
            <a:ext cx="6479540" cy="236664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dirty="0">
                <a:latin typeface="Tahoma"/>
                <a:cs typeface="Tahoma"/>
              </a:rPr>
              <a:t>Typical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tools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used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this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phase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are: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Software</a:t>
            </a:r>
            <a:r>
              <a:rPr sz="3200" spc="-114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Development</a:t>
            </a:r>
            <a:r>
              <a:rPr sz="3200" spc="-12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Tools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Development</a:t>
            </a:r>
            <a:r>
              <a:rPr sz="3200" spc="-12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Environment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Documentation</a:t>
            </a:r>
            <a:r>
              <a:rPr sz="3200" spc="-12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Tools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42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412749"/>
            <a:ext cx="590486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5)</a:t>
            </a:r>
            <a:r>
              <a:rPr sz="4000" spc="-140" dirty="0"/>
              <a:t> </a:t>
            </a:r>
            <a:r>
              <a:rPr sz="4000" b="1" dirty="0">
                <a:latin typeface="Tahoma"/>
                <a:cs typeface="Tahoma"/>
              </a:rPr>
              <a:t>Developing</a:t>
            </a:r>
            <a:r>
              <a:rPr sz="4000" b="1" spc="-140" dirty="0">
                <a:latin typeface="Tahoma"/>
                <a:cs typeface="Tahoma"/>
              </a:rPr>
              <a:t> </a:t>
            </a:r>
            <a:r>
              <a:rPr sz="4000" b="1" spc="-25" dirty="0">
                <a:latin typeface="Tahoma"/>
                <a:cs typeface="Tahoma"/>
              </a:rPr>
              <a:t>and </a:t>
            </a:r>
            <a:r>
              <a:rPr sz="4000" b="1" dirty="0">
                <a:latin typeface="Tahoma"/>
                <a:cs typeface="Tahoma"/>
              </a:rPr>
              <a:t>Documenting</a:t>
            </a:r>
            <a:r>
              <a:rPr sz="4000" b="1" spc="-245" dirty="0">
                <a:latin typeface="Tahoma"/>
                <a:cs typeface="Tahoma"/>
              </a:rPr>
              <a:t> </a:t>
            </a:r>
            <a:r>
              <a:rPr sz="4000" b="1" spc="-10" dirty="0">
                <a:latin typeface="Tahoma"/>
                <a:cs typeface="Tahoma"/>
              </a:rPr>
              <a:t>Software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935478"/>
            <a:ext cx="8100059" cy="443166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3600" b="1" spc="-10" dirty="0">
                <a:latin typeface="Tahoma"/>
                <a:cs typeface="Tahoma"/>
              </a:rPr>
              <a:t>Activity</a:t>
            </a:r>
            <a:r>
              <a:rPr sz="3600" spc="-10" dirty="0">
                <a:latin typeface="Tahoma"/>
                <a:cs typeface="Tahoma"/>
              </a:rPr>
              <a:t>:</a:t>
            </a:r>
            <a:endParaRPr sz="3600">
              <a:latin typeface="Tahoma"/>
              <a:cs typeface="Tahoma"/>
            </a:endParaRPr>
          </a:p>
          <a:p>
            <a:pPr marL="755015" marR="534670" indent="-285750">
              <a:lnSpc>
                <a:spcPts val="3020"/>
              </a:lnSpc>
              <a:spcBef>
                <a:spcPts val="73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System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analyst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works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with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programmers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to 	</a:t>
            </a:r>
            <a:r>
              <a:rPr sz="2800" dirty="0">
                <a:latin typeface="Tahoma"/>
                <a:cs typeface="Tahoma"/>
              </a:rPr>
              <a:t>develop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any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original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software</a:t>
            </a:r>
            <a:endParaRPr sz="2800">
              <a:latin typeface="Tahoma"/>
              <a:cs typeface="Tahoma"/>
            </a:endParaRPr>
          </a:p>
          <a:p>
            <a:pPr marL="755015" marR="1445895" indent="-285750">
              <a:lnSpc>
                <a:spcPts val="3030"/>
              </a:lnSpc>
              <a:spcBef>
                <a:spcPts val="67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Works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with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users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develop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effective 	documentation</a:t>
            </a:r>
            <a:endParaRPr sz="2800">
              <a:latin typeface="Tahoma"/>
              <a:cs typeface="Tahoma"/>
            </a:endParaRPr>
          </a:p>
          <a:p>
            <a:pPr marL="755015" marR="628015" indent="-285750">
              <a:lnSpc>
                <a:spcPts val="3020"/>
              </a:lnSpc>
              <a:spcBef>
                <a:spcPts val="67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Programmers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design,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code,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and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remove 	</a:t>
            </a:r>
            <a:r>
              <a:rPr sz="2800" dirty="0">
                <a:latin typeface="Tahoma"/>
                <a:cs typeface="Tahoma"/>
              </a:rPr>
              <a:t>syntactical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errors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from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computer</a:t>
            </a:r>
            <a:r>
              <a:rPr sz="2800" spc="-11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programs</a:t>
            </a:r>
            <a:endParaRPr sz="2800">
              <a:latin typeface="Tahoma"/>
              <a:cs typeface="Tahoma"/>
            </a:endParaRPr>
          </a:p>
          <a:p>
            <a:pPr marL="755015" marR="5080" indent="-285750">
              <a:lnSpc>
                <a:spcPct val="90000"/>
              </a:lnSpc>
              <a:spcBef>
                <a:spcPts val="635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Document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software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with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help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files,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procedure 	</a:t>
            </a:r>
            <a:r>
              <a:rPr sz="2800" dirty="0">
                <a:latin typeface="Tahoma"/>
                <a:cs typeface="Tahoma"/>
              </a:rPr>
              <a:t>manuals,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and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Web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sites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with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Frequently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Asked 	Questions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43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412749"/>
            <a:ext cx="590486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(5)</a:t>
            </a:r>
            <a:r>
              <a:rPr sz="4000" spc="-145" dirty="0"/>
              <a:t> </a:t>
            </a:r>
            <a:r>
              <a:rPr sz="4000" b="1" dirty="0">
                <a:latin typeface="Tahoma"/>
                <a:cs typeface="Tahoma"/>
              </a:rPr>
              <a:t>Developing</a:t>
            </a:r>
            <a:r>
              <a:rPr sz="4000" b="1" spc="-145" dirty="0">
                <a:latin typeface="Tahoma"/>
                <a:cs typeface="Tahoma"/>
              </a:rPr>
              <a:t> </a:t>
            </a:r>
            <a:r>
              <a:rPr sz="4000" b="1" spc="-25" dirty="0">
                <a:latin typeface="Tahoma"/>
                <a:cs typeface="Tahoma"/>
              </a:rPr>
              <a:t>and </a:t>
            </a:r>
            <a:r>
              <a:rPr sz="4000" b="1" dirty="0">
                <a:latin typeface="Tahoma"/>
                <a:cs typeface="Tahoma"/>
              </a:rPr>
              <a:t>Documenting</a:t>
            </a:r>
            <a:r>
              <a:rPr sz="4000" b="1" spc="-245" dirty="0">
                <a:latin typeface="Tahoma"/>
                <a:cs typeface="Tahoma"/>
              </a:rPr>
              <a:t> </a:t>
            </a:r>
            <a:r>
              <a:rPr sz="4000" b="1" spc="-10" dirty="0">
                <a:latin typeface="Tahoma"/>
                <a:cs typeface="Tahoma"/>
              </a:rPr>
              <a:t>Software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61617" y="1937650"/>
            <a:ext cx="4484370" cy="174625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65"/>
              </a:spcBef>
              <a:buChar char="•"/>
              <a:tabLst>
                <a:tab pos="354965" algn="l"/>
              </a:tabLst>
            </a:pPr>
            <a:r>
              <a:rPr sz="3600" spc="-10" dirty="0">
                <a:latin typeface="Tahoma"/>
                <a:cs typeface="Tahoma"/>
              </a:rPr>
              <a:t>Output:</a:t>
            </a:r>
            <a:endParaRPr sz="36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705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900" dirty="0">
                <a:latin typeface="Tahoma"/>
                <a:cs typeface="Tahoma"/>
              </a:rPr>
              <a:t>Computer</a:t>
            </a:r>
            <a:r>
              <a:rPr sz="2900" spc="-40" dirty="0">
                <a:latin typeface="Tahoma"/>
                <a:cs typeface="Tahoma"/>
              </a:rPr>
              <a:t> </a:t>
            </a:r>
            <a:r>
              <a:rPr sz="2900" spc="-10" dirty="0">
                <a:latin typeface="Tahoma"/>
                <a:cs typeface="Tahoma"/>
              </a:rPr>
              <a:t>programs</a:t>
            </a:r>
            <a:endParaRPr sz="2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695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900" dirty="0">
                <a:latin typeface="Tahoma"/>
                <a:cs typeface="Tahoma"/>
              </a:rPr>
              <a:t>System</a:t>
            </a:r>
            <a:r>
              <a:rPr sz="2900" spc="-50" dirty="0">
                <a:latin typeface="Tahoma"/>
                <a:cs typeface="Tahoma"/>
              </a:rPr>
              <a:t> </a:t>
            </a:r>
            <a:r>
              <a:rPr sz="2900" spc="-10" dirty="0">
                <a:latin typeface="Tahoma"/>
                <a:cs typeface="Tahoma"/>
              </a:rPr>
              <a:t>documentation</a:t>
            </a:r>
            <a:endParaRPr sz="2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44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412749"/>
            <a:ext cx="700722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998219" algn="l"/>
              </a:tabLst>
            </a:pPr>
            <a:r>
              <a:rPr sz="4000" dirty="0"/>
              <a:t>(6)</a:t>
            </a:r>
            <a:r>
              <a:rPr sz="4000" spc="-90" dirty="0"/>
              <a:t> </a:t>
            </a:r>
            <a:r>
              <a:rPr sz="4000" b="1" dirty="0">
                <a:latin typeface="Tahoma"/>
                <a:cs typeface="Tahoma"/>
              </a:rPr>
              <a:t>Testing</a:t>
            </a:r>
            <a:r>
              <a:rPr sz="4000" b="1" spc="-75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and</a:t>
            </a:r>
            <a:r>
              <a:rPr sz="4000" b="1" spc="-95" dirty="0">
                <a:latin typeface="Tahoma"/>
                <a:cs typeface="Tahoma"/>
              </a:rPr>
              <a:t> </a:t>
            </a:r>
            <a:r>
              <a:rPr sz="4000" b="1" spc="-10" dirty="0">
                <a:latin typeface="Tahoma"/>
                <a:cs typeface="Tahoma"/>
              </a:rPr>
              <a:t>Maintaining </a:t>
            </a:r>
            <a:r>
              <a:rPr sz="4000" b="1" spc="-25" dirty="0">
                <a:latin typeface="Tahoma"/>
                <a:cs typeface="Tahoma"/>
              </a:rPr>
              <a:t>the</a:t>
            </a:r>
            <a:r>
              <a:rPr sz="4000" b="1" dirty="0">
                <a:latin typeface="Tahoma"/>
                <a:cs typeface="Tahoma"/>
              </a:rPr>
              <a:t>	</a:t>
            </a:r>
            <a:r>
              <a:rPr sz="4000" b="1" spc="-10" dirty="0">
                <a:latin typeface="Tahoma"/>
                <a:cs typeface="Tahoma"/>
              </a:rPr>
              <a:t>System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40" y="1939295"/>
            <a:ext cx="5196840" cy="401955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3500" b="1" spc="-10" dirty="0">
                <a:latin typeface="Tahoma"/>
                <a:cs typeface="Tahoma"/>
              </a:rPr>
              <a:t>Activity</a:t>
            </a:r>
            <a:r>
              <a:rPr sz="3500" spc="-10" dirty="0">
                <a:latin typeface="Tahoma"/>
                <a:cs typeface="Tahoma"/>
              </a:rPr>
              <a:t>:</a:t>
            </a:r>
            <a:endParaRPr sz="3500">
              <a:latin typeface="Tahoma"/>
              <a:cs typeface="Tahoma"/>
            </a:endParaRPr>
          </a:p>
          <a:p>
            <a:pPr marL="755650" indent="-285750">
              <a:lnSpc>
                <a:spcPct val="100000"/>
              </a:lnSpc>
              <a:spcBef>
                <a:spcPts val="340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2800" dirty="0">
                <a:latin typeface="Tahoma"/>
                <a:cs typeface="Tahoma"/>
              </a:rPr>
              <a:t>Test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information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system</a:t>
            </a:r>
            <a:endParaRPr sz="2800">
              <a:latin typeface="Tahoma"/>
              <a:cs typeface="Tahoma"/>
            </a:endParaRPr>
          </a:p>
          <a:p>
            <a:pPr marL="755650" indent="-285750">
              <a:lnSpc>
                <a:spcPct val="100000"/>
              </a:lnSpc>
              <a:spcBef>
                <a:spcPts val="335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2800" dirty="0">
                <a:latin typeface="Tahoma"/>
                <a:cs typeface="Tahoma"/>
              </a:rPr>
              <a:t>System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maintenance</a:t>
            </a:r>
            <a:endParaRPr sz="2800">
              <a:latin typeface="Tahoma"/>
              <a:cs typeface="Tahoma"/>
            </a:endParaRPr>
          </a:p>
          <a:p>
            <a:pPr marL="755650" indent="-285750">
              <a:lnSpc>
                <a:spcPct val="100000"/>
              </a:lnSpc>
              <a:spcBef>
                <a:spcPts val="340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2800" dirty="0">
                <a:latin typeface="Tahoma"/>
                <a:cs typeface="Tahoma"/>
              </a:rPr>
              <a:t>Maintenance</a:t>
            </a:r>
            <a:r>
              <a:rPr sz="2800" spc="-17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documentation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3500" b="1" spc="-10" dirty="0">
                <a:latin typeface="Tahoma"/>
                <a:cs typeface="Tahoma"/>
              </a:rPr>
              <a:t>Output</a:t>
            </a:r>
            <a:r>
              <a:rPr sz="3500" spc="-10" dirty="0">
                <a:latin typeface="Tahoma"/>
                <a:cs typeface="Tahoma"/>
              </a:rPr>
              <a:t>:</a:t>
            </a:r>
            <a:endParaRPr sz="3500">
              <a:latin typeface="Tahoma"/>
              <a:cs typeface="Tahoma"/>
            </a:endParaRPr>
          </a:p>
          <a:p>
            <a:pPr marL="755650" indent="-285750">
              <a:lnSpc>
                <a:spcPct val="100000"/>
              </a:lnSpc>
              <a:spcBef>
                <a:spcPts val="340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2800" dirty="0">
                <a:latin typeface="Tahoma"/>
                <a:cs typeface="Tahoma"/>
              </a:rPr>
              <a:t>Problems,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if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any</a:t>
            </a:r>
            <a:endParaRPr sz="2800">
              <a:latin typeface="Tahoma"/>
              <a:cs typeface="Tahoma"/>
            </a:endParaRPr>
          </a:p>
          <a:p>
            <a:pPr marL="755650" indent="-285750">
              <a:lnSpc>
                <a:spcPct val="100000"/>
              </a:lnSpc>
              <a:spcBef>
                <a:spcPts val="335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2800" dirty="0">
                <a:latin typeface="Tahoma"/>
                <a:cs typeface="Tahoma"/>
              </a:rPr>
              <a:t>Updated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programs</a:t>
            </a:r>
            <a:endParaRPr sz="2800">
              <a:latin typeface="Tahoma"/>
              <a:cs typeface="Tahoma"/>
            </a:endParaRPr>
          </a:p>
          <a:p>
            <a:pPr marL="755650" indent="-285750">
              <a:lnSpc>
                <a:spcPct val="100000"/>
              </a:lnSpc>
              <a:spcBef>
                <a:spcPts val="340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Documentation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45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411226"/>
            <a:ext cx="5453380" cy="1184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600" dirty="0"/>
              <a:t>(7)</a:t>
            </a:r>
            <a:r>
              <a:rPr sz="3600" spc="-60" dirty="0"/>
              <a:t> </a:t>
            </a:r>
            <a:r>
              <a:rPr sz="3800" b="1" dirty="0">
                <a:latin typeface="Tahoma"/>
                <a:cs typeface="Tahoma"/>
              </a:rPr>
              <a:t>Implementing</a:t>
            </a:r>
            <a:r>
              <a:rPr sz="3800" b="1" spc="-30" dirty="0">
                <a:latin typeface="Tahoma"/>
                <a:cs typeface="Tahoma"/>
              </a:rPr>
              <a:t> </a:t>
            </a:r>
            <a:r>
              <a:rPr sz="3800" b="1" spc="-25" dirty="0">
                <a:latin typeface="Tahoma"/>
                <a:cs typeface="Tahoma"/>
              </a:rPr>
              <a:t>and </a:t>
            </a:r>
            <a:r>
              <a:rPr sz="3800" b="1" dirty="0">
                <a:latin typeface="Tahoma"/>
                <a:cs typeface="Tahoma"/>
              </a:rPr>
              <a:t>Evaluating</a:t>
            </a:r>
            <a:r>
              <a:rPr sz="3800" b="1" spc="-80" dirty="0">
                <a:latin typeface="Tahoma"/>
                <a:cs typeface="Tahoma"/>
              </a:rPr>
              <a:t> </a:t>
            </a:r>
            <a:r>
              <a:rPr sz="3800" b="1" dirty="0">
                <a:latin typeface="Tahoma"/>
                <a:cs typeface="Tahoma"/>
              </a:rPr>
              <a:t>the</a:t>
            </a:r>
            <a:r>
              <a:rPr sz="3800" b="1" spc="-55" dirty="0">
                <a:latin typeface="Tahoma"/>
                <a:cs typeface="Tahoma"/>
              </a:rPr>
              <a:t> </a:t>
            </a:r>
            <a:r>
              <a:rPr sz="3800" b="1" spc="-10" dirty="0">
                <a:latin typeface="Tahoma"/>
                <a:cs typeface="Tahoma"/>
              </a:rPr>
              <a:t>System</a:t>
            </a:r>
            <a:endParaRPr sz="3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61617" y="1939295"/>
            <a:ext cx="7325995" cy="393382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40"/>
              </a:spcBef>
              <a:buChar char="•"/>
              <a:tabLst>
                <a:tab pos="355600" algn="l"/>
              </a:tabLst>
            </a:pPr>
            <a:r>
              <a:rPr sz="3500" spc="-10" dirty="0">
                <a:latin typeface="Tahoma"/>
                <a:cs typeface="Tahoma"/>
              </a:rPr>
              <a:t>Activity:</a:t>
            </a:r>
            <a:endParaRPr sz="35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34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Train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users</a:t>
            </a:r>
            <a:endParaRPr sz="2800">
              <a:latin typeface="Tahoma"/>
              <a:cs typeface="Tahoma"/>
            </a:endParaRPr>
          </a:p>
          <a:p>
            <a:pPr marL="756285" marR="5080" lvl="1" indent="-287020">
              <a:lnSpc>
                <a:spcPts val="3020"/>
              </a:lnSpc>
              <a:spcBef>
                <a:spcPts val="72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Analyst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plans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smooth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conversion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from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old </a:t>
            </a:r>
            <a:r>
              <a:rPr sz="2800" dirty="0">
                <a:latin typeface="Tahoma"/>
                <a:cs typeface="Tahoma"/>
              </a:rPr>
              <a:t>system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new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system</a:t>
            </a:r>
            <a:endParaRPr sz="28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30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Review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and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evaluate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system</a:t>
            </a:r>
            <a:endParaRPr sz="28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415"/>
              </a:spcBef>
              <a:buChar char="•"/>
              <a:tabLst>
                <a:tab pos="355600" algn="l"/>
              </a:tabLst>
            </a:pPr>
            <a:r>
              <a:rPr sz="3500" spc="-10" dirty="0">
                <a:latin typeface="Tahoma"/>
                <a:cs typeface="Tahoma"/>
              </a:rPr>
              <a:t>Output:</a:t>
            </a:r>
            <a:endParaRPr sz="35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34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Trained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personnel</a:t>
            </a:r>
            <a:endParaRPr sz="28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34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Installed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system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412191"/>
            <a:ext cx="7371080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dirty="0"/>
              <a:t>Some</a:t>
            </a:r>
            <a:r>
              <a:rPr sz="2200" spc="-70" dirty="0"/>
              <a:t> </a:t>
            </a:r>
            <a:r>
              <a:rPr sz="2200" dirty="0"/>
              <a:t>Researchers</a:t>
            </a:r>
            <a:r>
              <a:rPr sz="2200" spc="-50" dirty="0"/>
              <a:t> </a:t>
            </a:r>
            <a:r>
              <a:rPr sz="2200" dirty="0"/>
              <a:t>Estimate</a:t>
            </a:r>
            <a:r>
              <a:rPr sz="2200" spc="-60" dirty="0"/>
              <a:t> </a:t>
            </a:r>
            <a:r>
              <a:rPr sz="2200" dirty="0"/>
              <a:t>that</a:t>
            </a:r>
            <a:r>
              <a:rPr sz="2200" spc="-75" dirty="0"/>
              <a:t> </a:t>
            </a:r>
            <a:r>
              <a:rPr sz="2200" dirty="0"/>
              <a:t>the</a:t>
            </a:r>
            <a:r>
              <a:rPr sz="2200" spc="-65" dirty="0"/>
              <a:t> </a:t>
            </a:r>
            <a:r>
              <a:rPr sz="2200" dirty="0"/>
              <a:t>Amount</a:t>
            </a:r>
            <a:r>
              <a:rPr sz="2200" spc="-55" dirty="0"/>
              <a:t> </a:t>
            </a:r>
            <a:r>
              <a:rPr sz="2200" dirty="0"/>
              <a:t>of</a:t>
            </a:r>
            <a:r>
              <a:rPr sz="2200" spc="-75" dirty="0"/>
              <a:t> </a:t>
            </a:r>
            <a:r>
              <a:rPr sz="2200" dirty="0"/>
              <a:t>Time</a:t>
            </a:r>
            <a:r>
              <a:rPr sz="2200" spc="-80" dirty="0"/>
              <a:t> </a:t>
            </a:r>
            <a:r>
              <a:rPr sz="2200" spc="-10" dirty="0"/>
              <a:t>Spent </a:t>
            </a:r>
            <a:r>
              <a:rPr sz="2200" dirty="0"/>
              <a:t>on</a:t>
            </a:r>
            <a:r>
              <a:rPr sz="2200" spc="-60" dirty="0"/>
              <a:t> </a:t>
            </a:r>
            <a:r>
              <a:rPr sz="2200" dirty="0"/>
              <a:t>Systems</a:t>
            </a:r>
            <a:r>
              <a:rPr sz="2200" spc="-30" dirty="0"/>
              <a:t> </a:t>
            </a:r>
            <a:r>
              <a:rPr sz="2200" dirty="0"/>
              <a:t>Maintenance</a:t>
            </a:r>
            <a:r>
              <a:rPr sz="2200" spc="-25" dirty="0"/>
              <a:t> </a:t>
            </a:r>
            <a:r>
              <a:rPr sz="2200" dirty="0"/>
              <a:t>May</a:t>
            </a:r>
            <a:r>
              <a:rPr sz="2200" spc="-60" dirty="0"/>
              <a:t> </a:t>
            </a:r>
            <a:r>
              <a:rPr sz="2200" dirty="0"/>
              <a:t>Be</a:t>
            </a:r>
            <a:r>
              <a:rPr sz="2200" spc="-50" dirty="0"/>
              <a:t> </a:t>
            </a:r>
            <a:r>
              <a:rPr sz="2200" dirty="0"/>
              <a:t>as</a:t>
            </a:r>
            <a:r>
              <a:rPr sz="2200" spc="-60" dirty="0"/>
              <a:t> </a:t>
            </a:r>
            <a:r>
              <a:rPr sz="2200" dirty="0"/>
              <a:t>Much</a:t>
            </a:r>
            <a:r>
              <a:rPr sz="2200" spc="-50" dirty="0"/>
              <a:t> </a:t>
            </a:r>
            <a:r>
              <a:rPr sz="2200" dirty="0"/>
              <a:t>as</a:t>
            </a:r>
            <a:r>
              <a:rPr sz="2200" spc="-65" dirty="0"/>
              <a:t> </a:t>
            </a:r>
            <a:r>
              <a:rPr sz="2200" dirty="0"/>
              <a:t>60</a:t>
            </a:r>
            <a:r>
              <a:rPr sz="2200" spc="-55" dirty="0"/>
              <a:t> </a:t>
            </a:r>
            <a:r>
              <a:rPr sz="2200" dirty="0"/>
              <a:t>Percent</a:t>
            </a:r>
            <a:r>
              <a:rPr sz="2200" spc="-35" dirty="0"/>
              <a:t> </a:t>
            </a:r>
            <a:r>
              <a:rPr sz="2200" spc="-25" dirty="0"/>
              <a:t>of </a:t>
            </a:r>
            <a:r>
              <a:rPr sz="2200" dirty="0"/>
              <a:t>the</a:t>
            </a:r>
            <a:r>
              <a:rPr sz="2200" spc="-55" dirty="0"/>
              <a:t> </a:t>
            </a:r>
            <a:r>
              <a:rPr sz="2200" dirty="0"/>
              <a:t>Total</a:t>
            </a:r>
            <a:r>
              <a:rPr sz="2200" spc="-60" dirty="0"/>
              <a:t> </a:t>
            </a:r>
            <a:r>
              <a:rPr sz="2200" dirty="0"/>
              <a:t>Time</a:t>
            </a:r>
            <a:r>
              <a:rPr sz="2200" spc="-45" dirty="0"/>
              <a:t> </a:t>
            </a:r>
            <a:r>
              <a:rPr sz="2200" dirty="0"/>
              <a:t>Spent</a:t>
            </a:r>
            <a:r>
              <a:rPr sz="2200" spc="-70" dirty="0"/>
              <a:t> </a:t>
            </a:r>
            <a:r>
              <a:rPr sz="2200" dirty="0"/>
              <a:t>on</a:t>
            </a:r>
            <a:r>
              <a:rPr sz="2200" spc="-50" dirty="0"/>
              <a:t> </a:t>
            </a:r>
            <a:r>
              <a:rPr sz="2200" dirty="0"/>
              <a:t>Systems</a:t>
            </a:r>
            <a:r>
              <a:rPr sz="2200" spc="-35" dirty="0"/>
              <a:t> </a:t>
            </a:r>
            <a:r>
              <a:rPr sz="2200" dirty="0"/>
              <a:t>Projects</a:t>
            </a:r>
            <a:r>
              <a:rPr sz="2200" spc="-30" dirty="0"/>
              <a:t> </a:t>
            </a:r>
            <a:r>
              <a:rPr sz="2200" dirty="0"/>
              <a:t>(Figure</a:t>
            </a:r>
            <a:r>
              <a:rPr sz="2200" spc="-65" dirty="0"/>
              <a:t> </a:t>
            </a:r>
            <a:r>
              <a:rPr sz="2200" spc="-20" dirty="0"/>
              <a:t>1.2)</a:t>
            </a:r>
            <a:endParaRPr sz="22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2451" y="1905000"/>
            <a:ext cx="5169899" cy="417117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47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Tahoma"/>
                <a:cs typeface="Tahoma"/>
              </a:rPr>
              <a:t>The</a:t>
            </a:r>
            <a:r>
              <a:rPr sz="4000" b="1" spc="-70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Impact</a:t>
            </a:r>
            <a:r>
              <a:rPr sz="4000" b="1" spc="-75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of</a:t>
            </a:r>
            <a:r>
              <a:rPr sz="4000" b="1" spc="-85" dirty="0">
                <a:latin typeface="Tahoma"/>
                <a:cs typeface="Tahoma"/>
              </a:rPr>
              <a:t> </a:t>
            </a:r>
            <a:r>
              <a:rPr sz="4000" b="1" spc="-10" dirty="0">
                <a:latin typeface="Tahoma"/>
                <a:cs typeface="Tahoma"/>
              </a:rPr>
              <a:t>Maintenance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75"/>
              </a:spcBef>
              <a:buChar char="•"/>
              <a:tabLst>
                <a:tab pos="355600" algn="l"/>
              </a:tabLst>
            </a:pPr>
            <a:r>
              <a:rPr sz="3100" dirty="0"/>
              <a:t>Maintenance</a:t>
            </a:r>
            <a:r>
              <a:rPr sz="3100" spc="-55" dirty="0"/>
              <a:t> </a:t>
            </a:r>
            <a:r>
              <a:rPr sz="3100" dirty="0"/>
              <a:t>is</a:t>
            </a:r>
            <a:r>
              <a:rPr sz="3100" spc="-65" dirty="0"/>
              <a:t> </a:t>
            </a:r>
            <a:r>
              <a:rPr sz="3100" dirty="0"/>
              <a:t>performed</a:t>
            </a:r>
            <a:r>
              <a:rPr sz="3100" spc="-65" dirty="0"/>
              <a:t> </a:t>
            </a:r>
            <a:r>
              <a:rPr sz="3100" dirty="0"/>
              <a:t>for</a:t>
            </a:r>
            <a:r>
              <a:rPr sz="3100" spc="-65" dirty="0"/>
              <a:t> </a:t>
            </a:r>
            <a:r>
              <a:rPr sz="3100" dirty="0"/>
              <a:t>two</a:t>
            </a:r>
            <a:r>
              <a:rPr sz="3100" spc="-60" dirty="0"/>
              <a:t> </a:t>
            </a:r>
            <a:r>
              <a:rPr sz="3100" spc="-10" dirty="0"/>
              <a:t>reasons:</a:t>
            </a:r>
            <a:endParaRPr sz="3100"/>
          </a:p>
          <a:p>
            <a:pPr marL="755650" lvl="1" indent="-285750">
              <a:lnSpc>
                <a:spcPct val="100000"/>
              </a:lnSpc>
              <a:spcBef>
                <a:spcPts val="340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2800" dirty="0">
                <a:latin typeface="Tahoma"/>
                <a:cs typeface="Tahoma"/>
              </a:rPr>
              <a:t>Removing</a:t>
            </a:r>
            <a:r>
              <a:rPr sz="2800" spc="-12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software</a:t>
            </a:r>
            <a:r>
              <a:rPr sz="2800" spc="-114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errors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2800" dirty="0">
                <a:latin typeface="Tahoma"/>
                <a:cs typeface="Tahoma"/>
              </a:rPr>
              <a:t>Enhancing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existing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software</a:t>
            </a:r>
            <a:endParaRPr sz="2800">
              <a:latin typeface="Tahoma"/>
              <a:cs typeface="Tahoma"/>
            </a:endParaRPr>
          </a:p>
          <a:p>
            <a:pPr marL="355600" marR="5080" indent="-342900">
              <a:lnSpc>
                <a:spcPct val="90000"/>
              </a:lnSpc>
              <a:spcBef>
                <a:spcPts val="745"/>
              </a:spcBef>
              <a:buChar char="•"/>
              <a:tabLst>
                <a:tab pos="355600" algn="l"/>
              </a:tabLst>
            </a:pPr>
            <a:r>
              <a:rPr sz="3100" dirty="0"/>
              <a:t>Over</a:t>
            </a:r>
            <a:r>
              <a:rPr sz="3100" spc="-60" dirty="0"/>
              <a:t> </a:t>
            </a:r>
            <a:r>
              <a:rPr sz="3100" dirty="0"/>
              <a:t>time</a:t>
            </a:r>
            <a:r>
              <a:rPr sz="3100" spc="-55" dirty="0"/>
              <a:t> </a:t>
            </a:r>
            <a:r>
              <a:rPr sz="3100" dirty="0"/>
              <a:t>the</a:t>
            </a:r>
            <a:r>
              <a:rPr sz="3100" spc="-60" dirty="0"/>
              <a:t> </a:t>
            </a:r>
            <a:r>
              <a:rPr sz="3100" dirty="0"/>
              <a:t>cost</a:t>
            </a:r>
            <a:r>
              <a:rPr sz="3100" spc="-55" dirty="0"/>
              <a:t> </a:t>
            </a:r>
            <a:r>
              <a:rPr sz="3100" dirty="0"/>
              <a:t>of</a:t>
            </a:r>
            <a:r>
              <a:rPr sz="3100" spc="-60" dirty="0"/>
              <a:t> </a:t>
            </a:r>
            <a:r>
              <a:rPr sz="3100" dirty="0"/>
              <a:t>continued</a:t>
            </a:r>
            <a:r>
              <a:rPr sz="3100" spc="-55" dirty="0"/>
              <a:t> </a:t>
            </a:r>
            <a:r>
              <a:rPr sz="3100" spc="-10" dirty="0"/>
              <a:t>maintenance </a:t>
            </a:r>
            <a:r>
              <a:rPr sz="3100" dirty="0"/>
              <a:t>will</a:t>
            </a:r>
            <a:r>
              <a:rPr sz="3100" spc="-35" dirty="0"/>
              <a:t> </a:t>
            </a:r>
            <a:r>
              <a:rPr sz="3100" dirty="0"/>
              <a:t>be</a:t>
            </a:r>
            <a:r>
              <a:rPr sz="3100" spc="-45" dirty="0"/>
              <a:t> </a:t>
            </a:r>
            <a:r>
              <a:rPr sz="3100" dirty="0"/>
              <a:t>greater</a:t>
            </a:r>
            <a:r>
              <a:rPr sz="3100" spc="-25" dirty="0"/>
              <a:t> </a:t>
            </a:r>
            <a:r>
              <a:rPr sz="3100" dirty="0"/>
              <a:t>than</a:t>
            </a:r>
            <a:r>
              <a:rPr sz="3100" spc="-55" dirty="0"/>
              <a:t> </a:t>
            </a:r>
            <a:r>
              <a:rPr sz="3100" dirty="0"/>
              <a:t>that</a:t>
            </a:r>
            <a:r>
              <a:rPr sz="3100" spc="-35" dirty="0"/>
              <a:t> </a:t>
            </a:r>
            <a:r>
              <a:rPr sz="3100" dirty="0"/>
              <a:t>of</a:t>
            </a:r>
            <a:r>
              <a:rPr sz="3100" spc="-40" dirty="0"/>
              <a:t> </a:t>
            </a:r>
            <a:r>
              <a:rPr sz="3100" dirty="0"/>
              <a:t>creating</a:t>
            </a:r>
            <a:r>
              <a:rPr sz="3100" spc="-35" dirty="0"/>
              <a:t> an </a:t>
            </a:r>
            <a:r>
              <a:rPr sz="3100" dirty="0"/>
              <a:t>entirely</a:t>
            </a:r>
            <a:r>
              <a:rPr sz="3100" spc="-50" dirty="0"/>
              <a:t> </a:t>
            </a:r>
            <a:r>
              <a:rPr sz="3100" dirty="0"/>
              <a:t>new</a:t>
            </a:r>
            <a:r>
              <a:rPr sz="3100" spc="-65" dirty="0"/>
              <a:t> </a:t>
            </a:r>
            <a:r>
              <a:rPr sz="3100" spc="-10" dirty="0"/>
              <a:t>system.</a:t>
            </a:r>
            <a:endParaRPr sz="3100"/>
          </a:p>
          <a:p>
            <a:pPr marL="355600" marR="733425" indent="-342900">
              <a:lnSpc>
                <a:spcPts val="3350"/>
              </a:lnSpc>
              <a:spcBef>
                <a:spcPts val="795"/>
              </a:spcBef>
              <a:buChar char="•"/>
              <a:tabLst>
                <a:tab pos="355600" algn="l"/>
              </a:tabLst>
            </a:pPr>
            <a:r>
              <a:rPr sz="3100" dirty="0"/>
              <a:t>At</a:t>
            </a:r>
            <a:r>
              <a:rPr sz="3100" spc="-55" dirty="0"/>
              <a:t> </a:t>
            </a:r>
            <a:r>
              <a:rPr sz="3100" dirty="0"/>
              <a:t>that</a:t>
            </a:r>
            <a:r>
              <a:rPr sz="3100" spc="-60" dirty="0"/>
              <a:t> </a:t>
            </a:r>
            <a:r>
              <a:rPr sz="3100" dirty="0"/>
              <a:t>point</a:t>
            </a:r>
            <a:r>
              <a:rPr sz="3100" spc="-55" dirty="0"/>
              <a:t> </a:t>
            </a:r>
            <a:r>
              <a:rPr sz="3100" dirty="0"/>
              <a:t>it</a:t>
            </a:r>
            <a:r>
              <a:rPr sz="3100" spc="-45" dirty="0"/>
              <a:t> </a:t>
            </a:r>
            <a:r>
              <a:rPr sz="3100" dirty="0"/>
              <a:t>becomes</a:t>
            </a:r>
            <a:r>
              <a:rPr sz="3100" spc="-50" dirty="0"/>
              <a:t> </a:t>
            </a:r>
            <a:r>
              <a:rPr sz="3100" dirty="0"/>
              <a:t>more</a:t>
            </a:r>
            <a:r>
              <a:rPr sz="3100" spc="-45" dirty="0"/>
              <a:t> </a:t>
            </a:r>
            <a:r>
              <a:rPr sz="3100" dirty="0"/>
              <a:t>feasible</a:t>
            </a:r>
            <a:r>
              <a:rPr sz="3100" spc="-25" dirty="0"/>
              <a:t> to </a:t>
            </a:r>
            <a:r>
              <a:rPr sz="3100" dirty="0"/>
              <a:t>perform</a:t>
            </a:r>
            <a:r>
              <a:rPr sz="3100" spc="-65" dirty="0"/>
              <a:t> </a:t>
            </a:r>
            <a:r>
              <a:rPr sz="3100" dirty="0"/>
              <a:t>a</a:t>
            </a:r>
            <a:r>
              <a:rPr sz="3100" spc="-50" dirty="0"/>
              <a:t> </a:t>
            </a:r>
            <a:r>
              <a:rPr sz="3100" dirty="0"/>
              <a:t>new</a:t>
            </a:r>
            <a:r>
              <a:rPr sz="3100" spc="-45" dirty="0"/>
              <a:t> </a:t>
            </a:r>
            <a:r>
              <a:rPr sz="3100" dirty="0"/>
              <a:t>systems</a:t>
            </a:r>
            <a:r>
              <a:rPr sz="3100" spc="-5" dirty="0"/>
              <a:t> </a:t>
            </a:r>
            <a:r>
              <a:rPr sz="3100" spc="-10" dirty="0"/>
              <a:t>study.</a:t>
            </a:r>
            <a:endParaRPr sz="31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411226"/>
            <a:ext cx="73558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ahoma"/>
                <a:cs typeface="Tahoma"/>
              </a:rPr>
              <a:t>Resource</a:t>
            </a:r>
            <a:r>
              <a:rPr sz="3600" b="1" spc="-85" dirty="0">
                <a:latin typeface="Tahoma"/>
                <a:cs typeface="Tahoma"/>
              </a:rPr>
              <a:t> </a:t>
            </a:r>
            <a:r>
              <a:rPr sz="3600" b="1" dirty="0">
                <a:latin typeface="Tahoma"/>
                <a:cs typeface="Tahoma"/>
              </a:rPr>
              <a:t>Consumption</a:t>
            </a:r>
            <a:r>
              <a:rPr sz="3600" b="1" spc="-100" dirty="0">
                <a:latin typeface="Tahoma"/>
                <a:cs typeface="Tahoma"/>
              </a:rPr>
              <a:t> </a:t>
            </a:r>
            <a:r>
              <a:rPr sz="3600" b="1" dirty="0">
                <a:latin typeface="Tahoma"/>
                <a:cs typeface="Tahoma"/>
              </a:rPr>
              <a:t>over</a:t>
            </a:r>
            <a:r>
              <a:rPr sz="3600" b="1" spc="-80" dirty="0">
                <a:latin typeface="Tahoma"/>
                <a:cs typeface="Tahoma"/>
              </a:rPr>
              <a:t> </a:t>
            </a:r>
            <a:r>
              <a:rPr sz="3600" b="1" spc="-25" dirty="0">
                <a:latin typeface="Tahoma"/>
                <a:cs typeface="Tahoma"/>
              </a:rPr>
              <a:t>the </a:t>
            </a:r>
            <a:r>
              <a:rPr sz="3600" b="1" dirty="0">
                <a:latin typeface="Tahoma"/>
                <a:cs typeface="Tahoma"/>
              </a:rPr>
              <a:t>System</a:t>
            </a:r>
            <a:r>
              <a:rPr sz="3600" b="1" spc="-65" dirty="0">
                <a:latin typeface="Tahoma"/>
                <a:cs typeface="Tahoma"/>
              </a:rPr>
              <a:t> </a:t>
            </a:r>
            <a:r>
              <a:rPr sz="3600" b="1" dirty="0">
                <a:latin typeface="Tahoma"/>
                <a:cs typeface="Tahoma"/>
              </a:rPr>
              <a:t>Life</a:t>
            </a:r>
            <a:r>
              <a:rPr sz="3600" b="1" spc="-85" dirty="0">
                <a:latin typeface="Tahoma"/>
                <a:cs typeface="Tahoma"/>
              </a:rPr>
              <a:t> </a:t>
            </a:r>
            <a:r>
              <a:rPr sz="3600" b="1" dirty="0">
                <a:latin typeface="Tahoma"/>
                <a:cs typeface="Tahoma"/>
              </a:rPr>
              <a:t>(Figure</a:t>
            </a:r>
            <a:r>
              <a:rPr sz="3600" b="1" spc="-60" dirty="0">
                <a:latin typeface="Tahoma"/>
                <a:cs typeface="Tahoma"/>
              </a:rPr>
              <a:t> </a:t>
            </a:r>
            <a:r>
              <a:rPr sz="3600" b="1" spc="-20" dirty="0">
                <a:latin typeface="Tahoma"/>
                <a:cs typeface="Tahoma"/>
              </a:rPr>
              <a:t>1.3)</a:t>
            </a:r>
            <a:endParaRPr sz="36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1384" y="2211585"/>
            <a:ext cx="6911399" cy="359583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48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58826"/>
            <a:ext cx="30079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ahoma"/>
                <a:cs typeface="Tahoma"/>
              </a:rPr>
              <a:t>Case</a:t>
            </a:r>
            <a:r>
              <a:rPr b="1" spc="-15" dirty="0">
                <a:latin typeface="Tahoma"/>
                <a:cs typeface="Tahoma"/>
              </a:rPr>
              <a:t> </a:t>
            </a:r>
            <a:r>
              <a:rPr b="1" spc="-10" dirty="0">
                <a:latin typeface="Tahoma"/>
                <a:cs typeface="Tahoma"/>
              </a:rPr>
              <a:t>Tools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792226"/>
            <a:ext cx="8424545" cy="6075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CASE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tools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are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set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software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application </a:t>
            </a:r>
            <a:r>
              <a:rPr sz="3200" dirty="0">
                <a:latin typeface="Tahoma"/>
                <a:cs typeface="Tahoma"/>
              </a:rPr>
              <a:t>programs,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which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are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used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automate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SDLC </a:t>
            </a:r>
            <a:r>
              <a:rPr sz="3200" spc="-10" dirty="0">
                <a:latin typeface="Tahoma"/>
                <a:cs typeface="Tahoma"/>
              </a:rPr>
              <a:t>activities.</a:t>
            </a:r>
            <a:endParaRPr sz="32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These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tools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simplify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various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stages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SDLC</a:t>
            </a:r>
            <a:endParaRPr sz="3200" dirty="0">
              <a:latin typeface="Tahoma"/>
              <a:cs typeface="Tahoma"/>
            </a:endParaRPr>
          </a:p>
          <a:p>
            <a:pPr marL="355600" marR="408305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Use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CASE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tools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accelerates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the </a:t>
            </a:r>
            <a:r>
              <a:rPr sz="3200" dirty="0">
                <a:latin typeface="Tahoma"/>
                <a:cs typeface="Tahoma"/>
              </a:rPr>
              <a:t>development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project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produce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desired </a:t>
            </a:r>
            <a:r>
              <a:rPr sz="3200" dirty="0">
                <a:latin typeface="Tahoma"/>
                <a:cs typeface="Tahoma"/>
              </a:rPr>
              <a:t>result</a:t>
            </a:r>
            <a:r>
              <a:rPr sz="3200" spc="-10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and</a:t>
            </a:r>
            <a:endParaRPr sz="3200" dirty="0">
              <a:latin typeface="Tahoma"/>
              <a:cs typeface="Tahoma"/>
            </a:endParaRPr>
          </a:p>
          <a:p>
            <a:pPr marL="355600" marR="9652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helps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uncover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flaws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before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moving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ahead </a:t>
            </a:r>
            <a:r>
              <a:rPr sz="3200" dirty="0">
                <a:latin typeface="Tahoma"/>
                <a:cs typeface="Tahoma"/>
              </a:rPr>
              <a:t>with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next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stage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software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development.</a:t>
            </a:r>
            <a:endParaRPr sz="3200" dirty="0">
              <a:latin typeface="Tahoma"/>
              <a:cs typeface="Tahoma"/>
            </a:endParaRPr>
          </a:p>
          <a:p>
            <a:pPr marL="355600" marR="31115" indent="-342900">
              <a:lnSpc>
                <a:spcPct val="100000"/>
              </a:lnSpc>
              <a:spcBef>
                <a:spcPts val="680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Analysis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tools,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Design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tools,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Project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management </a:t>
            </a:r>
            <a:r>
              <a:rPr sz="2800" dirty="0">
                <a:latin typeface="Tahoma"/>
                <a:cs typeface="Tahoma"/>
              </a:rPr>
              <a:t>tools,</a:t>
            </a:r>
            <a:r>
              <a:rPr sz="2800" spc="-11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Database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Management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tools,</a:t>
            </a:r>
            <a:r>
              <a:rPr sz="2800" spc="-11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Documentation tools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145" y="6572198"/>
            <a:ext cx="2768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1-</a:t>
            </a:r>
            <a:r>
              <a:rPr sz="1000" spc="-35" dirty="0">
                <a:latin typeface="Tahoma"/>
                <a:cs typeface="Tahoma"/>
              </a:rPr>
              <a:t>50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7002" y="152400"/>
            <a:ext cx="7269704" cy="6248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54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3121F5-CA46-503A-AD41-740178FA159E}"/>
              </a:ext>
            </a:extLst>
          </p:cNvPr>
          <p:cNvSpPr txBox="1"/>
          <p:nvPr/>
        </p:nvSpPr>
        <p:spPr>
          <a:xfrm>
            <a:off x="7010400" y="3429000"/>
            <a:ext cx="4583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JDeveloper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89A6C8-F5E8-9C53-DA4D-44D85ACC1264}"/>
              </a:ext>
            </a:extLst>
          </p:cNvPr>
          <p:cNvSpPr txBox="1"/>
          <p:nvPr/>
        </p:nvSpPr>
        <p:spPr>
          <a:xfrm>
            <a:off x="2057400" y="6387471"/>
            <a:ext cx="4583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Visual Paradigm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3C0BCB-A238-5C07-0212-E068E1E4C02D}"/>
              </a:ext>
            </a:extLst>
          </p:cNvPr>
          <p:cNvSpPr txBox="1"/>
          <p:nvPr/>
        </p:nvSpPr>
        <p:spPr>
          <a:xfrm>
            <a:off x="0" y="272534"/>
            <a:ext cx="5805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Rational Rose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9385" y="258267"/>
            <a:ext cx="44627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ahoma"/>
                <a:cs typeface="Tahoma"/>
              </a:rPr>
              <a:t>The Agile</a:t>
            </a:r>
            <a:r>
              <a:rPr sz="3600" b="1" spc="-25" dirty="0">
                <a:latin typeface="Tahoma"/>
                <a:cs typeface="Tahoma"/>
              </a:rPr>
              <a:t> </a:t>
            </a:r>
            <a:r>
              <a:rPr sz="3600" b="1" spc="-10" dirty="0">
                <a:latin typeface="Tahoma"/>
                <a:cs typeface="Tahoma"/>
              </a:rPr>
              <a:t>Approach</a:t>
            </a:r>
            <a:endParaRPr sz="36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1515" y="1102508"/>
            <a:ext cx="8685530" cy="214566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Agile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is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software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development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approach.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99600"/>
              </a:lnSpc>
              <a:spcBef>
                <a:spcPts val="635"/>
              </a:spcBef>
              <a:buSzPct val="95522"/>
              <a:buChar char="•"/>
              <a:tabLst>
                <a:tab pos="355600" algn="l"/>
              </a:tabLst>
            </a:pPr>
            <a:r>
              <a:rPr sz="3350" spc="-45" dirty="0">
                <a:latin typeface="Tahoma"/>
                <a:cs typeface="Tahoma"/>
              </a:rPr>
              <a:t>Agile</a:t>
            </a:r>
            <a:r>
              <a:rPr sz="335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is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term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used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describe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350" spc="-85" dirty="0">
                <a:latin typeface="Tahoma"/>
                <a:cs typeface="Tahoma"/>
              </a:rPr>
              <a:t>approaches</a:t>
            </a:r>
            <a:r>
              <a:rPr sz="3350" spc="-9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to </a:t>
            </a:r>
            <a:r>
              <a:rPr sz="3200" dirty="0">
                <a:latin typeface="Tahoma"/>
                <a:cs typeface="Tahoma"/>
              </a:rPr>
              <a:t>software</a:t>
            </a:r>
            <a:r>
              <a:rPr sz="3200" spc="-1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development</a:t>
            </a:r>
            <a:r>
              <a:rPr sz="3200" spc="-13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emphasizing </a:t>
            </a:r>
            <a:r>
              <a:rPr sz="3200" dirty="0">
                <a:latin typeface="Tahoma"/>
                <a:cs typeface="Tahoma"/>
              </a:rPr>
              <a:t>incremental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delivery,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collaboration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and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1515" y="3122840"/>
            <a:ext cx="3620135" cy="331977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880"/>
              </a:spcBef>
            </a:pPr>
            <a:r>
              <a:rPr sz="3200" dirty="0">
                <a:latin typeface="Tahoma"/>
                <a:cs typeface="Tahoma"/>
              </a:rPr>
              <a:t>continual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learning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970"/>
              </a:spcBef>
              <a:buChar char="•"/>
              <a:tabLst>
                <a:tab pos="354965" algn="l"/>
              </a:tabLst>
            </a:pPr>
            <a:r>
              <a:rPr sz="4000" dirty="0">
                <a:latin typeface="Tahoma"/>
                <a:cs typeface="Tahoma"/>
              </a:rPr>
              <a:t>Based</a:t>
            </a:r>
            <a:r>
              <a:rPr sz="4000" spc="-110" dirty="0">
                <a:latin typeface="Tahoma"/>
                <a:cs typeface="Tahoma"/>
              </a:rPr>
              <a:t> </a:t>
            </a:r>
            <a:r>
              <a:rPr sz="4000" spc="-25" dirty="0">
                <a:latin typeface="Tahoma"/>
                <a:cs typeface="Tahoma"/>
              </a:rPr>
              <a:t>on:</a:t>
            </a:r>
            <a:endParaRPr sz="40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855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3600" spc="-10" dirty="0">
                <a:latin typeface="Tahoma"/>
                <a:cs typeface="Tahoma"/>
              </a:rPr>
              <a:t>Values</a:t>
            </a:r>
            <a:endParaRPr sz="36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865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3600" spc="-10" dirty="0">
                <a:latin typeface="Tahoma"/>
                <a:cs typeface="Tahoma"/>
              </a:rPr>
              <a:t>Principles</a:t>
            </a:r>
            <a:endParaRPr sz="36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865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3600" dirty="0">
                <a:latin typeface="Tahoma"/>
                <a:cs typeface="Tahoma"/>
              </a:rPr>
              <a:t>Core</a:t>
            </a:r>
            <a:r>
              <a:rPr sz="3600" spc="-90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practices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13182" y="3231766"/>
            <a:ext cx="5008880" cy="3528695"/>
          </a:xfrm>
          <a:custGeom>
            <a:avLst/>
            <a:gdLst/>
            <a:ahLst/>
            <a:cxnLst/>
            <a:rect l="l" t="t" r="r" b="b"/>
            <a:pathLst>
              <a:path w="5008880" h="3528695">
                <a:moveTo>
                  <a:pt x="5008309" y="0"/>
                </a:moveTo>
                <a:lnTo>
                  <a:pt x="0" y="0"/>
                </a:lnTo>
                <a:lnTo>
                  <a:pt x="0" y="3528608"/>
                </a:lnTo>
                <a:lnTo>
                  <a:pt x="5008309" y="3528608"/>
                </a:lnTo>
                <a:lnTo>
                  <a:pt x="500830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55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6"/>
          <p:cNvSpPr txBox="1"/>
          <p:nvPr/>
        </p:nvSpPr>
        <p:spPr>
          <a:xfrm>
            <a:off x="609600" y="685800"/>
            <a:ext cx="7239000" cy="4347344"/>
          </a:xfrm>
          <a:prstGeom prst="rect">
            <a:avLst/>
          </a:prstGeom>
          <a:ln w="12700">
            <a:solidFill>
              <a:srgbClr val="F7646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050">
              <a:lnSpc>
                <a:spcPts val="1535"/>
              </a:lnSpc>
            </a:pPr>
            <a:r>
              <a:rPr b="1" spc="-10" dirty="0">
                <a:latin typeface="Arial MT"/>
                <a:cs typeface="Arial MT"/>
              </a:rPr>
              <a:t>Values:</a:t>
            </a:r>
            <a:endParaRPr b="1" dirty="0">
              <a:latin typeface="Arial MT"/>
              <a:cs typeface="Arial MT"/>
            </a:endParaRPr>
          </a:p>
          <a:p>
            <a:pPr marL="304800" lvl="6" indent="-285750" algn="just">
              <a:buFont typeface="Arial" panose="020B0604020202020204" pitchFamily="34" charset="0"/>
              <a:buChar char="•"/>
            </a:pPr>
            <a:r>
              <a:rPr dirty="0">
                <a:latin typeface="Arial MT"/>
                <a:cs typeface="Arial MT"/>
              </a:rPr>
              <a:t>People &gt; </a:t>
            </a:r>
            <a:r>
              <a:rPr spc="-10" dirty="0">
                <a:latin typeface="Arial MT"/>
                <a:cs typeface="Arial MT"/>
              </a:rPr>
              <a:t>Tools</a:t>
            </a:r>
            <a:endParaRPr dirty="0">
              <a:latin typeface="Arial MT"/>
              <a:cs typeface="Arial MT"/>
            </a:endParaRPr>
          </a:p>
          <a:p>
            <a:pPr marL="304800" marR="2189480" lvl="6" indent="-285750" algn="just">
              <a:buFont typeface="Arial" panose="020B0604020202020204" pitchFamily="34" charset="0"/>
              <a:buChar char="•"/>
            </a:pPr>
            <a:r>
              <a:rPr dirty="0">
                <a:latin typeface="Arial MT"/>
                <a:cs typeface="Arial MT"/>
              </a:rPr>
              <a:t>Working software &gt; </a:t>
            </a:r>
            <a:r>
              <a:rPr spc="-10" dirty="0">
                <a:latin typeface="Arial MT"/>
                <a:cs typeface="Arial MT"/>
              </a:rPr>
              <a:t>Documentation </a:t>
            </a:r>
            <a:endParaRPr lang="en-US" spc="-10" dirty="0">
              <a:latin typeface="Arial MT"/>
              <a:cs typeface="Arial MT"/>
            </a:endParaRPr>
          </a:p>
          <a:p>
            <a:pPr marL="304800" marR="2189480" lvl="6" indent="-285750" algn="just">
              <a:buFont typeface="Arial" panose="020B0604020202020204" pitchFamily="34" charset="0"/>
              <a:buChar char="•"/>
            </a:pPr>
            <a:r>
              <a:rPr dirty="0">
                <a:latin typeface="Arial MT"/>
                <a:cs typeface="Arial MT"/>
              </a:rPr>
              <a:t>Customer collaboration &gt; </a:t>
            </a:r>
            <a:r>
              <a:rPr spc="-10" dirty="0">
                <a:latin typeface="Arial MT"/>
                <a:cs typeface="Arial MT"/>
              </a:rPr>
              <a:t>Contracts</a:t>
            </a:r>
            <a:endParaRPr lang="en-US" spc="-10" dirty="0">
              <a:latin typeface="Arial MT"/>
              <a:cs typeface="Arial MT"/>
            </a:endParaRPr>
          </a:p>
          <a:p>
            <a:pPr marL="304800" marR="2189480" lvl="6" indent="-285750" algn="just">
              <a:buFont typeface="Arial" panose="020B0604020202020204" pitchFamily="34" charset="0"/>
              <a:buChar char="•"/>
            </a:pPr>
            <a:r>
              <a:rPr spc="-1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Change &gt; Fixed </a:t>
            </a:r>
            <a:r>
              <a:rPr spc="-10" dirty="0">
                <a:latin typeface="Arial MT"/>
                <a:cs typeface="Arial MT"/>
              </a:rPr>
              <a:t>plans</a:t>
            </a:r>
            <a:endParaRPr dirty="0">
              <a:latin typeface="Arial MT"/>
              <a:cs typeface="Arial MT"/>
            </a:endParaRPr>
          </a:p>
          <a:p>
            <a:pPr marL="19050">
              <a:lnSpc>
                <a:spcPct val="100000"/>
              </a:lnSpc>
            </a:pPr>
            <a:r>
              <a:rPr b="1" spc="-10" dirty="0">
                <a:latin typeface="Arial MT"/>
                <a:cs typeface="Arial MT"/>
              </a:rPr>
              <a:t>Principles:</a:t>
            </a:r>
            <a:endParaRPr b="1" dirty="0">
              <a:latin typeface="Arial MT"/>
              <a:cs typeface="Arial MT"/>
            </a:endParaRPr>
          </a:p>
          <a:p>
            <a:pPr marL="304800" marR="28765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dirty="0">
                <a:latin typeface="Arial MT"/>
                <a:cs typeface="Arial MT"/>
              </a:rPr>
              <a:t>Deliver software </a:t>
            </a:r>
            <a:r>
              <a:rPr spc="-10" dirty="0">
                <a:latin typeface="Arial MT"/>
                <a:cs typeface="Arial MT"/>
              </a:rPr>
              <a:t>frequently </a:t>
            </a:r>
            <a:endParaRPr lang="en-US" spc="-10" dirty="0">
              <a:latin typeface="Arial MT"/>
              <a:cs typeface="Arial MT"/>
            </a:endParaRPr>
          </a:p>
          <a:p>
            <a:pPr marL="304800" marR="28765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dirty="0">
                <a:latin typeface="Arial MT"/>
                <a:cs typeface="Arial MT"/>
              </a:rPr>
              <a:t>Embrace </a:t>
            </a:r>
            <a:r>
              <a:rPr spc="-10" dirty="0">
                <a:latin typeface="Arial MT"/>
                <a:cs typeface="Arial MT"/>
              </a:rPr>
              <a:t>changes</a:t>
            </a:r>
            <a:endParaRPr dirty="0">
              <a:latin typeface="Arial MT"/>
              <a:cs typeface="Arial MT"/>
            </a:endParaRPr>
          </a:p>
          <a:p>
            <a:pPr marL="304800" marR="2600325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dirty="0">
                <a:latin typeface="Arial MT"/>
                <a:cs typeface="Arial MT"/>
              </a:rPr>
              <a:t>Work with customers </a:t>
            </a:r>
            <a:r>
              <a:rPr spc="-10" dirty="0">
                <a:latin typeface="Arial MT"/>
                <a:cs typeface="Arial MT"/>
              </a:rPr>
              <a:t>regularly </a:t>
            </a:r>
            <a:endParaRPr lang="en-US" spc="-10" dirty="0">
              <a:latin typeface="Arial MT"/>
              <a:cs typeface="Arial MT"/>
            </a:endParaRPr>
          </a:p>
          <a:p>
            <a:pPr marL="304800" marR="2600325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dirty="0">
                <a:latin typeface="Arial MT"/>
                <a:cs typeface="Arial MT"/>
              </a:rPr>
              <a:t>Keep a sustainable </a:t>
            </a:r>
            <a:r>
              <a:rPr spc="-20" dirty="0">
                <a:latin typeface="Arial MT"/>
                <a:cs typeface="Arial MT"/>
              </a:rPr>
              <a:t>pace </a:t>
            </a:r>
            <a:endParaRPr lang="en-US" spc="-20" dirty="0">
              <a:latin typeface="Arial MT"/>
              <a:cs typeface="Arial MT"/>
            </a:endParaRPr>
          </a:p>
          <a:p>
            <a:pPr marL="304800" marR="2600325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dirty="0">
                <a:latin typeface="Arial MT"/>
                <a:cs typeface="Arial MT"/>
              </a:rPr>
              <a:t>Improve </a:t>
            </a:r>
            <a:r>
              <a:rPr spc="-10" dirty="0">
                <a:latin typeface="Arial MT"/>
                <a:cs typeface="Arial MT"/>
              </a:rPr>
              <a:t>continuously</a:t>
            </a:r>
            <a:endParaRPr dirty="0">
              <a:latin typeface="Arial MT"/>
              <a:cs typeface="Arial MT"/>
            </a:endParaRPr>
          </a:p>
          <a:p>
            <a:pPr marL="19050" marR="3390900">
              <a:lnSpc>
                <a:spcPct val="100000"/>
              </a:lnSpc>
            </a:pPr>
            <a:r>
              <a:rPr b="1" dirty="0">
                <a:latin typeface="Arial MT"/>
                <a:cs typeface="Arial MT"/>
              </a:rPr>
              <a:t>Core </a:t>
            </a:r>
            <a:r>
              <a:rPr b="1" spc="-10" dirty="0">
                <a:latin typeface="Arial MT"/>
                <a:cs typeface="Arial MT"/>
              </a:rPr>
              <a:t>Practices</a:t>
            </a:r>
            <a:r>
              <a:rPr spc="-10" dirty="0">
                <a:latin typeface="Arial MT"/>
                <a:cs typeface="Arial MT"/>
              </a:rPr>
              <a:t>: </a:t>
            </a:r>
            <a:endParaRPr lang="en-US" spc="-10" dirty="0">
              <a:latin typeface="Arial MT"/>
              <a:cs typeface="Arial MT"/>
            </a:endParaRPr>
          </a:p>
          <a:p>
            <a:pPr marL="304800" marR="339090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dirty="0">
                <a:latin typeface="Arial MT"/>
                <a:cs typeface="Arial MT"/>
              </a:rPr>
              <a:t>Work in short </a:t>
            </a:r>
            <a:r>
              <a:rPr spc="-10" dirty="0">
                <a:latin typeface="Arial MT"/>
                <a:cs typeface="Arial MT"/>
              </a:rPr>
              <a:t>cycles </a:t>
            </a:r>
            <a:endParaRPr lang="en-US" spc="-10" dirty="0">
              <a:latin typeface="Arial MT"/>
              <a:cs typeface="Arial MT"/>
            </a:endParaRPr>
          </a:p>
          <a:p>
            <a:pPr marL="304800" marR="339090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dirty="0">
                <a:latin typeface="Arial MT"/>
                <a:cs typeface="Arial MT"/>
              </a:rPr>
              <a:t>Daily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meetings</a:t>
            </a:r>
            <a:endParaRPr dirty="0">
              <a:latin typeface="Arial MT"/>
              <a:cs typeface="Arial MT"/>
            </a:endParaRPr>
          </a:p>
          <a:p>
            <a:pPr marL="304800" marR="3241675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dirty="0">
                <a:latin typeface="Arial MT"/>
                <a:cs typeface="Arial MT"/>
              </a:rPr>
              <a:t>Test </a:t>
            </a:r>
            <a:r>
              <a:rPr spc="-10" dirty="0">
                <a:latin typeface="Arial MT"/>
                <a:cs typeface="Arial MT"/>
              </a:rPr>
              <a:t>frequently </a:t>
            </a:r>
            <a:endParaRPr lang="en-US" spc="-10" dirty="0">
              <a:latin typeface="Arial MT"/>
              <a:cs typeface="Arial MT"/>
            </a:endParaRPr>
          </a:p>
          <a:p>
            <a:pPr marL="304800" marR="3241675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dirty="0">
                <a:latin typeface="Arial MT"/>
                <a:cs typeface="Arial MT"/>
              </a:rPr>
              <a:t>Collaborate as a </a:t>
            </a:r>
            <a:r>
              <a:rPr spc="-20" dirty="0">
                <a:latin typeface="Arial MT"/>
                <a:cs typeface="Arial MT"/>
              </a:rPr>
              <a:t>team</a:t>
            </a:r>
            <a:endParaRPr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417138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6629" y="411226"/>
            <a:ext cx="28276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DF1738"/>
                </a:solidFill>
                <a:latin typeface="Tahoma"/>
                <a:cs typeface="Tahoma"/>
              </a:rPr>
              <a:t>Agile </a:t>
            </a:r>
            <a:r>
              <a:rPr sz="3600" b="1" spc="-10" dirty="0">
                <a:solidFill>
                  <a:srgbClr val="DF1738"/>
                </a:solidFill>
                <a:latin typeface="Tahoma"/>
                <a:cs typeface="Tahoma"/>
              </a:rPr>
              <a:t>Values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9740" y="1630121"/>
            <a:ext cx="48152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The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four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values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are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9740" y="2302353"/>
            <a:ext cx="7592695" cy="448183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50"/>
              </a:spcBef>
              <a:buChar char="•"/>
              <a:tabLst>
                <a:tab pos="354965" algn="l"/>
              </a:tabLst>
            </a:pPr>
            <a:r>
              <a:rPr sz="4400" spc="-10" dirty="0">
                <a:latin typeface="Tahoma"/>
                <a:cs typeface="Tahoma"/>
              </a:rPr>
              <a:t>Communication</a:t>
            </a:r>
            <a:endParaRPr sz="4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055"/>
              </a:spcBef>
              <a:buChar char="•"/>
              <a:tabLst>
                <a:tab pos="354965" algn="l"/>
              </a:tabLst>
            </a:pPr>
            <a:r>
              <a:rPr sz="4400" spc="-10" dirty="0">
                <a:latin typeface="Tahoma"/>
                <a:cs typeface="Tahoma"/>
              </a:rPr>
              <a:t>Simplicity</a:t>
            </a:r>
            <a:endParaRPr sz="4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060"/>
              </a:spcBef>
              <a:buChar char="•"/>
              <a:tabLst>
                <a:tab pos="354965" algn="l"/>
              </a:tabLst>
            </a:pPr>
            <a:r>
              <a:rPr sz="4400" spc="-10" dirty="0">
                <a:latin typeface="Tahoma"/>
                <a:cs typeface="Tahoma"/>
              </a:rPr>
              <a:t>Feedback</a:t>
            </a:r>
            <a:endParaRPr sz="4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060"/>
              </a:spcBef>
              <a:buChar char="•"/>
              <a:tabLst>
                <a:tab pos="354965" algn="l"/>
              </a:tabLst>
            </a:pPr>
            <a:r>
              <a:rPr sz="4400" spc="-10" dirty="0">
                <a:latin typeface="Tahoma"/>
                <a:cs typeface="Tahoma"/>
              </a:rPr>
              <a:t>Courage</a:t>
            </a:r>
            <a:endParaRPr sz="44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509"/>
              </a:spcBef>
            </a:pP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recommend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analysts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adopt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all </a:t>
            </a:r>
            <a:r>
              <a:rPr sz="2400" dirty="0">
                <a:latin typeface="Times New Roman"/>
                <a:cs typeface="Times New Roman"/>
              </a:rPr>
              <a:t>projects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undertake,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just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 adopting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2400" dirty="0">
                <a:latin typeface="Times New Roman"/>
                <a:cs typeface="Times New Roman"/>
              </a:rPr>
              <a:t>agile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approach.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145" y="6572198"/>
            <a:ext cx="2768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1-</a:t>
            </a:r>
            <a:r>
              <a:rPr sz="1000" spc="-35" dirty="0">
                <a:latin typeface="Tahoma"/>
                <a:cs typeface="Tahoma"/>
              </a:rPr>
              <a:t>56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57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Tahoma"/>
                <a:cs typeface="Tahoma"/>
              </a:rPr>
              <a:t>Four</a:t>
            </a:r>
            <a:r>
              <a:rPr sz="4000" b="1" spc="-80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Agile</a:t>
            </a:r>
            <a:r>
              <a:rPr sz="4000" b="1" spc="-80" dirty="0">
                <a:latin typeface="Tahoma"/>
                <a:cs typeface="Tahoma"/>
              </a:rPr>
              <a:t> </a:t>
            </a:r>
            <a:r>
              <a:rPr sz="4000" b="1" spc="-10" dirty="0">
                <a:latin typeface="Tahoma"/>
                <a:cs typeface="Tahoma"/>
              </a:rPr>
              <a:t>Resources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1173226"/>
            <a:ext cx="8206105" cy="5075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57225" indent="-3429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Agile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methods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can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ensure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successful </a:t>
            </a:r>
            <a:r>
              <a:rPr sz="3200" dirty="0">
                <a:latin typeface="Tahoma"/>
                <a:cs typeface="Tahoma"/>
              </a:rPr>
              <a:t>completion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project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by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adjusting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the </a:t>
            </a:r>
            <a:r>
              <a:rPr sz="3200" dirty="0">
                <a:latin typeface="Tahoma"/>
                <a:cs typeface="Tahoma"/>
              </a:rPr>
              <a:t>important</a:t>
            </a:r>
            <a:r>
              <a:rPr sz="3200" spc="-1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resources</a:t>
            </a:r>
            <a:r>
              <a:rPr sz="3200" spc="-13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of</a:t>
            </a:r>
            <a:endParaRPr sz="3200" dirty="0">
              <a:latin typeface="Tahoma"/>
              <a:cs typeface="Tahoma"/>
            </a:endParaRPr>
          </a:p>
          <a:p>
            <a:pPr marL="756285" indent="-286385">
              <a:lnSpc>
                <a:spcPct val="100000"/>
              </a:lnSpc>
              <a:spcBef>
                <a:spcPts val="675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spc="-20" dirty="0">
                <a:latin typeface="Tahoma"/>
                <a:cs typeface="Tahoma"/>
              </a:rPr>
              <a:t>Time</a:t>
            </a:r>
            <a:endParaRPr sz="2800" dirty="0">
              <a:latin typeface="Tahoma"/>
              <a:cs typeface="Tahoma"/>
            </a:endParaRPr>
          </a:p>
          <a:p>
            <a:pPr marL="756285" indent="-286385">
              <a:lnSpc>
                <a:spcPct val="100000"/>
              </a:lnSpc>
              <a:spcBef>
                <a:spcPts val="675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spc="-20" dirty="0">
                <a:latin typeface="Tahoma"/>
                <a:cs typeface="Tahoma"/>
              </a:rPr>
              <a:t>Cost</a:t>
            </a:r>
            <a:endParaRPr sz="2800" dirty="0">
              <a:latin typeface="Tahoma"/>
              <a:cs typeface="Tahoma"/>
            </a:endParaRPr>
          </a:p>
          <a:p>
            <a:pPr marL="756285" indent="-286385">
              <a:lnSpc>
                <a:spcPct val="100000"/>
              </a:lnSpc>
              <a:spcBef>
                <a:spcPts val="67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spc="-10" dirty="0">
                <a:latin typeface="Tahoma"/>
                <a:cs typeface="Tahoma"/>
              </a:rPr>
              <a:t>Quality</a:t>
            </a:r>
            <a:endParaRPr sz="2800" dirty="0">
              <a:latin typeface="Tahoma"/>
              <a:cs typeface="Tahoma"/>
            </a:endParaRPr>
          </a:p>
          <a:p>
            <a:pPr marL="756285" indent="-286385">
              <a:lnSpc>
                <a:spcPct val="100000"/>
              </a:lnSpc>
              <a:spcBef>
                <a:spcPts val="675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spc="-10" dirty="0">
                <a:latin typeface="Tahoma"/>
                <a:cs typeface="Tahoma"/>
              </a:rPr>
              <a:t>Scope</a:t>
            </a:r>
            <a:endParaRPr sz="28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Font typeface="Tahoma"/>
              <a:buChar char="•"/>
              <a:tabLst>
                <a:tab pos="355600" algn="l"/>
              </a:tabLst>
            </a:pPr>
            <a:r>
              <a:rPr sz="2400" b="1" dirty="0">
                <a:latin typeface="Tahoma"/>
                <a:cs typeface="Tahoma"/>
              </a:rPr>
              <a:t>When</a:t>
            </a:r>
            <a:r>
              <a:rPr sz="2400" b="1" spc="-5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these</a:t>
            </a:r>
            <a:r>
              <a:rPr sz="2400" b="1" spc="-5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four</a:t>
            </a:r>
            <a:r>
              <a:rPr sz="2400" b="1" spc="-5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control</a:t>
            </a:r>
            <a:r>
              <a:rPr sz="2400" b="1" spc="-3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variables</a:t>
            </a:r>
            <a:r>
              <a:rPr sz="2400" b="1" spc="-7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are</a:t>
            </a:r>
            <a:r>
              <a:rPr sz="2400" b="1" spc="-55" dirty="0">
                <a:latin typeface="Tahoma"/>
                <a:cs typeface="Tahoma"/>
              </a:rPr>
              <a:t> </a:t>
            </a:r>
            <a:r>
              <a:rPr sz="2400" b="1" spc="-10" dirty="0">
                <a:latin typeface="Tahoma"/>
                <a:cs typeface="Tahoma"/>
              </a:rPr>
              <a:t>properly </a:t>
            </a:r>
            <a:r>
              <a:rPr sz="2400" b="1" dirty="0">
                <a:latin typeface="Tahoma"/>
                <a:cs typeface="Tahoma"/>
              </a:rPr>
              <a:t>included</a:t>
            </a:r>
            <a:r>
              <a:rPr sz="2400" b="1" spc="-5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in</a:t>
            </a:r>
            <a:r>
              <a:rPr sz="2400" b="1" spc="-5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the</a:t>
            </a:r>
            <a:r>
              <a:rPr sz="2400" b="1" spc="-4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planning,</a:t>
            </a:r>
            <a:r>
              <a:rPr sz="2400" b="1" spc="-4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there</a:t>
            </a:r>
            <a:r>
              <a:rPr sz="2400" b="1" spc="-5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is</a:t>
            </a:r>
            <a:r>
              <a:rPr sz="2400" b="1" spc="-6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a</a:t>
            </a:r>
            <a:r>
              <a:rPr sz="2400" b="1" spc="-5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state</a:t>
            </a:r>
            <a:r>
              <a:rPr sz="2400" b="1" spc="-6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of</a:t>
            </a:r>
            <a:r>
              <a:rPr sz="2400" b="1" spc="-50" dirty="0">
                <a:latin typeface="Tahoma"/>
                <a:cs typeface="Tahoma"/>
              </a:rPr>
              <a:t> </a:t>
            </a:r>
            <a:r>
              <a:rPr sz="2400" b="1" spc="-10" dirty="0">
                <a:latin typeface="Tahoma"/>
                <a:cs typeface="Tahoma"/>
              </a:rPr>
              <a:t>balance </a:t>
            </a:r>
            <a:r>
              <a:rPr sz="2400" b="1" dirty="0">
                <a:latin typeface="Tahoma"/>
                <a:cs typeface="Tahoma"/>
              </a:rPr>
              <a:t>between</a:t>
            </a:r>
            <a:r>
              <a:rPr sz="2400" b="1" spc="-8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the</a:t>
            </a:r>
            <a:r>
              <a:rPr sz="2400" b="1" spc="-8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resources</a:t>
            </a:r>
            <a:r>
              <a:rPr sz="2400" b="1" spc="-9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and</a:t>
            </a:r>
            <a:r>
              <a:rPr sz="2400" b="1" spc="-8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the</a:t>
            </a:r>
            <a:r>
              <a:rPr sz="2400" b="1" spc="-8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activities</a:t>
            </a:r>
            <a:r>
              <a:rPr sz="2400" b="1" spc="-7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needed</a:t>
            </a:r>
            <a:r>
              <a:rPr sz="2400" b="1" spc="-100" dirty="0">
                <a:latin typeface="Tahoma"/>
                <a:cs typeface="Tahoma"/>
              </a:rPr>
              <a:t> </a:t>
            </a:r>
            <a:r>
              <a:rPr sz="2400" b="1" spc="-25" dirty="0">
                <a:latin typeface="Tahoma"/>
                <a:cs typeface="Tahoma"/>
              </a:rPr>
              <a:t>to </a:t>
            </a:r>
            <a:r>
              <a:rPr sz="2400" b="1" dirty="0">
                <a:latin typeface="Tahoma"/>
                <a:cs typeface="Tahoma"/>
              </a:rPr>
              <a:t>complete</a:t>
            </a:r>
            <a:r>
              <a:rPr sz="2400" b="1" spc="-9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the</a:t>
            </a:r>
            <a:r>
              <a:rPr sz="2400" b="1" spc="-85" dirty="0">
                <a:latin typeface="Tahoma"/>
                <a:cs typeface="Tahoma"/>
              </a:rPr>
              <a:t> </a:t>
            </a:r>
            <a:r>
              <a:rPr sz="2400" b="1" spc="-10" dirty="0">
                <a:latin typeface="Tahoma"/>
                <a:cs typeface="Tahoma"/>
              </a:rPr>
              <a:t>project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411226"/>
            <a:ext cx="7258050" cy="5381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DF1738"/>
                </a:solidFill>
                <a:latin typeface="Tahoma"/>
                <a:cs typeface="Tahoma"/>
              </a:rPr>
              <a:t>Developmental</a:t>
            </a:r>
            <a:r>
              <a:rPr sz="3200" b="1" spc="-5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DF1738"/>
                </a:solidFill>
                <a:latin typeface="Tahoma"/>
                <a:cs typeface="Tahoma"/>
              </a:rPr>
              <a:t>Process</a:t>
            </a:r>
            <a:r>
              <a:rPr sz="3200" b="1" spc="-25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DF1738"/>
                </a:solidFill>
                <a:latin typeface="Tahoma"/>
                <a:cs typeface="Tahoma"/>
              </a:rPr>
              <a:t>for</a:t>
            </a:r>
            <a:r>
              <a:rPr sz="3200" b="1" spc="-5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DF1738"/>
                </a:solidFill>
                <a:latin typeface="Tahoma"/>
                <a:cs typeface="Tahoma"/>
              </a:rPr>
              <a:t>an</a:t>
            </a:r>
            <a:r>
              <a:rPr sz="3200" b="1" spc="-10" dirty="0">
                <a:solidFill>
                  <a:srgbClr val="DF1738"/>
                </a:solidFill>
                <a:latin typeface="Tahoma"/>
                <a:cs typeface="Tahoma"/>
              </a:rPr>
              <a:t> Agile Project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Tahoma"/>
                <a:cs typeface="Tahoma"/>
              </a:rPr>
              <a:t>Five</a:t>
            </a:r>
            <a:r>
              <a:rPr sz="2800" b="1" spc="-50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Stages</a:t>
            </a:r>
            <a:r>
              <a:rPr sz="2800" b="1" spc="-70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of</a:t>
            </a:r>
            <a:r>
              <a:rPr sz="2800" b="1" spc="-65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Agile</a:t>
            </a:r>
            <a:r>
              <a:rPr sz="2800" b="1" spc="-55" dirty="0">
                <a:latin typeface="Tahoma"/>
                <a:cs typeface="Tahoma"/>
              </a:rPr>
              <a:t> </a:t>
            </a:r>
            <a:r>
              <a:rPr sz="2800" b="1" spc="-10" dirty="0">
                <a:latin typeface="Tahoma"/>
                <a:cs typeface="Tahoma"/>
              </a:rPr>
              <a:t>Development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860"/>
              </a:spcBef>
              <a:buChar char="•"/>
              <a:tabLst>
                <a:tab pos="354965" algn="l"/>
              </a:tabLst>
            </a:pPr>
            <a:r>
              <a:rPr sz="3600" spc="-10" dirty="0">
                <a:latin typeface="Tahoma"/>
                <a:cs typeface="Tahoma"/>
              </a:rPr>
              <a:t>Exploration</a:t>
            </a:r>
            <a:endParaRPr sz="3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865"/>
              </a:spcBef>
              <a:buChar char="•"/>
              <a:tabLst>
                <a:tab pos="354965" algn="l"/>
              </a:tabLst>
            </a:pPr>
            <a:r>
              <a:rPr sz="3600" spc="-10" dirty="0">
                <a:latin typeface="Tahoma"/>
                <a:cs typeface="Tahoma"/>
              </a:rPr>
              <a:t>Planning</a:t>
            </a:r>
            <a:endParaRPr sz="3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865"/>
              </a:spcBef>
              <a:buChar char="•"/>
              <a:tabLst>
                <a:tab pos="354965" algn="l"/>
                <a:tab pos="4683760" algn="l"/>
              </a:tabLst>
            </a:pPr>
            <a:r>
              <a:rPr sz="3600" dirty="0">
                <a:latin typeface="Tahoma"/>
                <a:cs typeface="Tahoma"/>
              </a:rPr>
              <a:t>Iterations</a:t>
            </a:r>
            <a:r>
              <a:rPr sz="3600" spc="-2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to</a:t>
            </a:r>
            <a:r>
              <a:rPr sz="3600" spc="-3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the</a:t>
            </a:r>
            <a:r>
              <a:rPr sz="3600" spc="-2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first</a:t>
            </a:r>
            <a:r>
              <a:rPr sz="3600" dirty="0">
                <a:latin typeface="Tahoma"/>
                <a:cs typeface="Tahoma"/>
              </a:rPr>
              <a:t>	</a:t>
            </a:r>
            <a:r>
              <a:rPr sz="3600" spc="-10" dirty="0">
                <a:latin typeface="Tahoma"/>
                <a:cs typeface="Tahoma"/>
              </a:rPr>
              <a:t>release</a:t>
            </a:r>
            <a:endParaRPr sz="3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865"/>
              </a:spcBef>
              <a:buChar char="•"/>
              <a:tabLst>
                <a:tab pos="354965" algn="l"/>
              </a:tabLst>
            </a:pPr>
            <a:r>
              <a:rPr sz="3600" spc="-10" dirty="0">
                <a:latin typeface="Tahoma"/>
                <a:cs typeface="Tahoma"/>
              </a:rPr>
              <a:t>Productionizing</a:t>
            </a:r>
            <a:endParaRPr sz="3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865"/>
              </a:spcBef>
              <a:buChar char="•"/>
              <a:tabLst>
                <a:tab pos="354965" algn="l"/>
              </a:tabLst>
            </a:pPr>
            <a:r>
              <a:rPr sz="3600" spc="-10" dirty="0">
                <a:latin typeface="Tahoma"/>
                <a:cs typeface="Tahoma"/>
              </a:rPr>
              <a:t>Maintenance</a:t>
            </a:r>
            <a:endParaRPr sz="36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3725" y="4598429"/>
            <a:ext cx="2523518" cy="213560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58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8126" y="335991"/>
            <a:ext cx="62617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ahoma"/>
                <a:cs typeface="Tahoma"/>
              </a:rPr>
              <a:t>Agile</a:t>
            </a:r>
            <a:r>
              <a:rPr sz="2800" b="1" spc="-95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Project</a:t>
            </a:r>
            <a:r>
              <a:rPr sz="2800" b="1" spc="-100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Development</a:t>
            </a:r>
            <a:r>
              <a:rPr sz="2800" b="1" spc="-55" dirty="0">
                <a:latin typeface="Tahoma"/>
                <a:cs typeface="Tahoma"/>
              </a:rPr>
              <a:t> </a:t>
            </a:r>
            <a:r>
              <a:rPr sz="2800" b="1" spc="-10" dirty="0">
                <a:latin typeface="Tahoma"/>
                <a:cs typeface="Tahoma"/>
              </a:rPr>
              <a:t>Process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769618"/>
            <a:ext cx="7010400" cy="608837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30945" y="6572137"/>
            <a:ext cx="314960" cy="178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1-</a:t>
            </a:r>
            <a:r>
              <a:rPr sz="1000" spc="-35" dirty="0">
                <a:latin typeface="Tahoma"/>
                <a:cs typeface="Tahoma"/>
              </a:rPr>
              <a:t>59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11226"/>
            <a:ext cx="8266430" cy="5086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three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0000"/>
                </a:solidFill>
                <a:latin typeface="Tahoma"/>
                <a:cs typeface="Tahoma"/>
              </a:rPr>
              <a:t>red</a:t>
            </a:r>
            <a:r>
              <a:rPr sz="3200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0000"/>
                </a:solidFill>
                <a:latin typeface="Tahoma"/>
                <a:cs typeface="Tahoma"/>
              </a:rPr>
              <a:t>arrows</a:t>
            </a:r>
            <a:r>
              <a:rPr sz="3200" spc="-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that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loop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back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into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the</a:t>
            </a:r>
            <a:endParaRPr sz="320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3200" dirty="0">
                <a:latin typeface="Tahoma"/>
                <a:cs typeface="Tahoma"/>
              </a:rPr>
              <a:t>“Iterations”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box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symbolize</a:t>
            </a:r>
            <a:endParaRPr sz="3200" dirty="0">
              <a:latin typeface="Tahoma"/>
              <a:cs typeface="Tahoma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675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Incremental</a:t>
            </a:r>
            <a:r>
              <a:rPr sz="2800" spc="-12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changes</a:t>
            </a:r>
            <a:r>
              <a:rPr sz="2800" spc="-11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created</a:t>
            </a:r>
            <a:r>
              <a:rPr sz="2800" spc="-11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through</a:t>
            </a:r>
            <a:r>
              <a:rPr sz="2800" spc="-11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Repeated 	</a:t>
            </a:r>
            <a:r>
              <a:rPr sz="2800" dirty="0">
                <a:latin typeface="Tahoma"/>
                <a:cs typeface="Tahoma"/>
              </a:rPr>
              <a:t>Testing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and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Feedback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that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eventually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lead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a</a:t>
            </a:r>
            <a:endParaRPr sz="28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2800" dirty="0">
                <a:latin typeface="Tahoma"/>
                <a:cs typeface="Tahoma"/>
              </a:rPr>
              <a:t>Stable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but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Evolving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system.</a:t>
            </a:r>
            <a:endParaRPr sz="2800" dirty="0">
              <a:latin typeface="Tahoma"/>
              <a:cs typeface="Tahoma"/>
            </a:endParaRPr>
          </a:p>
          <a:p>
            <a:pPr marL="355600" marR="80010" indent="-342900">
              <a:lnSpc>
                <a:spcPct val="100000"/>
              </a:lnSpc>
              <a:spcBef>
                <a:spcPts val="76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Multiple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Looping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Arrows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that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feed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back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into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1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productionizing</a:t>
            </a:r>
            <a:r>
              <a:rPr sz="3200" spc="-114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phase.</a:t>
            </a:r>
            <a:endParaRPr sz="3200" dirty="0">
              <a:latin typeface="Tahoma"/>
              <a:cs typeface="Tahoma"/>
            </a:endParaRPr>
          </a:p>
          <a:p>
            <a:pPr marL="755015" marR="407670" lvl="1" indent="-285750">
              <a:lnSpc>
                <a:spcPct val="100000"/>
              </a:lnSpc>
              <a:spcBef>
                <a:spcPts val="77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3200" dirty="0">
                <a:latin typeface="Tahoma"/>
                <a:cs typeface="Tahoma"/>
              </a:rPr>
              <a:t>These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symbolize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that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pace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of 	</a:t>
            </a:r>
            <a:r>
              <a:rPr sz="3200" dirty="0">
                <a:latin typeface="Tahoma"/>
                <a:cs typeface="Tahoma"/>
              </a:rPr>
              <a:t>iterations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is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increased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after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product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is 	</a:t>
            </a:r>
            <a:r>
              <a:rPr sz="3200" spc="-10" dirty="0">
                <a:latin typeface="Tahoma"/>
                <a:cs typeface="Tahoma"/>
              </a:rPr>
              <a:t>released.</a:t>
            </a:r>
            <a:endParaRPr sz="3200" dirty="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4942331"/>
            <a:ext cx="2209800" cy="191566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30945" y="6572137"/>
            <a:ext cx="314960" cy="178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1-</a:t>
            </a:r>
            <a:r>
              <a:rPr sz="1000" spc="-35" dirty="0">
                <a:latin typeface="Tahoma"/>
                <a:cs typeface="Tahoma"/>
              </a:rPr>
              <a:t>60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11226"/>
            <a:ext cx="8097520" cy="35382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86105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The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0000"/>
                </a:solidFill>
                <a:latin typeface="Tahoma"/>
                <a:cs typeface="Tahoma"/>
              </a:rPr>
              <a:t>red</a:t>
            </a:r>
            <a:r>
              <a:rPr sz="32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0000"/>
                </a:solidFill>
                <a:latin typeface="Tahoma"/>
                <a:cs typeface="Tahoma"/>
              </a:rPr>
              <a:t>arrow</a:t>
            </a:r>
            <a:r>
              <a:rPr sz="3200" spc="-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is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shown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leaving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the </a:t>
            </a:r>
            <a:r>
              <a:rPr sz="3200" dirty="0">
                <a:latin typeface="Tahoma"/>
                <a:cs typeface="Tahoma"/>
              </a:rPr>
              <a:t>maintenance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stage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and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returning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the </a:t>
            </a:r>
            <a:r>
              <a:rPr sz="3200" dirty="0">
                <a:latin typeface="Tahoma"/>
                <a:cs typeface="Tahoma"/>
              </a:rPr>
              <a:t>planning</a:t>
            </a:r>
            <a:r>
              <a:rPr sz="3200" spc="-11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stage,</a:t>
            </a:r>
            <a:endParaRPr sz="3200">
              <a:latin typeface="Tahoma"/>
              <a:cs typeface="Tahoma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77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3200" dirty="0">
                <a:latin typeface="Tahoma"/>
                <a:cs typeface="Tahoma"/>
              </a:rPr>
              <a:t>so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that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there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is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continuous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feedback 	</a:t>
            </a:r>
            <a:r>
              <a:rPr sz="3200" dirty="0">
                <a:latin typeface="Tahoma"/>
                <a:cs typeface="Tahoma"/>
              </a:rPr>
              <a:t>loop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involving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customers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and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the 	</a:t>
            </a:r>
            <a:r>
              <a:rPr sz="3200" dirty="0">
                <a:latin typeface="Tahoma"/>
                <a:cs typeface="Tahoma"/>
              </a:rPr>
              <a:t>development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team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as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they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agree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alter 	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9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evolving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system.</a:t>
            </a:r>
            <a:endParaRPr sz="32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0" y="3616450"/>
            <a:ext cx="3733800" cy="32415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30945" y="6572137"/>
            <a:ext cx="314960" cy="178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1-</a:t>
            </a:r>
            <a:r>
              <a:rPr sz="1000" spc="-35" dirty="0">
                <a:latin typeface="Tahoma"/>
                <a:cs typeface="Tahoma"/>
              </a:rPr>
              <a:t>61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30945" y="6572137"/>
            <a:ext cx="314960" cy="178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1-</a:t>
            </a:r>
            <a:r>
              <a:rPr sz="1000" spc="-35" dirty="0">
                <a:latin typeface="Tahoma"/>
                <a:cs typeface="Tahoma"/>
              </a:rPr>
              <a:t>62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5940" y="328431"/>
            <a:ext cx="8200390" cy="540575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800" b="1" spc="-10" dirty="0">
                <a:solidFill>
                  <a:srgbClr val="FF0000"/>
                </a:solidFill>
                <a:latin typeface="Tahoma"/>
                <a:cs typeface="Tahoma"/>
              </a:rPr>
              <a:t>EXPLORATION:</a:t>
            </a:r>
            <a:endParaRPr sz="2800" dirty="0">
              <a:latin typeface="Tahoma"/>
              <a:cs typeface="Tahoma"/>
            </a:endParaRPr>
          </a:p>
          <a:p>
            <a:pPr marL="355600" marR="347345" indent="-342900">
              <a:lnSpc>
                <a:spcPct val="100000"/>
              </a:lnSpc>
              <a:spcBef>
                <a:spcPts val="76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explore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Environment,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assemble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team, </a:t>
            </a:r>
            <a:r>
              <a:rPr sz="3200" dirty="0">
                <a:latin typeface="Tahoma"/>
                <a:cs typeface="Tahoma"/>
              </a:rPr>
              <a:t>and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assess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team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member </a:t>
            </a:r>
            <a:r>
              <a:rPr sz="3200" spc="-10" dirty="0">
                <a:latin typeface="Tahoma"/>
                <a:cs typeface="Tahoma"/>
              </a:rPr>
              <a:t>skills</a:t>
            </a:r>
            <a:endParaRPr sz="32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7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take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from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few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weeks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few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month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examining</a:t>
            </a:r>
            <a:r>
              <a:rPr sz="3200" spc="-1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potential</a:t>
            </a:r>
            <a:r>
              <a:rPr sz="3200" spc="-1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technologies</a:t>
            </a:r>
            <a:r>
              <a:rPr sz="3200" spc="-114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needed</a:t>
            </a:r>
            <a:r>
              <a:rPr sz="3200" spc="-12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to </a:t>
            </a:r>
            <a:r>
              <a:rPr sz="3200" dirty="0">
                <a:latin typeface="Tahoma"/>
                <a:cs typeface="Tahoma"/>
              </a:rPr>
              <a:t>build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new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system</a:t>
            </a:r>
            <a:endParaRPr sz="32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Estimating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9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time</a:t>
            </a:r>
            <a:endParaRPr sz="3200" dirty="0">
              <a:latin typeface="Tahoma"/>
              <a:cs typeface="Tahoma"/>
            </a:endParaRPr>
          </a:p>
          <a:p>
            <a:pPr marL="355600" marR="21590" indent="-342900">
              <a:lnSpc>
                <a:spcPct val="100200"/>
              </a:lnSpc>
              <a:spcBef>
                <a:spcPts val="69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playful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curious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attitude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toward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work </a:t>
            </a:r>
            <a:r>
              <a:rPr sz="3200" dirty="0">
                <a:latin typeface="Arial MT"/>
                <a:cs typeface="Arial MT"/>
              </a:rPr>
              <a:t>environment,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its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problems,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technologies,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10" dirty="0">
                <a:latin typeface="Arial MT"/>
                <a:cs typeface="Arial MT"/>
              </a:rPr>
              <a:t> people</a:t>
            </a:r>
            <a:endParaRPr sz="3200" dirty="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30945" y="6572137"/>
            <a:ext cx="314960" cy="178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1-</a:t>
            </a:r>
            <a:r>
              <a:rPr sz="1000" spc="-35" dirty="0">
                <a:latin typeface="Tahoma"/>
                <a:cs typeface="Tahoma"/>
              </a:rPr>
              <a:t>63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59740" y="314299"/>
            <a:ext cx="8328659" cy="500062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b="1" spc="-10" dirty="0">
                <a:solidFill>
                  <a:srgbClr val="FF0000"/>
                </a:solidFill>
                <a:latin typeface="Tahoma"/>
                <a:cs typeface="Tahoma"/>
              </a:rPr>
              <a:t>PLANNING</a:t>
            </a:r>
            <a:endParaRPr sz="32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planning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may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take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few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days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accomplish</a:t>
            </a:r>
            <a:endParaRPr sz="3200" dirty="0">
              <a:latin typeface="Tahoma"/>
              <a:cs typeface="Tahoma"/>
            </a:endParaRPr>
          </a:p>
          <a:p>
            <a:pPr marL="355600" marR="785495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Story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cards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planning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game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briefly </a:t>
            </a:r>
            <a:r>
              <a:rPr sz="3200" dirty="0">
                <a:latin typeface="Tahoma"/>
                <a:cs typeface="Tahoma"/>
              </a:rPr>
              <a:t>describe</a:t>
            </a:r>
            <a:r>
              <a:rPr sz="3200" spc="-9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task,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provide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notes,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and </a:t>
            </a:r>
            <a:r>
              <a:rPr sz="3200" dirty="0">
                <a:latin typeface="Tahoma"/>
                <a:cs typeface="Tahoma"/>
              </a:rPr>
              <a:t>provide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an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area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for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task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tracking.</a:t>
            </a:r>
            <a:endParaRPr sz="3200" dirty="0">
              <a:latin typeface="Tahoma"/>
              <a:cs typeface="Tahoma"/>
            </a:endParaRPr>
          </a:p>
          <a:p>
            <a:pPr marL="355600" marR="627380" indent="-342900">
              <a:lnSpc>
                <a:spcPct val="100000"/>
              </a:lnSpc>
              <a:spcBef>
                <a:spcPts val="77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Customers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decide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what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development </a:t>
            </a:r>
            <a:r>
              <a:rPr sz="3200" dirty="0">
                <a:latin typeface="Tahoma"/>
                <a:cs typeface="Tahoma"/>
              </a:rPr>
              <a:t>team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should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tackle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first.</a:t>
            </a:r>
            <a:endParaRPr sz="3200" dirty="0">
              <a:latin typeface="Tahoma"/>
              <a:cs typeface="Tahoma"/>
            </a:endParaRPr>
          </a:p>
          <a:p>
            <a:pPr marL="12700" marR="309245" indent="342265">
              <a:lnSpc>
                <a:spcPct val="120000"/>
              </a:lnSpc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Their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decisions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will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set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priorities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and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check </a:t>
            </a:r>
            <a:r>
              <a:rPr sz="3200" dirty="0">
                <a:latin typeface="Tahoma"/>
                <a:cs typeface="Tahoma"/>
              </a:rPr>
              <a:t>functionalities</a:t>
            </a:r>
            <a:r>
              <a:rPr sz="3200" spc="-9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throughout</a:t>
            </a:r>
            <a:r>
              <a:rPr sz="3200" spc="-114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10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process.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30945" y="6572137"/>
            <a:ext cx="314960" cy="178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1-</a:t>
            </a:r>
            <a:r>
              <a:rPr sz="1000" spc="-35" dirty="0">
                <a:latin typeface="Tahoma"/>
                <a:cs typeface="Tahoma"/>
              </a:rPr>
              <a:t>64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69644" y="314299"/>
            <a:ext cx="7731125" cy="441515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b="1" dirty="0">
                <a:solidFill>
                  <a:srgbClr val="FF0000"/>
                </a:solidFill>
                <a:latin typeface="Tahoma"/>
                <a:cs typeface="Tahoma"/>
              </a:rPr>
              <a:t>ITERATIONS</a:t>
            </a:r>
            <a:r>
              <a:rPr sz="3200" b="1" spc="-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ahoma"/>
                <a:cs typeface="Tahoma"/>
              </a:rPr>
              <a:t>TO</a:t>
            </a:r>
            <a:r>
              <a:rPr sz="3200" b="1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sz="3200" b="1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ahoma"/>
                <a:cs typeface="Tahoma"/>
              </a:rPr>
              <a:t>FIRST</a:t>
            </a:r>
            <a:r>
              <a:rPr sz="3200" b="1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Tahoma"/>
                <a:cs typeface="Tahoma"/>
              </a:rPr>
              <a:t>RELEASE</a:t>
            </a:r>
            <a:endParaRPr sz="3200" dirty="0">
              <a:latin typeface="Tahoma"/>
              <a:cs typeface="Tahoma"/>
            </a:endParaRPr>
          </a:p>
          <a:p>
            <a:pPr marL="354965" marR="508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iterations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are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cycles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testing,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feedback, </a:t>
            </a:r>
            <a:r>
              <a:rPr sz="3200" dirty="0">
                <a:latin typeface="Tahoma"/>
                <a:cs typeface="Tahoma"/>
              </a:rPr>
              <a:t>and </a:t>
            </a:r>
            <a:r>
              <a:rPr sz="3200" spc="-10" dirty="0">
                <a:latin typeface="Tahoma"/>
                <a:cs typeface="Tahoma"/>
              </a:rPr>
              <a:t>change</a:t>
            </a:r>
            <a:endParaRPr sz="3200" dirty="0">
              <a:latin typeface="Tahoma"/>
              <a:cs typeface="Tahoma"/>
            </a:endParaRPr>
          </a:p>
          <a:p>
            <a:pPr marL="354965" marR="139065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Run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customer-</a:t>
            </a:r>
            <a:r>
              <a:rPr sz="3200" dirty="0">
                <a:latin typeface="Tahoma"/>
                <a:cs typeface="Tahoma"/>
              </a:rPr>
              <a:t>written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functional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tests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at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end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each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iteration</a:t>
            </a:r>
            <a:endParaRPr sz="3200" dirty="0">
              <a:latin typeface="Tahoma"/>
              <a:cs typeface="Tahoma"/>
            </a:endParaRPr>
          </a:p>
          <a:p>
            <a:pPr marL="354965" marR="54483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should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question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whether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schedule </a:t>
            </a:r>
            <a:r>
              <a:rPr sz="3200" dirty="0">
                <a:latin typeface="Tahoma"/>
                <a:cs typeface="Tahoma"/>
              </a:rPr>
              <a:t>needs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be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altered</a:t>
            </a:r>
            <a:endParaRPr sz="32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celebrate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your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progress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30945" y="6572137"/>
            <a:ext cx="314960" cy="178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1-</a:t>
            </a:r>
            <a:r>
              <a:rPr sz="1000" spc="-35" dirty="0">
                <a:latin typeface="Tahoma"/>
                <a:cs typeface="Tahoma"/>
              </a:rPr>
              <a:t>65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5940" y="314299"/>
            <a:ext cx="7430134" cy="334264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908685" algn="ctr">
              <a:lnSpc>
                <a:spcPct val="100000"/>
              </a:lnSpc>
              <a:spcBef>
                <a:spcPts val="865"/>
              </a:spcBef>
            </a:pPr>
            <a:r>
              <a:rPr sz="3200" b="1" spc="-10" dirty="0">
                <a:solidFill>
                  <a:srgbClr val="FF0000"/>
                </a:solidFill>
                <a:latin typeface="Tahoma"/>
                <a:cs typeface="Tahoma"/>
              </a:rPr>
              <a:t>PRODUCTIONIZING</a:t>
            </a:r>
            <a:endParaRPr sz="32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feedback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cycle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speeds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up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daily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briefings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so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everyone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knows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what </a:t>
            </a:r>
            <a:r>
              <a:rPr sz="3200" dirty="0">
                <a:latin typeface="Tahoma"/>
                <a:cs typeface="Tahoma"/>
              </a:rPr>
              <a:t>everyone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else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doing.</a:t>
            </a:r>
            <a:endParaRPr sz="3200" dirty="0">
              <a:latin typeface="Tahoma"/>
              <a:cs typeface="Tahoma"/>
            </a:endParaRPr>
          </a:p>
          <a:p>
            <a:pPr marL="355600" marR="262890" indent="-342900">
              <a:lnSpc>
                <a:spcPct val="100000"/>
              </a:lnSpc>
              <a:spcBef>
                <a:spcPts val="77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product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released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may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be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improved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by </a:t>
            </a:r>
            <a:r>
              <a:rPr sz="3200" dirty="0">
                <a:latin typeface="Tahoma"/>
                <a:cs typeface="Tahoma"/>
              </a:rPr>
              <a:t>adding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other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features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30945" y="6572137"/>
            <a:ext cx="314960" cy="178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1-</a:t>
            </a:r>
            <a:r>
              <a:rPr sz="1000" spc="-35" dirty="0">
                <a:latin typeface="Tahoma"/>
                <a:cs typeface="Tahoma"/>
              </a:rPr>
              <a:t>66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69644" y="314299"/>
            <a:ext cx="7607300" cy="334264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96850" algn="ctr">
              <a:lnSpc>
                <a:spcPct val="100000"/>
              </a:lnSpc>
              <a:spcBef>
                <a:spcPts val="865"/>
              </a:spcBef>
            </a:pPr>
            <a:r>
              <a:rPr sz="3200" b="1" spc="-10" dirty="0">
                <a:solidFill>
                  <a:srgbClr val="FF0000"/>
                </a:solidFill>
                <a:latin typeface="Tahoma"/>
                <a:cs typeface="Tahoma"/>
              </a:rPr>
              <a:t>MAINTENANCE</a:t>
            </a:r>
            <a:endParaRPr sz="32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New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features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may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added,</a:t>
            </a:r>
            <a:endParaRPr sz="3200" dirty="0">
              <a:latin typeface="Tahoma"/>
              <a:cs typeface="Tahoma"/>
            </a:endParaRPr>
          </a:p>
          <a:p>
            <a:pPr marL="354965" marR="69596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riskier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customer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suggestions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may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be </a:t>
            </a:r>
            <a:r>
              <a:rPr sz="3200" spc="-10" dirty="0">
                <a:latin typeface="Tahoma"/>
                <a:cs typeface="Tahoma"/>
              </a:rPr>
              <a:t>considered,</a:t>
            </a:r>
            <a:endParaRPr sz="3200" dirty="0">
              <a:latin typeface="Tahoma"/>
              <a:cs typeface="Tahoma"/>
            </a:endParaRPr>
          </a:p>
          <a:p>
            <a:pPr marL="354965" marR="5080" indent="-342900">
              <a:lnSpc>
                <a:spcPct val="100000"/>
              </a:lnSpc>
              <a:spcBef>
                <a:spcPts val="77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team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members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may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be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rotated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on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or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off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team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crum Frame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19200"/>
            <a:ext cx="85725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10000" y="533400"/>
            <a:ext cx="266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SCRUM</a:t>
            </a:r>
          </a:p>
        </p:txBody>
      </p:sp>
    </p:spTree>
    <p:extLst>
      <p:ext uri="{BB962C8B-B14F-4D97-AF65-F5344CB8AC3E}">
        <p14:creationId xmlns:p14="http://schemas.microsoft.com/office/powerpoint/2010/main" val="1102353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788145" y="6572137"/>
            <a:ext cx="276860" cy="178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1-</a:t>
            </a:r>
            <a:r>
              <a:rPr sz="1000" spc="-35" dirty="0">
                <a:latin typeface="Tahoma"/>
                <a:cs typeface="Tahoma"/>
              </a:rPr>
              <a:t>67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411226"/>
            <a:ext cx="643699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ahoma"/>
                <a:cs typeface="Tahoma"/>
              </a:rPr>
              <a:t>Object-Oriented</a:t>
            </a:r>
            <a:r>
              <a:rPr sz="3200" b="1" spc="-20" dirty="0">
                <a:latin typeface="Tahoma"/>
                <a:cs typeface="Tahoma"/>
              </a:rPr>
              <a:t> </a:t>
            </a:r>
            <a:r>
              <a:rPr sz="3200" b="1" spc="-10" dirty="0">
                <a:latin typeface="Tahoma"/>
                <a:cs typeface="Tahoma"/>
              </a:rPr>
              <a:t>(O-</a:t>
            </a:r>
            <a:r>
              <a:rPr sz="3200" b="1" dirty="0">
                <a:latin typeface="Tahoma"/>
                <a:cs typeface="Tahoma"/>
              </a:rPr>
              <a:t>O)</a:t>
            </a:r>
            <a:r>
              <a:rPr sz="3200" b="1" spc="-65" dirty="0">
                <a:latin typeface="Tahoma"/>
                <a:cs typeface="Tahoma"/>
              </a:rPr>
              <a:t> </a:t>
            </a:r>
            <a:r>
              <a:rPr sz="3200" b="1" spc="-10" dirty="0">
                <a:latin typeface="Tahoma"/>
                <a:cs typeface="Tahoma"/>
              </a:rPr>
              <a:t>Systems </a:t>
            </a:r>
            <a:r>
              <a:rPr sz="3200" b="1" dirty="0">
                <a:latin typeface="Tahoma"/>
                <a:cs typeface="Tahoma"/>
              </a:rPr>
              <a:t>Analysis</a:t>
            </a:r>
            <a:r>
              <a:rPr sz="3200" b="1" spc="-55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and</a:t>
            </a:r>
            <a:r>
              <a:rPr sz="3200" b="1" spc="-15" dirty="0">
                <a:latin typeface="Tahoma"/>
                <a:cs typeface="Tahoma"/>
              </a:rPr>
              <a:t> </a:t>
            </a:r>
            <a:r>
              <a:rPr sz="3200" b="1" spc="-10" dirty="0">
                <a:latin typeface="Tahoma"/>
                <a:cs typeface="Tahoma"/>
              </a:rPr>
              <a:t>Design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40" y="1681578"/>
            <a:ext cx="7509509" cy="334835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54330" marR="5080" indent="-342265">
              <a:lnSpc>
                <a:spcPct val="96800"/>
              </a:lnSpc>
              <a:spcBef>
                <a:spcPts val="240"/>
              </a:spcBef>
              <a:buSzPct val="94736"/>
              <a:buChar char="•"/>
              <a:tabLst>
                <a:tab pos="355600" algn="l"/>
                <a:tab pos="5849620" algn="l"/>
              </a:tabLst>
            </a:pPr>
            <a:r>
              <a:rPr sz="3800" spc="-114" dirty="0">
                <a:latin typeface="Tahoma"/>
                <a:cs typeface="Tahoma"/>
              </a:rPr>
              <a:t>Object-</a:t>
            </a:r>
            <a:r>
              <a:rPr sz="3800" spc="-90" dirty="0">
                <a:latin typeface="Tahoma"/>
                <a:cs typeface="Tahoma"/>
              </a:rPr>
              <a:t>oriented</a:t>
            </a:r>
            <a:r>
              <a:rPr sz="3800" spc="-180" dirty="0">
                <a:latin typeface="Tahoma"/>
                <a:cs typeface="Tahoma"/>
              </a:rPr>
              <a:t> </a:t>
            </a:r>
            <a:r>
              <a:rPr sz="3800" spc="-114" dirty="0">
                <a:latin typeface="Tahoma"/>
                <a:cs typeface="Tahoma"/>
              </a:rPr>
              <a:t>(O-</a:t>
            </a:r>
            <a:r>
              <a:rPr sz="3800" spc="-20" dirty="0">
                <a:latin typeface="Tahoma"/>
                <a:cs typeface="Tahoma"/>
              </a:rPr>
              <a:t>O)</a:t>
            </a:r>
            <a:r>
              <a:rPr sz="3800" spc="-175" dirty="0">
                <a:latin typeface="Tahoma"/>
                <a:cs typeface="Tahoma"/>
              </a:rPr>
              <a:t> </a:t>
            </a:r>
            <a:r>
              <a:rPr sz="3800" spc="-90" dirty="0">
                <a:latin typeface="Tahoma"/>
                <a:cs typeface="Tahoma"/>
              </a:rPr>
              <a:t>analysis</a:t>
            </a:r>
            <a:r>
              <a:rPr sz="3800" spc="-160" dirty="0">
                <a:latin typeface="Tahoma"/>
                <a:cs typeface="Tahoma"/>
              </a:rPr>
              <a:t> </a:t>
            </a:r>
            <a:r>
              <a:rPr sz="3800" spc="-25" dirty="0">
                <a:latin typeface="Tahoma"/>
                <a:cs typeface="Tahoma"/>
              </a:rPr>
              <a:t>and 	</a:t>
            </a:r>
            <a:r>
              <a:rPr sz="3800" spc="-90" dirty="0">
                <a:latin typeface="Tahoma"/>
                <a:cs typeface="Tahoma"/>
              </a:rPr>
              <a:t>design</a:t>
            </a:r>
            <a:r>
              <a:rPr sz="3800" spc="-11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is</a:t>
            </a:r>
            <a:r>
              <a:rPr sz="3600" spc="-4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an</a:t>
            </a:r>
            <a:r>
              <a:rPr sz="3600" spc="-4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approach</a:t>
            </a:r>
            <a:r>
              <a:rPr sz="3600" spc="-45" dirty="0">
                <a:latin typeface="Tahoma"/>
                <a:cs typeface="Tahoma"/>
              </a:rPr>
              <a:t> </a:t>
            </a:r>
            <a:r>
              <a:rPr sz="3600" spc="-20" dirty="0">
                <a:latin typeface="Tahoma"/>
                <a:cs typeface="Tahoma"/>
              </a:rPr>
              <a:t>that</a:t>
            </a:r>
            <a:r>
              <a:rPr sz="3600" dirty="0">
                <a:latin typeface="Tahoma"/>
                <a:cs typeface="Tahoma"/>
              </a:rPr>
              <a:t>	</a:t>
            </a:r>
            <a:r>
              <a:rPr sz="3600" spc="-25" dirty="0">
                <a:latin typeface="Tahoma"/>
                <a:cs typeface="Tahoma"/>
              </a:rPr>
              <a:t>is 	</a:t>
            </a:r>
            <a:r>
              <a:rPr sz="3600" dirty="0">
                <a:latin typeface="Tahoma"/>
                <a:cs typeface="Tahoma"/>
              </a:rPr>
              <a:t>intended</a:t>
            </a:r>
            <a:r>
              <a:rPr sz="3600" spc="-6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to</a:t>
            </a:r>
            <a:r>
              <a:rPr sz="3600" spc="-80" dirty="0">
                <a:latin typeface="Tahoma"/>
                <a:cs typeface="Tahoma"/>
              </a:rPr>
              <a:t> </a:t>
            </a:r>
            <a:r>
              <a:rPr sz="36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facilitate</a:t>
            </a:r>
            <a:r>
              <a:rPr sz="3600" u="sng" spc="-7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3600" u="sng" spc="-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the</a:t>
            </a:r>
            <a:r>
              <a:rPr sz="3600" spc="-25" dirty="0">
                <a:latin typeface="Tahoma"/>
                <a:cs typeface="Tahoma"/>
              </a:rPr>
              <a:t> 	</a:t>
            </a:r>
            <a:r>
              <a:rPr sz="36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development</a:t>
            </a:r>
            <a:r>
              <a:rPr sz="3600" u="sng" spc="-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36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of</a:t>
            </a:r>
            <a:r>
              <a:rPr sz="3600" u="sng" spc="-4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36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systems</a:t>
            </a:r>
            <a:r>
              <a:rPr sz="3600" u="sng" spc="-1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that</a:t>
            </a:r>
            <a:r>
              <a:rPr sz="3600" spc="-40" dirty="0">
                <a:latin typeface="Tahoma"/>
                <a:cs typeface="Tahoma"/>
              </a:rPr>
              <a:t> </a:t>
            </a:r>
            <a:r>
              <a:rPr sz="3600" b="1" spc="-20" dirty="0">
                <a:latin typeface="Tahoma"/>
                <a:cs typeface="Tahoma"/>
              </a:rPr>
              <a:t>must 	</a:t>
            </a:r>
            <a:r>
              <a:rPr sz="3600" b="1" dirty="0">
                <a:latin typeface="Tahoma"/>
                <a:cs typeface="Tahoma"/>
              </a:rPr>
              <a:t>change</a:t>
            </a:r>
            <a:r>
              <a:rPr sz="3600" b="1" spc="-70" dirty="0">
                <a:latin typeface="Tahoma"/>
                <a:cs typeface="Tahoma"/>
              </a:rPr>
              <a:t> </a:t>
            </a:r>
            <a:r>
              <a:rPr sz="3600" b="1" dirty="0">
                <a:latin typeface="Tahoma"/>
                <a:cs typeface="Tahoma"/>
              </a:rPr>
              <a:t>rapidly </a:t>
            </a:r>
            <a:r>
              <a:rPr sz="3600" dirty="0">
                <a:latin typeface="Tahoma"/>
                <a:cs typeface="Tahoma"/>
              </a:rPr>
              <a:t>in</a:t>
            </a:r>
            <a:r>
              <a:rPr sz="3600" spc="-40" dirty="0">
                <a:latin typeface="Tahoma"/>
                <a:cs typeface="Tahoma"/>
              </a:rPr>
              <a:t> </a:t>
            </a:r>
            <a:r>
              <a:rPr sz="3800" spc="-100" dirty="0">
                <a:latin typeface="Tahoma"/>
                <a:cs typeface="Tahoma"/>
              </a:rPr>
              <a:t>response</a:t>
            </a:r>
            <a:r>
              <a:rPr sz="3800" spc="-95" dirty="0">
                <a:latin typeface="Tahoma"/>
                <a:cs typeface="Tahoma"/>
              </a:rPr>
              <a:t> </a:t>
            </a:r>
            <a:r>
              <a:rPr sz="3800" spc="-25" dirty="0">
                <a:latin typeface="Tahoma"/>
                <a:cs typeface="Tahoma"/>
              </a:rPr>
              <a:t>to 	</a:t>
            </a:r>
            <a:r>
              <a:rPr sz="3800" spc="-110" dirty="0">
                <a:latin typeface="Tahoma"/>
                <a:cs typeface="Tahoma"/>
              </a:rPr>
              <a:t>dynamic</a:t>
            </a:r>
            <a:r>
              <a:rPr sz="3800" spc="-165" dirty="0">
                <a:latin typeface="Tahoma"/>
                <a:cs typeface="Tahoma"/>
              </a:rPr>
              <a:t> </a:t>
            </a:r>
            <a:r>
              <a:rPr sz="3800" spc="-100" dirty="0">
                <a:latin typeface="Tahoma"/>
                <a:cs typeface="Tahoma"/>
              </a:rPr>
              <a:t>business</a:t>
            </a:r>
            <a:r>
              <a:rPr sz="3800" spc="-135" dirty="0">
                <a:latin typeface="Tahoma"/>
                <a:cs typeface="Tahoma"/>
              </a:rPr>
              <a:t> </a:t>
            </a:r>
            <a:r>
              <a:rPr sz="3800" spc="-10" dirty="0">
                <a:latin typeface="Tahoma"/>
                <a:cs typeface="Tahoma"/>
              </a:rPr>
              <a:t>environments</a:t>
            </a:r>
            <a:r>
              <a:rPr sz="3600" spc="-10" dirty="0">
                <a:latin typeface="Tahoma"/>
                <a:cs typeface="Tahoma"/>
              </a:rPr>
              <a:t>.</a:t>
            </a:r>
            <a:endParaRPr sz="36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30945" y="6572137"/>
            <a:ext cx="276860" cy="178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1-</a:t>
            </a:r>
            <a:r>
              <a:rPr sz="1000" spc="-35" dirty="0">
                <a:latin typeface="Tahoma"/>
                <a:cs typeface="Tahoma"/>
              </a:rPr>
              <a:t>68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83540" y="411226"/>
            <a:ext cx="8359775" cy="5885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02610" marR="5080" indent="-296672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DF1738"/>
                </a:solidFill>
                <a:latin typeface="Tahoma"/>
                <a:cs typeface="Tahoma"/>
              </a:rPr>
              <a:t>Object-Oriented</a:t>
            </a:r>
            <a:r>
              <a:rPr sz="3200" b="1" spc="-15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DF1738"/>
                </a:solidFill>
                <a:latin typeface="Tahoma"/>
                <a:cs typeface="Tahoma"/>
              </a:rPr>
              <a:t>(O-</a:t>
            </a:r>
            <a:r>
              <a:rPr sz="3200" b="1" dirty="0">
                <a:solidFill>
                  <a:srgbClr val="DF1738"/>
                </a:solidFill>
                <a:latin typeface="Tahoma"/>
                <a:cs typeface="Tahoma"/>
              </a:rPr>
              <a:t>O)</a:t>
            </a:r>
            <a:r>
              <a:rPr sz="3200" b="1" spc="-55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DF1738"/>
                </a:solidFill>
                <a:latin typeface="Tahoma"/>
                <a:cs typeface="Tahoma"/>
              </a:rPr>
              <a:t>Systems</a:t>
            </a:r>
            <a:r>
              <a:rPr sz="3200" b="1" spc="-35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DF1738"/>
                </a:solidFill>
                <a:latin typeface="Tahoma"/>
                <a:cs typeface="Tahoma"/>
              </a:rPr>
              <a:t>Analysis </a:t>
            </a:r>
            <a:r>
              <a:rPr sz="3200" b="1" dirty="0">
                <a:solidFill>
                  <a:srgbClr val="DF1738"/>
                </a:solidFill>
                <a:latin typeface="Tahoma"/>
                <a:cs typeface="Tahoma"/>
              </a:rPr>
              <a:t>and</a:t>
            </a:r>
            <a:r>
              <a:rPr sz="3200" b="1" spc="-25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DF1738"/>
                </a:solidFill>
                <a:latin typeface="Tahoma"/>
                <a:cs typeface="Tahoma"/>
              </a:rPr>
              <a:t>Design</a:t>
            </a:r>
            <a:endParaRPr sz="3200" dirty="0">
              <a:latin typeface="Tahoma"/>
              <a:cs typeface="Tahoma"/>
            </a:endParaRPr>
          </a:p>
          <a:p>
            <a:pPr marL="355600" marR="680720" indent="-342900">
              <a:lnSpc>
                <a:spcPct val="100000"/>
              </a:lnSpc>
              <a:spcBef>
                <a:spcPts val="312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It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works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well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situations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which </a:t>
            </a:r>
            <a:r>
              <a:rPr sz="3200" dirty="0">
                <a:latin typeface="Tahoma"/>
                <a:cs typeface="Tahoma"/>
              </a:rPr>
              <a:t>complicated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information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systems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are </a:t>
            </a:r>
            <a:r>
              <a:rPr sz="3200" dirty="0">
                <a:latin typeface="Tahoma"/>
                <a:cs typeface="Tahoma"/>
              </a:rPr>
              <a:t>undergoing</a:t>
            </a:r>
            <a:r>
              <a:rPr sz="3200" spc="-105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continuous</a:t>
            </a:r>
            <a:r>
              <a:rPr sz="3200" b="1" spc="-130" dirty="0">
                <a:latin typeface="Tahoma"/>
                <a:cs typeface="Tahoma"/>
              </a:rPr>
              <a:t> </a:t>
            </a:r>
            <a:r>
              <a:rPr sz="3200" b="1" spc="-10" dirty="0">
                <a:latin typeface="Tahoma"/>
                <a:cs typeface="Tahoma"/>
              </a:rPr>
              <a:t>maintenance, </a:t>
            </a:r>
            <a:r>
              <a:rPr sz="3200" b="1" dirty="0">
                <a:latin typeface="Tahoma"/>
                <a:cs typeface="Tahoma"/>
              </a:rPr>
              <a:t>adaptation,</a:t>
            </a:r>
            <a:r>
              <a:rPr sz="3200" b="1" spc="-90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and</a:t>
            </a:r>
            <a:r>
              <a:rPr sz="3200" b="1" spc="-30" dirty="0">
                <a:latin typeface="Tahoma"/>
                <a:cs typeface="Tahoma"/>
              </a:rPr>
              <a:t> </a:t>
            </a:r>
            <a:r>
              <a:rPr sz="3200" b="1" spc="-10" dirty="0">
                <a:latin typeface="Tahoma"/>
                <a:cs typeface="Tahoma"/>
              </a:rPr>
              <a:t>redesign</a:t>
            </a:r>
            <a:r>
              <a:rPr sz="3200" spc="-1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355600" marR="6985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</a:tabLst>
            </a:pPr>
            <a:r>
              <a:rPr sz="3200" spc="-10" dirty="0">
                <a:latin typeface="Tahoma"/>
                <a:cs typeface="Tahoma"/>
              </a:rPr>
              <a:t>Object-</a:t>
            </a:r>
            <a:r>
              <a:rPr sz="3200" dirty="0">
                <a:latin typeface="Tahoma"/>
                <a:cs typeface="Tahoma"/>
              </a:rPr>
              <a:t>oriented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approaches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use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industry </a:t>
            </a:r>
            <a:r>
              <a:rPr sz="3200" dirty="0">
                <a:latin typeface="Tahoma"/>
                <a:cs typeface="Tahoma"/>
              </a:rPr>
              <a:t>standard for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modeling</a:t>
            </a:r>
            <a:r>
              <a:rPr sz="3200" b="1" spc="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object-oriented </a:t>
            </a:r>
            <a:r>
              <a:rPr sz="3200" dirty="0">
                <a:latin typeface="Tahoma"/>
                <a:cs typeface="Tahoma"/>
              </a:rPr>
              <a:t>systems,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called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unified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modeling </a:t>
            </a:r>
            <a:r>
              <a:rPr sz="3200" dirty="0">
                <a:latin typeface="Tahoma"/>
                <a:cs typeface="Tahoma"/>
              </a:rPr>
              <a:t>language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(</a:t>
            </a:r>
            <a:r>
              <a:rPr sz="3200" b="1" dirty="0">
                <a:latin typeface="Tahoma"/>
                <a:cs typeface="Tahoma"/>
              </a:rPr>
              <a:t>UML</a:t>
            </a:r>
            <a:r>
              <a:rPr sz="3200" dirty="0">
                <a:latin typeface="Tahoma"/>
                <a:cs typeface="Tahoma"/>
              </a:rPr>
              <a:t>),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break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down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system </a:t>
            </a:r>
            <a:r>
              <a:rPr sz="3200" dirty="0">
                <a:latin typeface="Tahoma"/>
                <a:cs typeface="Tahoma"/>
              </a:rPr>
              <a:t>into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use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case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model.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8FC89-B95F-C281-1C23-6058668C3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25" y="411226"/>
            <a:ext cx="8308949" cy="1354217"/>
          </a:xfrm>
        </p:spPr>
        <p:txBody>
          <a:bodyPr/>
          <a:lstStyle/>
          <a:p>
            <a:r>
              <a:rPr lang="en-US" b="1" dirty="0"/>
              <a:t>Object-Oriented</a:t>
            </a:r>
            <a:r>
              <a:rPr lang="en-US" b="1" spc="-20" dirty="0"/>
              <a:t> </a:t>
            </a:r>
            <a:r>
              <a:rPr lang="en-US" b="1" spc="-10" dirty="0"/>
              <a:t>(O-</a:t>
            </a:r>
            <a:r>
              <a:rPr lang="en-US" b="1" dirty="0"/>
              <a:t>O)</a:t>
            </a:r>
            <a:r>
              <a:rPr lang="en-US" b="1" spc="-65" dirty="0"/>
              <a:t> </a:t>
            </a:r>
            <a:r>
              <a:rPr lang="en-US" b="1" spc="-10" dirty="0"/>
              <a:t>Systems </a:t>
            </a:r>
            <a:r>
              <a:rPr lang="en-US" b="1" dirty="0"/>
              <a:t>Analysis</a:t>
            </a:r>
            <a:r>
              <a:rPr lang="en-US" b="1" spc="-55" dirty="0"/>
              <a:t> </a:t>
            </a:r>
            <a:r>
              <a:rPr lang="en-US" b="1" dirty="0"/>
              <a:t>and</a:t>
            </a:r>
            <a:r>
              <a:rPr lang="en-US" b="1" spc="-15" dirty="0"/>
              <a:t> </a:t>
            </a:r>
            <a:r>
              <a:rPr lang="en-US" b="1" spc="-10" dirty="0"/>
              <a:t>Design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E71B5-F4CE-259B-B31F-A99D2B340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953659"/>
            <a:ext cx="8220075" cy="4924425"/>
          </a:xfrm>
        </p:spPr>
        <p:txBody>
          <a:bodyPr/>
          <a:lstStyle/>
          <a:p>
            <a:r>
              <a:rPr lang="en-US" b="1" dirty="0"/>
              <a:t>Object-Oriented Systems Analysis and Design (OOAD)</a:t>
            </a:r>
            <a:r>
              <a:rPr lang="en-US" dirty="0"/>
              <a:t> is a methodology for designing and analyzing systems that are based on </a:t>
            </a:r>
            <a:r>
              <a:rPr lang="en-US" b="1" dirty="0"/>
              <a:t>object-oriented principles</a:t>
            </a:r>
            <a:r>
              <a:rPr lang="en-US" dirty="0"/>
              <a:t>. In OOAD, the focus is on </a:t>
            </a:r>
            <a:r>
              <a:rPr lang="en-US" b="1" dirty="0"/>
              <a:t>objects</a:t>
            </a:r>
            <a:r>
              <a:rPr lang="en-US" dirty="0"/>
              <a:t> and their interactions rather than traditional data flow or functional decomposition. It uses </a:t>
            </a:r>
            <a:r>
              <a:rPr lang="en-US" b="1" dirty="0"/>
              <a:t>classes</a:t>
            </a:r>
            <a:r>
              <a:rPr lang="en-US" dirty="0"/>
              <a:t>, </a:t>
            </a:r>
            <a:r>
              <a:rPr lang="en-US" b="1" dirty="0"/>
              <a:t>objects</a:t>
            </a:r>
            <a:r>
              <a:rPr lang="en-US" dirty="0"/>
              <a:t>, </a:t>
            </a:r>
            <a:r>
              <a:rPr lang="en-US" b="1" dirty="0"/>
              <a:t>inheritance</a:t>
            </a:r>
            <a:r>
              <a:rPr lang="en-US" dirty="0"/>
              <a:t>, </a:t>
            </a:r>
            <a:r>
              <a:rPr lang="en-US" b="1" dirty="0"/>
              <a:t>polymorphism</a:t>
            </a:r>
            <a:r>
              <a:rPr lang="en-US" dirty="0"/>
              <a:t>, </a:t>
            </a:r>
            <a:r>
              <a:rPr lang="en-US" b="1" dirty="0"/>
              <a:t>encapsulation</a:t>
            </a:r>
            <a:r>
              <a:rPr lang="en-US" dirty="0"/>
              <a:t>, and </a:t>
            </a:r>
            <a:r>
              <a:rPr lang="en-US" b="1" dirty="0"/>
              <a:t>abstraction</a:t>
            </a:r>
            <a:r>
              <a:rPr lang="en-US" dirty="0"/>
              <a:t> as core concepts.</a:t>
            </a:r>
          </a:p>
        </p:txBody>
      </p:sp>
    </p:spTree>
    <p:extLst>
      <p:ext uri="{BB962C8B-B14F-4D97-AF65-F5344CB8AC3E}">
        <p14:creationId xmlns:p14="http://schemas.microsoft.com/office/powerpoint/2010/main" val="40981852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69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9644" y="411226"/>
            <a:ext cx="7643495" cy="60534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800" b="1" spc="-10" dirty="0">
                <a:solidFill>
                  <a:srgbClr val="DF1738"/>
                </a:solidFill>
                <a:latin typeface="Tahoma"/>
                <a:cs typeface="Tahoma"/>
              </a:rPr>
              <a:t>Object-</a:t>
            </a:r>
            <a:r>
              <a:rPr sz="3800" b="1" dirty="0">
                <a:solidFill>
                  <a:srgbClr val="DF1738"/>
                </a:solidFill>
                <a:latin typeface="Tahoma"/>
                <a:cs typeface="Tahoma"/>
              </a:rPr>
              <a:t>Oriented</a:t>
            </a:r>
            <a:r>
              <a:rPr sz="3800" b="1" spc="-25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3800" b="1" dirty="0">
                <a:solidFill>
                  <a:srgbClr val="DF1738"/>
                </a:solidFill>
                <a:latin typeface="Tahoma"/>
                <a:cs typeface="Tahoma"/>
              </a:rPr>
              <a:t>(O-O)</a:t>
            </a:r>
            <a:r>
              <a:rPr sz="3800" b="1" spc="1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3800" b="1" spc="-10" dirty="0">
                <a:solidFill>
                  <a:srgbClr val="DF1738"/>
                </a:solidFill>
                <a:latin typeface="Tahoma"/>
                <a:cs typeface="Tahoma"/>
              </a:rPr>
              <a:t>Systems </a:t>
            </a:r>
            <a:r>
              <a:rPr sz="3800" b="1" dirty="0">
                <a:solidFill>
                  <a:srgbClr val="DF1738"/>
                </a:solidFill>
                <a:latin typeface="Tahoma"/>
                <a:cs typeface="Tahoma"/>
              </a:rPr>
              <a:t>Analysis</a:t>
            </a:r>
            <a:r>
              <a:rPr sz="3800" b="1" spc="-3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3800" b="1" dirty="0">
                <a:solidFill>
                  <a:srgbClr val="DF1738"/>
                </a:solidFill>
                <a:latin typeface="Tahoma"/>
                <a:cs typeface="Tahoma"/>
              </a:rPr>
              <a:t>and</a:t>
            </a:r>
            <a:r>
              <a:rPr sz="3800" b="1" spc="-20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3800" b="1" spc="-10" dirty="0">
                <a:solidFill>
                  <a:srgbClr val="DF1738"/>
                </a:solidFill>
                <a:latin typeface="Tahoma"/>
                <a:cs typeface="Tahoma"/>
              </a:rPr>
              <a:t>Design</a:t>
            </a:r>
            <a:endParaRPr sz="3800" dirty="0">
              <a:latin typeface="Tahoma"/>
              <a:cs typeface="Tahoma"/>
            </a:endParaRPr>
          </a:p>
          <a:p>
            <a:pPr marL="547370" marR="422909" indent="-342900">
              <a:lnSpc>
                <a:spcPct val="100000"/>
              </a:lnSpc>
              <a:spcBef>
                <a:spcPts val="3770"/>
              </a:spcBef>
              <a:buChar char="•"/>
              <a:tabLst>
                <a:tab pos="547370" algn="l"/>
                <a:tab pos="5337810" algn="l"/>
                <a:tab pos="6216650" algn="l"/>
              </a:tabLst>
            </a:pPr>
            <a:r>
              <a:rPr sz="4000" dirty="0">
                <a:latin typeface="Tahoma"/>
                <a:cs typeface="Tahoma"/>
              </a:rPr>
              <a:t>The</a:t>
            </a:r>
            <a:r>
              <a:rPr sz="4000" spc="-105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cycle</a:t>
            </a:r>
            <a:r>
              <a:rPr sz="4000" b="1" spc="-80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repeats</a:t>
            </a:r>
            <a:r>
              <a:rPr sz="4000" b="1" spc="-75" dirty="0">
                <a:latin typeface="Tahoma"/>
                <a:cs typeface="Tahoma"/>
              </a:rPr>
              <a:t> </a:t>
            </a:r>
            <a:r>
              <a:rPr sz="4000" spc="-20" dirty="0">
                <a:latin typeface="Tahoma"/>
                <a:cs typeface="Tahoma"/>
              </a:rPr>
              <a:t>with </a:t>
            </a:r>
            <a:r>
              <a:rPr sz="4000" b="1" dirty="0">
                <a:latin typeface="Tahoma"/>
                <a:cs typeface="Tahoma"/>
              </a:rPr>
              <a:t>analysis,</a:t>
            </a:r>
            <a:r>
              <a:rPr sz="4000" b="1" spc="-125" dirty="0">
                <a:latin typeface="Tahoma"/>
                <a:cs typeface="Tahoma"/>
              </a:rPr>
              <a:t> </a:t>
            </a:r>
            <a:r>
              <a:rPr sz="4000" b="1" dirty="0">
                <a:latin typeface="Tahoma"/>
                <a:cs typeface="Tahoma"/>
              </a:rPr>
              <a:t>design,</a:t>
            </a:r>
            <a:r>
              <a:rPr sz="4000" b="1" spc="-155" dirty="0">
                <a:latin typeface="Tahoma"/>
                <a:cs typeface="Tahoma"/>
              </a:rPr>
              <a:t> </a:t>
            </a:r>
            <a:r>
              <a:rPr sz="4000" b="1" spc="-25" dirty="0">
                <a:latin typeface="Tahoma"/>
                <a:cs typeface="Tahoma"/>
              </a:rPr>
              <a:t>and </a:t>
            </a:r>
            <a:r>
              <a:rPr sz="4000" b="1" spc="-10" dirty="0">
                <a:latin typeface="Tahoma"/>
                <a:cs typeface="Tahoma"/>
              </a:rPr>
              <a:t>implementation</a:t>
            </a:r>
            <a:r>
              <a:rPr sz="4000" b="1" spc="-165" dirty="0">
                <a:latin typeface="Tahoma"/>
                <a:cs typeface="Tahoma"/>
              </a:rPr>
              <a:t> </a:t>
            </a:r>
            <a:r>
              <a:rPr sz="4000" spc="-25" dirty="0">
                <a:latin typeface="Tahoma"/>
                <a:cs typeface="Tahoma"/>
              </a:rPr>
              <a:t>of</a:t>
            </a:r>
            <a:r>
              <a:rPr sz="4000" dirty="0">
                <a:latin typeface="Tahoma"/>
                <a:cs typeface="Tahoma"/>
              </a:rPr>
              <a:t>	</a:t>
            </a:r>
            <a:r>
              <a:rPr sz="4000" spc="-25" dirty="0">
                <a:latin typeface="Tahoma"/>
                <a:cs typeface="Tahoma"/>
              </a:rPr>
              <a:t>the</a:t>
            </a:r>
            <a:r>
              <a:rPr sz="4000" dirty="0">
                <a:latin typeface="Tahoma"/>
                <a:cs typeface="Tahoma"/>
              </a:rPr>
              <a:t>	</a:t>
            </a:r>
            <a:r>
              <a:rPr sz="4000" spc="-20" dirty="0">
                <a:latin typeface="Tahoma"/>
                <a:cs typeface="Tahoma"/>
              </a:rPr>
              <a:t>next </a:t>
            </a:r>
            <a:r>
              <a:rPr sz="4000" dirty="0">
                <a:latin typeface="Tahoma"/>
                <a:cs typeface="Tahoma"/>
              </a:rPr>
              <a:t>part</a:t>
            </a:r>
            <a:r>
              <a:rPr sz="4000" spc="-75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and</a:t>
            </a:r>
            <a:r>
              <a:rPr sz="4000" spc="-70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this</a:t>
            </a:r>
            <a:r>
              <a:rPr sz="4000" spc="-75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repeats</a:t>
            </a:r>
            <a:r>
              <a:rPr sz="4000" spc="-70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until</a:t>
            </a:r>
            <a:r>
              <a:rPr sz="4000" spc="-80" dirty="0">
                <a:latin typeface="Tahoma"/>
                <a:cs typeface="Tahoma"/>
              </a:rPr>
              <a:t> </a:t>
            </a:r>
            <a:r>
              <a:rPr sz="4000" spc="-25" dirty="0">
                <a:latin typeface="Tahoma"/>
                <a:cs typeface="Tahoma"/>
              </a:rPr>
              <a:t>the </a:t>
            </a:r>
            <a:r>
              <a:rPr sz="4000" dirty="0">
                <a:latin typeface="Tahoma"/>
                <a:cs typeface="Tahoma"/>
              </a:rPr>
              <a:t>project</a:t>
            </a:r>
            <a:r>
              <a:rPr sz="4000" spc="-90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is</a:t>
            </a:r>
            <a:r>
              <a:rPr sz="4000" spc="-95" dirty="0">
                <a:latin typeface="Tahoma"/>
                <a:cs typeface="Tahoma"/>
              </a:rPr>
              <a:t> </a:t>
            </a:r>
            <a:r>
              <a:rPr sz="4000" spc="-10" dirty="0">
                <a:latin typeface="Tahoma"/>
                <a:cs typeface="Tahoma"/>
              </a:rPr>
              <a:t>complete</a:t>
            </a:r>
            <a:endParaRPr sz="4000" dirty="0">
              <a:latin typeface="Tahoma"/>
              <a:cs typeface="Tahoma"/>
            </a:endParaRPr>
          </a:p>
          <a:p>
            <a:pPr marL="547370" marR="1311910" indent="-342900">
              <a:lnSpc>
                <a:spcPct val="100000"/>
              </a:lnSpc>
              <a:spcBef>
                <a:spcPts val="965"/>
              </a:spcBef>
              <a:buChar char="•"/>
              <a:tabLst>
                <a:tab pos="547370" algn="l"/>
              </a:tabLst>
            </a:pPr>
            <a:r>
              <a:rPr sz="4000" dirty="0">
                <a:latin typeface="Tahoma"/>
                <a:cs typeface="Tahoma"/>
              </a:rPr>
              <a:t>Examines</a:t>
            </a:r>
            <a:r>
              <a:rPr sz="4000" spc="-95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the</a:t>
            </a:r>
            <a:r>
              <a:rPr sz="4000" spc="-105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objects</a:t>
            </a:r>
            <a:r>
              <a:rPr sz="4000" spc="-105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of</a:t>
            </a:r>
            <a:r>
              <a:rPr sz="4000" spc="-105" dirty="0">
                <a:latin typeface="Tahoma"/>
                <a:cs typeface="Tahoma"/>
              </a:rPr>
              <a:t> </a:t>
            </a:r>
            <a:r>
              <a:rPr sz="4000" spc="-50" dirty="0">
                <a:latin typeface="Tahoma"/>
                <a:cs typeface="Tahoma"/>
              </a:rPr>
              <a:t>a </a:t>
            </a:r>
            <a:r>
              <a:rPr sz="4000" spc="-10" dirty="0">
                <a:latin typeface="Tahoma"/>
                <a:cs typeface="Tahoma"/>
              </a:rPr>
              <a:t>system</a:t>
            </a:r>
            <a:endParaRPr sz="40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B804-5727-CD51-0F77-447803D7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25" y="411226"/>
            <a:ext cx="8308949" cy="2031325"/>
          </a:xfrm>
        </p:spPr>
        <p:txBody>
          <a:bodyPr/>
          <a:lstStyle/>
          <a:p>
            <a:r>
              <a:rPr lang="en-US" b="1" spc="-10" dirty="0"/>
              <a:t>Object-</a:t>
            </a:r>
            <a:r>
              <a:rPr lang="en-US" b="1" dirty="0"/>
              <a:t>Oriented</a:t>
            </a:r>
            <a:r>
              <a:rPr lang="en-US" b="1" spc="-25" dirty="0"/>
              <a:t> </a:t>
            </a:r>
            <a:r>
              <a:rPr lang="en-US" b="1" dirty="0"/>
              <a:t>(O-O)</a:t>
            </a:r>
            <a:r>
              <a:rPr lang="en-US" b="1" spc="10" dirty="0"/>
              <a:t> </a:t>
            </a:r>
            <a:r>
              <a:rPr lang="en-US" b="1" spc="-10" dirty="0"/>
              <a:t>Systems </a:t>
            </a:r>
            <a:r>
              <a:rPr lang="en-US" b="1" dirty="0"/>
              <a:t>Analysis</a:t>
            </a:r>
            <a:r>
              <a:rPr lang="en-US" b="1" spc="-30" dirty="0"/>
              <a:t> </a:t>
            </a:r>
            <a:r>
              <a:rPr lang="en-US" b="1" dirty="0"/>
              <a:t>and</a:t>
            </a:r>
            <a:r>
              <a:rPr lang="en-US" b="1" spc="-20" dirty="0"/>
              <a:t> </a:t>
            </a:r>
            <a:r>
              <a:rPr lang="en-US" b="1" spc="-10" dirty="0"/>
              <a:t>Design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628240-979A-0FAA-EC42-20EBEE0D7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5940" y="1725369"/>
            <a:ext cx="784605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 dirty="0"/>
              <a:t>Iterative Development Process</a:t>
            </a:r>
            <a:r>
              <a:rPr lang="en-US" sz="2400" dirty="0"/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Object-oriented methodologies often focus on small, quick iterations of development, often called the </a:t>
            </a:r>
            <a:r>
              <a:rPr lang="en-US" sz="2400" b="1" dirty="0"/>
              <a:t>spiral model</a:t>
            </a:r>
            <a:r>
              <a:rPr lang="en-US" sz="24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Analysis is performed on a small part of the system, typically starting with high-priority items or those with the greatest risk.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Followed by design and implementation, the cycle is repeated with analysis, design, and implementation until the project is completed.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Reworking diagrams and components is normal in this iterative process.</a:t>
            </a:r>
          </a:p>
        </p:txBody>
      </p:sp>
    </p:spTree>
    <p:extLst>
      <p:ext uri="{BB962C8B-B14F-4D97-AF65-F5344CB8AC3E}">
        <p14:creationId xmlns:p14="http://schemas.microsoft.com/office/powerpoint/2010/main" val="344288842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2678" y="651646"/>
            <a:ext cx="5969619" cy="56775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71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70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16939" y="411226"/>
            <a:ext cx="7378065" cy="63328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0" marR="26035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DF1738"/>
                </a:solidFill>
                <a:latin typeface="Tahoma"/>
                <a:cs typeface="Tahoma"/>
              </a:rPr>
              <a:t>Unified</a:t>
            </a:r>
            <a:r>
              <a:rPr sz="3200" b="1" spc="-45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DF1738"/>
                </a:solidFill>
                <a:latin typeface="Tahoma"/>
                <a:cs typeface="Tahoma"/>
              </a:rPr>
              <a:t>Modeling</a:t>
            </a:r>
            <a:r>
              <a:rPr sz="3200" b="1" spc="-25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DF1738"/>
                </a:solidFill>
                <a:latin typeface="Tahoma"/>
                <a:cs typeface="Tahoma"/>
              </a:rPr>
              <a:t>Language</a:t>
            </a:r>
            <a:r>
              <a:rPr sz="3200" b="1" spc="-25" dirty="0">
                <a:solidFill>
                  <a:srgbClr val="DF1738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DF1738"/>
                </a:solidFill>
                <a:latin typeface="Tahoma"/>
                <a:cs typeface="Tahoma"/>
              </a:rPr>
              <a:t>(UML) Phases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2515"/>
              </a:spcBef>
              <a:buChar char="•"/>
              <a:tabLst>
                <a:tab pos="354965" algn="l"/>
              </a:tabLst>
            </a:pPr>
            <a:r>
              <a:rPr sz="3600" dirty="0">
                <a:latin typeface="Tahoma"/>
                <a:cs typeface="Tahoma"/>
              </a:rPr>
              <a:t>Define</a:t>
            </a:r>
            <a:r>
              <a:rPr sz="3600" spc="-7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the</a:t>
            </a:r>
            <a:r>
              <a:rPr sz="3600" spc="-7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use</a:t>
            </a:r>
            <a:r>
              <a:rPr sz="3600" spc="-7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case</a:t>
            </a:r>
            <a:r>
              <a:rPr sz="3600" spc="-6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model:</a:t>
            </a:r>
            <a:endParaRPr sz="36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775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3200" dirty="0">
                <a:latin typeface="Tahoma"/>
                <a:cs typeface="Tahoma"/>
              </a:rPr>
              <a:t>Use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case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diagram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765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3200" dirty="0">
                <a:latin typeface="Tahoma"/>
                <a:cs typeface="Tahoma"/>
              </a:rPr>
              <a:t>Use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case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scenarios</a:t>
            </a:r>
            <a:endParaRPr sz="32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65"/>
              </a:spcBef>
              <a:buChar char="•"/>
              <a:tabLst>
                <a:tab pos="355600" algn="l"/>
              </a:tabLst>
            </a:pPr>
            <a:r>
              <a:rPr sz="3600" dirty="0">
                <a:latin typeface="Tahoma"/>
                <a:cs typeface="Tahoma"/>
              </a:rPr>
              <a:t>Create</a:t>
            </a:r>
            <a:r>
              <a:rPr sz="3600" spc="-6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UML</a:t>
            </a:r>
            <a:r>
              <a:rPr sz="3600" spc="-6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diagrams</a:t>
            </a:r>
            <a:endParaRPr sz="36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60"/>
              </a:spcBef>
              <a:buChar char="•"/>
              <a:tabLst>
                <a:tab pos="355600" algn="l"/>
              </a:tabLst>
            </a:pPr>
            <a:r>
              <a:rPr sz="3600" dirty="0">
                <a:latin typeface="Tahoma"/>
                <a:cs typeface="Tahoma"/>
              </a:rPr>
              <a:t>Develop</a:t>
            </a:r>
            <a:r>
              <a:rPr sz="3600" spc="-6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class</a:t>
            </a:r>
            <a:r>
              <a:rPr sz="3600" spc="-4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diagrams</a:t>
            </a:r>
            <a:endParaRPr sz="3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865"/>
              </a:spcBef>
              <a:buChar char="•"/>
              <a:tabLst>
                <a:tab pos="354965" algn="l"/>
              </a:tabLst>
            </a:pPr>
            <a:r>
              <a:rPr sz="3600" dirty="0">
                <a:latin typeface="Tahoma"/>
                <a:cs typeface="Tahoma"/>
              </a:rPr>
              <a:t>Draw</a:t>
            </a:r>
            <a:r>
              <a:rPr sz="3600" spc="-7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statechart</a:t>
            </a:r>
            <a:r>
              <a:rPr sz="3600" spc="-50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diagrams</a:t>
            </a:r>
            <a:endParaRPr sz="36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70"/>
              </a:spcBef>
              <a:buChar char="•"/>
              <a:tabLst>
                <a:tab pos="355600" algn="l"/>
              </a:tabLst>
            </a:pPr>
            <a:r>
              <a:rPr sz="3600" dirty="0">
                <a:latin typeface="Tahoma"/>
                <a:cs typeface="Tahoma"/>
              </a:rPr>
              <a:t>Modify</a:t>
            </a:r>
            <a:r>
              <a:rPr sz="3600" spc="-3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the</a:t>
            </a:r>
            <a:r>
              <a:rPr sz="3600" spc="-3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UML</a:t>
            </a:r>
            <a:r>
              <a:rPr sz="3600" spc="-30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diagrams</a:t>
            </a:r>
            <a:endParaRPr sz="3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860"/>
              </a:spcBef>
              <a:buChar char="•"/>
              <a:tabLst>
                <a:tab pos="354965" algn="l"/>
              </a:tabLst>
            </a:pPr>
            <a:r>
              <a:rPr sz="3600" dirty="0">
                <a:latin typeface="Tahoma"/>
                <a:cs typeface="Tahoma"/>
              </a:rPr>
              <a:t>Develop</a:t>
            </a:r>
            <a:r>
              <a:rPr sz="3600" spc="-7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and</a:t>
            </a:r>
            <a:r>
              <a:rPr sz="3600" spc="-9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document</a:t>
            </a:r>
            <a:r>
              <a:rPr sz="3600" spc="-7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the</a:t>
            </a:r>
            <a:r>
              <a:rPr sz="3600" spc="-6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system</a:t>
            </a:r>
            <a:endParaRPr sz="3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72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Tahoma"/>
                <a:cs typeface="Tahoma"/>
              </a:rPr>
              <a:t>Choosing</a:t>
            </a:r>
            <a:r>
              <a:rPr b="1" spc="-75" dirty="0">
                <a:latin typeface="Tahoma"/>
                <a:cs typeface="Tahoma"/>
              </a:rPr>
              <a:t> </a:t>
            </a:r>
            <a:r>
              <a:rPr b="1" dirty="0">
                <a:latin typeface="Tahoma"/>
                <a:cs typeface="Tahoma"/>
              </a:rPr>
              <a:t>a</a:t>
            </a:r>
            <a:r>
              <a:rPr b="1" spc="-25" dirty="0">
                <a:latin typeface="Tahoma"/>
                <a:cs typeface="Tahoma"/>
              </a:rPr>
              <a:t> </a:t>
            </a:r>
            <a:r>
              <a:rPr b="1" spc="-10" dirty="0">
                <a:latin typeface="Tahoma"/>
                <a:cs typeface="Tahoma"/>
              </a:rPr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1617" y="1902212"/>
            <a:ext cx="4605655" cy="398907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50"/>
              </a:spcBef>
              <a:buChar char="•"/>
              <a:tabLst>
                <a:tab pos="354965" algn="l"/>
              </a:tabLst>
            </a:pPr>
            <a:r>
              <a:rPr sz="4800" dirty="0">
                <a:latin typeface="Tahoma"/>
                <a:cs typeface="Tahoma"/>
              </a:rPr>
              <a:t>Choose</a:t>
            </a:r>
            <a:r>
              <a:rPr sz="4800" spc="-180" dirty="0">
                <a:latin typeface="Tahoma"/>
                <a:cs typeface="Tahoma"/>
              </a:rPr>
              <a:t> </a:t>
            </a:r>
            <a:r>
              <a:rPr sz="4800" spc="-10" dirty="0">
                <a:latin typeface="Tahoma"/>
                <a:cs typeface="Tahoma"/>
              </a:rPr>
              <a:t>either:</a:t>
            </a:r>
            <a:endParaRPr sz="4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1060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4400" spc="-20" dirty="0">
                <a:latin typeface="Tahoma"/>
                <a:cs typeface="Tahoma"/>
              </a:rPr>
              <a:t>SDLC</a:t>
            </a:r>
            <a:endParaRPr sz="44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1055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4400" spc="-10" dirty="0">
                <a:latin typeface="Tahoma"/>
                <a:cs typeface="Tahoma"/>
              </a:rPr>
              <a:t>Agile</a:t>
            </a:r>
            <a:endParaRPr sz="4400">
              <a:latin typeface="Tahoma"/>
              <a:cs typeface="Tahoma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106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4400" spc="-10" dirty="0">
                <a:latin typeface="Tahoma"/>
                <a:cs typeface="Tahoma"/>
              </a:rPr>
              <a:t>Object-oriented 	methodologies</a:t>
            </a:r>
            <a:endParaRPr sz="4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73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Tahoma"/>
                <a:cs typeface="Tahoma"/>
              </a:rPr>
              <a:t>When</a:t>
            </a:r>
            <a:r>
              <a:rPr b="1" spc="-30" dirty="0">
                <a:latin typeface="Tahoma"/>
                <a:cs typeface="Tahoma"/>
              </a:rPr>
              <a:t> </a:t>
            </a:r>
            <a:r>
              <a:rPr b="1" dirty="0">
                <a:latin typeface="Tahoma"/>
                <a:cs typeface="Tahoma"/>
              </a:rPr>
              <a:t>to</a:t>
            </a:r>
            <a:r>
              <a:rPr b="1" spc="-25" dirty="0">
                <a:latin typeface="Tahoma"/>
                <a:cs typeface="Tahoma"/>
              </a:rPr>
              <a:t> </a:t>
            </a:r>
            <a:r>
              <a:rPr b="1" dirty="0">
                <a:latin typeface="Tahoma"/>
                <a:cs typeface="Tahoma"/>
              </a:rPr>
              <a:t>Use</a:t>
            </a:r>
            <a:r>
              <a:rPr b="1" spc="-5" dirty="0">
                <a:latin typeface="Tahoma"/>
                <a:cs typeface="Tahoma"/>
              </a:rPr>
              <a:t> </a:t>
            </a:r>
            <a:r>
              <a:rPr b="1" spc="-20" dirty="0">
                <a:latin typeface="Tahoma"/>
                <a:cs typeface="Tahoma"/>
              </a:rPr>
              <a:t>SDLC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200657"/>
            <a:ext cx="7450455" cy="441642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855980" indent="-343535">
              <a:lnSpc>
                <a:spcPts val="3460"/>
              </a:lnSpc>
              <a:spcBef>
                <a:spcPts val="53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Systems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have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been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developed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and </a:t>
            </a:r>
            <a:r>
              <a:rPr sz="3200" dirty="0">
                <a:latin typeface="Tahoma"/>
                <a:cs typeface="Tahoma"/>
              </a:rPr>
              <a:t>documented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using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SLDC</a:t>
            </a:r>
            <a:endParaRPr sz="32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33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It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is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important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document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each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step</a:t>
            </a:r>
            <a:endParaRPr sz="3200" dirty="0">
              <a:latin typeface="Tahoma"/>
              <a:cs typeface="Tahoma"/>
            </a:endParaRPr>
          </a:p>
          <a:p>
            <a:pPr marL="355600" marR="575310" indent="-343535">
              <a:lnSpc>
                <a:spcPts val="3460"/>
              </a:lnSpc>
              <a:spcBef>
                <a:spcPts val="81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Upper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level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management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feels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more </a:t>
            </a:r>
            <a:r>
              <a:rPr sz="3200" dirty="0">
                <a:latin typeface="Tahoma"/>
                <a:cs typeface="Tahoma"/>
              </a:rPr>
              <a:t>comfortable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or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safe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using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SDLC</a:t>
            </a:r>
            <a:endParaRPr sz="3200" dirty="0">
              <a:latin typeface="Tahoma"/>
              <a:cs typeface="Tahoma"/>
            </a:endParaRPr>
          </a:p>
          <a:p>
            <a:pPr marL="355600" marR="5080" indent="-343535">
              <a:lnSpc>
                <a:spcPts val="3460"/>
              </a:lnSpc>
              <a:spcBef>
                <a:spcPts val="76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There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are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adequate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resources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and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time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complete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full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SDLC</a:t>
            </a:r>
            <a:endParaRPr sz="3200" dirty="0">
              <a:latin typeface="Tahoma"/>
              <a:cs typeface="Tahoma"/>
            </a:endParaRPr>
          </a:p>
          <a:p>
            <a:pPr marL="354330" marR="520700" indent="-342265">
              <a:lnSpc>
                <a:spcPts val="3460"/>
              </a:lnSpc>
              <a:spcBef>
                <a:spcPts val="76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Communication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how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new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systems 	</a:t>
            </a:r>
            <a:r>
              <a:rPr sz="3200" dirty="0">
                <a:latin typeface="Tahoma"/>
                <a:cs typeface="Tahoma"/>
              </a:rPr>
              <a:t>work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is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important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74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Tahoma"/>
                <a:cs typeface="Tahoma"/>
              </a:rPr>
              <a:t>When</a:t>
            </a:r>
            <a:r>
              <a:rPr b="1" spc="-30" dirty="0">
                <a:latin typeface="Tahoma"/>
                <a:cs typeface="Tahoma"/>
              </a:rPr>
              <a:t> </a:t>
            </a:r>
            <a:r>
              <a:rPr b="1" dirty="0">
                <a:latin typeface="Tahoma"/>
                <a:cs typeface="Tahoma"/>
              </a:rPr>
              <a:t>to</a:t>
            </a:r>
            <a:r>
              <a:rPr b="1" spc="-25" dirty="0">
                <a:latin typeface="Tahoma"/>
                <a:cs typeface="Tahoma"/>
              </a:rPr>
              <a:t> </a:t>
            </a:r>
            <a:r>
              <a:rPr b="1" dirty="0">
                <a:latin typeface="Tahoma"/>
                <a:cs typeface="Tahoma"/>
              </a:rPr>
              <a:t>Use</a:t>
            </a:r>
            <a:r>
              <a:rPr b="1" spc="-5" dirty="0">
                <a:latin typeface="Tahoma"/>
                <a:cs typeface="Tahoma"/>
              </a:rPr>
              <a:t> </a:t>
            </a:r>
            <a:r>
              <a:rPr b="1" spc="-10" dirty="0">
                <a:latin typeface="Tahoma"/>
                <a:cs typeface="Tahoma"/>
              </a:rPr>
              <a:t>Agile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208278"/>
            <a:ext cx="7475220" cy="463486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5080" indent="-343535">
              <a:lnSpc>
                <a:spcPts val="3020"/>
              </a:lnSpc>
              <a:spcBef>
                <a:spcPts val="480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There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is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project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champion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of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agile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methods </a:t>
            </a:r>
            <a:r>
              <a:rPr sz="2800" dirty="0">
                <a:latin typeface="Tahoma"/>
                <a:cs typeface="Tahoma"/>
              </a:rPr>
              <a:t>in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organization</a:t>
            </a:r>
            <a:endParaRPr sz="2800" dirty="0">
              <a:latin typeface="Tahoma"/>
              <a:cs typeface="Tahoma"/>
            </a:endParaRPr>
          </a:p>
          <a:p>
            <a:pPr marL="355600" marR="154305" indent="-343535">
              <a:lnSpc>
                <a:spcPts val="3020"/>
              </a:lnSpc>
              <a:spcBef>
                <a:spcPts val="680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Applications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need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be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developed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quickly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in </a:t>
            </a:r>
            <a:r>
              <a:rPr sz="2800" dirty="0">
                <a:latin typeface="Tahoma"/>
                <a:cs typeface="Tahoma"/>
              </a:rPr>
              <a:t>response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dynamic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environment</a:t>
            </a:r>
            <a:endParaRPr sz="2800" dirty="0">
              <a:latin typeface="Tahoma"/>
              <a:cs typeface="Tahoma"/>
            </a:endParaRPr>
          </a:p>
          <a:p>
            <a:pPr marL="355600" marR="285750" indent="-343535">
              <a:lnSpc>
                <a:spcPts val="3030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A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rescue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takes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place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(the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system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failed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and </a:t>
            </a:r>
            <a:r>
              <a:rPr sz="2800" dirty="0">
                <a:latin typeface="Tahoma"/>
                <a:cs typeface="Tahoma"/>
              </a:rPr>
              <a:t>there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time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figure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out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what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went </a:t>
            </a:r>
            <a:r>
              <a:rPr sz="2800" spc="-10" dirty="0">
                <a:latin typeface="Tahoma"/>
                <a:cs typeface="Tahoma"/>
              </a:rPr>
              <a:t>wrong)</a:t>
            </a:r>
            <a:endParaRPr sz="2800" dirty="0">
              <a:latin typeface="Tahoma"/>
              <a:cs typeface="Tahoma"/>
            </a:endParaRPr>
          </a:p>
          <a:p>
            <a:pPr marL="355600" marR="501650" indent="-343535">
              <a:lnSpc>
                <a:spcPts val="3020"/>
              </a:lnSpc>
              <a:spcBef>
                <a:spcPts val="660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The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customer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is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satisfied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with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incremental improvements</a:t>
            </a:r>
            <a:endParaRPr sz="2800" dirty="0">
              <a:latin typeface="Tahoma"/>
              <a:cs typeface="Tahoma"/>
            </a:endParaRPr>
          </a:p>
          <a:p>
            <a:pPr marL="355600" marR="1002665" indent="-343535">
              <a:lnSpc>
                <a:spcPts val="3030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Executives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and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analysts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agree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with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the </a:t>
            </a:r>
            <a:r>
              <a:rPr sz="2800" dirty="0">
                <a:latin typeface="Tahoma"/>
                <a:cs typeface="Tahoma"/>
              </a:rPr>
              <a:t>principles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of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agile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methodologies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75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411226"/>
            <a:ext cx="5834380" cy="1367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Tahoma"/>
                <a:cs typeface="Tahoma"/>
              </a:rPr>
              <a:t>When</a:t>
            </a:r>
            <a:r>
              <a:rPr b="1" spc="-40" dirty="0">
                <a:latin typeface="Tahoma"/>
                <a:cs typeface="Tahoma"/>
              </a:rPr>
              <a:t> </a:t>
            </a:r>
            <a:r>
              <a:rPr b="1" dirty="0">
                <a:latin typeface="Tahoma"/>
                <a:cs typeface="Tahoma"/>
              </a:rPr>
              <a:t>to</a:t>
            </a:r>
            <a:r>
              <a:rPr b="1" spc="-25" dirty="0">
                <a:latin typeface="Tahoma"/>
                <a:cs typeface="Tahoma"/>
              </a:rPr>
              <a:t> </a:t>
            </a:r>
            <a:r>
              <a:rPr b="1" dirty="0">
                <a:latin typeface="Tahoma"/>
                <a:cs typeface="Tahoma"/>
              </a:rPr>
              <a:t>Use</a:t>
            </a:r>
            <a:r>
              <a:rPr b="1" spc="-5" dirty="0">
                <a:latin typeface="Tahoma"/>
                <a:cs typeface="Tahoma"/>
              </a:rPr>
              <a:t> </a:t>
            </a:r>
            <a:r>
              <a:rPr b="1" spc="-10" dirty="0">
                <a:latin typeface="Tahoma"/>
                <a:cs typeface="Tahoma"/>
              </a:rPr>
              <a:t>Object- Oriented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1617" y="2006549"/>
            <a:ext cx="7055484" cy="38671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55600" marR="33655" indent="-342900">
              <a:lnSpc>
                <a:spcPts val="3030"/>
              </a:lnSpc>
              <a:spcBef>
                <a:spcPts val="47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The</a:t>
            </a:r>
            <a:r>
              <a:rPr sz="2800" spc="-114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problems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modeled</a:t>
            </a:r>
            <a:r>
              <a:rPr sz="2800" spc="-11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lend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themselves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to </a:t>
            </a:r>
            <a:r>
              <a:rPr sz="2800" spc="-10" dirty="0">
                <a:latin typeface="Tahoma"/>
                <a:cs typeface="Tahoma"/>
              </a:rPr>
              <a:t>classes</a:t>
            </a:r>
            <a:endParaRPr sz="28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28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An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organization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supports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UML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learning</a:t>
            </a:r>
            <a:endParaRPr sz="2800" dirty="0">
              <a:latin typeface="Tahoma"/>
              <a:cs typeface="Tahoma"/>
            </a:endParaRPr>
          </a:p>
          <a:p>
            <a:pPr marL="355600" marR="819150" indent="-342900">
              <a:lnSpc>
                <a:spcPts val="3020"/>
              </a:lnSpc>
              <a:spcBef>
                <a:spcPts val="720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Systems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can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be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added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gradually,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one </a:t>
            </a:r>
            <a:r>
              <a:rPr sz="2800" dirty="0">
                <a:latin typeface="Tahoma"/>
                <a:cs typeface="Tahoma"/>
              </a:rPr>
              <a:t>subsystem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at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time</a:t>
            </a:r>
            <a:endParaRPr sz="2800" dirty="0">
              <a:latin typeface="Tahoma"/>
              <a:cs typeface="Tahoma"/>
            </a:endParaRPr>
          </a:p>
          <a:p>
            <a:pPr marL="355600" marR="313055" indent="-342900">
              <a:lnSpc>
                <a:spcPts val="3020"/>
              </a:lnSpc>
              <a:spcBef>
                <a:spcPts val="680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Reuse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of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previously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written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software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is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a </a:t>
            </a:r>
            <a:r>
              <a:rPr sz="2800" spc="-10" dirty="0">
                <a:latin typeface="Tahoma"/>
                <a:cs typeface="Tahoma"/>
              </a:rPr>
              <a:t>possibility</a:t>
            </a:r>
            <a:endParaRPr sz="2800" dirty="0">
              <a:latin typeface="Tahoma"/>
              <a:cs typeface="Tahoma"/>
            </a:endParaRPr>
          </a:p>
          <a:p>
            <a:pPr marL="355600" marR="986790" indent="-342900">
              <a:lnSpc>
                <a:spcPts val="3030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It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acceptable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tackle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difficult </a:t>
            </a:r>
            <a:r>
              <a:rPr sz="2800" dirty="0">
                <a:latin typeface="Tahoma"/>
                <a:cs typeface="Tahoma"/>
              </a:rPr>
              <a:t>problems</a:t>
            </a:r>
            <a:r>
              <a:rPr sz="2800" spc="-114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first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9431E-C533-2A3C-0A46-88773D730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2BF2F20-77F3-452E-B1C1-A63E01206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695762"/>
              </p:ext>
            </p:extLst>
          </p:nvPr>
        </p:nvGraphicFramePr>
        <p:xfrm>
          <a:off x="533400" y="1524000"/>
          <a:ext cx="8077200" cy="502919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9300">
                  <a:extLst>
                    <a:ext uri="{9D8B030D-6E8A-4147-A177-3AD203B41FA5}">
                      <a16:colId xmlns:a16="http://schemas.microsoft.com/office/drawing/2014/main" val="1520882222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4192133583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92643114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3924227450"/>
                    </a:ext>
                  </a:extLst>
                </a:gridCol>
              </a:tblGrid>
              <a:tr h="329783">
                <a:tc>
                  <a:txBody>
                    <a:bodyPr/>
                    <a:lstStyle/>
                    <a:p>
                      <a:r>
                        <a:rPr lang="en-US" sz="1600" b="1"/>
                        <a:t>Aspect</a:t>
                      </a:r>
                    </a:p>
                  </a:txBody>
                  <a:tcPr marL="62303" marR="62303" marT="31151" marB="31151" anchor="ctr"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Agile</a:t>
                      </a:r>
                    </a:p>
                  </a:txBody>
                  <a:tcPr marL="62303" marR="62303" marT="31151" marB="31151" anchor="ctr"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SDLC (Structured)</a:t>
                      </a:r>
                    </a:p>
                  </a:txBody>
                  <a:tcPr marL="62303" marR="62303" marT="31151" marB="31151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OOAD</a:t>
                      </a:r>
                    </a:p>
                  </a:txBody>
                  <a:tcPr marL="62303" marR="62303" marT="31151" marB="31151" anchor="ctr"/>
                </a:tc>
                <a:extLst>
                  <a:ext uri="{0D108BD9-81ED-4DB2-BD59-A6C34878D82A}">
                    <a16:rowId xmlns:a16="http://schemas.microsoft.com/office/drawing/2014/main" val="143292816"/>
                  </a:ext>
                </a:extLst>
              </a:tr>
              <a:tr h="577121">
                <a:tc>
                  <a:txBody>
                    <a:bodyPr/>
                    <a:lstStyle/>
                    <a:p>
                      <a:r>
                        <a:rPr lang="en-US" sz="1400" b="1"/>
                        <a:t>Approach</a:t>
                      </a:r>
                      <a:endParaRPr lang="en-US" sz="1400"/>
                    </a:p>
                  </a:txBody>
                  <a:tcPr marL="62303" marR="62303" marT="31151" marB="3115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Iterative, incremental</a:t>
                      </a:r>
                    </a:p>
                  </a:txBody>
                  <a:tcPr marL="62303" marR="62303" marT="31151" marB="3115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Linear, sequential</a:t>
                      </a:r>
                    </a:p>
                  </a:txBody>
                  <a:tcPr marL="62303" marR="62303" marT="31151" marB="31151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Object-oriented, iterative</a:t>
                      </a:r>
                    </a:p>
                  </a:txBody>
                  <a:tcPr marL="62303" marR="62303" marT="31151" marB="31151" anchor="ctr"/>
                </a:tc>
                <a:extLst>
                  <a:ext uri="{0D108BD9-81ED-4DB2-BD59-A6C34878D82A}">
                    <a16:rowId xmlns:a16="http://schemas.microsoft.com/office/drawing/2014/main" val="4285965329"/>
                  </a:ext>
                </a:extLst>
              </a:tr>
              <a:tr h="824459">
                <a:tc>
                  <a:txBody>
                    <a:bodyPr/>
                    <a:lstStyle/>
                    <a:p>
                      <a:r>
                        <a:rPr lang="en-US" sz="1400" b="1"/>
                        <a:t>Flexibility</a:t>
                      </a:r>
                      <a:endParaRPr lang="en-US" sz="1400"/>
                    </a:p>
                  </a:txBody>
                  <a:tcPr marL="62303" marR="62303" marT="31151" marB="3115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adaptability to change</a:t>
                      </a:r>
                    </a:p>
                  </a:txBody>
                  <a:tcPr marL="62303" marR="62303" marT="31151" marB="3115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Low adaptability to change</a:t>
                      </a:r>
                    </a:p>
                  </a:txBody>
                  <a:tcPr marL="62303" marR="62303" marT="31151" marB="3115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Moderate flexibility, but more upfront design</a:t>
                      </a:r>
                    </a:p>
                  </a:txBody>
                  <a:tcPr marL="62303" marR="62303" marT="31151" marB="31151" anchor="ctr"/>
                </a:tc>
                <a:extLst>
                  <a:ext uri="{0D108BD9-81ED-4DB2-BD59-A6C34878D82A}">
                    <a16:rowId xmlns:a16="http://schemas.microsoft.com/office/drawing/2014/main" val="1195498993"/>
                  </a:ext>
                </a:extLst>
              </a:tr>
              <a:tr h="824459">
                <a:tc>
                  <a:txBody>
                    <a:bodyPr/>
                    <a:lstStyle/>
                    <a:p>
                      <a:r>
                        <a:rPr lang="en-US" sz="1400" b="1"/>
                        <a:t>Documentation</a:t>
                      </a:r>
                      <a:endParaRPr lang="en-US" sz="1400"/>
                    </a:p>
                  </a:txBody>
                  <a:tcPr marL="62303" marR="62303" marT="31151" marB="31151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Minimal, just enough</a:t>
                      </a:r>
                    </a:p>
                  </a:txBody>
                  <a:tcPr marL="62303" marR="62303" marT="31151" marB="3115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Extensive documentation for each phase</a:t>
                      </a:r>
                    </a:p>
                  </a:txBody>
                  <a:tcPr marL="62303" marR="62303" marT="31151" marB="3115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Detailed modeling using UML</a:t>
                      </a:r>
                    </a:p>
                  </a:txBody>
                  <a:tcPr marL="62303" marR="62303" marT="31151" marB="31151" anchor="ctr"/>
                </a:tc>
                <a:extLst>
                  <a:ext uri="{0D108BD9-81ED-4DB2-BD59-A6C34878D82A}">
                    <a16:rowId xmlns:a16="http://schemas.microsoft.com/office/drawing/2014/main" val="1304232013"/>
                  </a:ext>
                </a:extLst>
              </a:tr>
              <a:tr h="824459">
                <a:tc>
                  <a:txBody>
                    <a:bodyPr/>
                    <a:lstStyle/>
                    <a:p>
                      <a:r>
                        <a:rPr lang="en-US" sz="1400" b="1"/>
                        <a:t>Team Involvement</a:t>
                      </a:r>
                      <a:endParaRPr lang="en-US" sz="1400"/>
                    </a:p>
                  </a:txBody>
                  <a:tcPr marL="62303" marR="62303" marT="31151" marB="3115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collaboration, cross-functional</a:t>
                      </a:r>
                    </a:p>
                  </a:txBody>
                  <a:tcPr marL="62303" marR="62303" marT="31151" marB="3115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Silos between phases (analysts, developers)</a:t>
                      </a:r>
                    </a:p>
                  </a:txBody>
                  <a:tcPr marL="62303" marR="62303" marT="31151" marB="3115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Collaboration, but more focused on modeling</a:t>
                      </a:r>
                    </a:p>
                  </a:txBody>
                  <a:tcPr marL="62303" marR="62303" marT="31151" marB="31151" anchor="ctr"/>
                </a:tc>
                <a:extLst>
                  <a:ext uri="{0D108BD9-81ED-4DB2-BD59-A6C34878D82A}">
                    <a16:rowId xmlns:a16="http://schemas.microsoft.com/office/drawing/2014/main" val="2155959799"/>
                  </a:ext>
                </a:extLst>
              </a:tr>
              <a:tr h="824459">
                <a:tc>
                  <a:txBody>
                    <a:bodyPr/>
                    <a:lstStyle/>
                    <a:p>
                      <a:r>
                        <a:rPr lang="en-US" sz="1400" b="1"/>
                        <a:t>Development Process</a:t>
                      </a:r>
                      <a:endParaRPr lang="en-US" sz="1400"/>
                    </a:p>
                  </a:txBody>
                  <a:tcPr marL="62303" marR="62303" marT="31151" marB="3115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Short sprints with regular feedback</a:t>
                      </a:r>
                    </a:p>
                  </a:txBody>
                  <a:tcPr marL="62303" marR="62303" marT="31151" marB="3115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Clear, structured phases</a:t>
                      </a:r>
                    </a:p>
                  </a:txBody>
                  <a:tcPr marL="62303" marR="62303" marT="31151" marB="3115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Focus on designing objects and their behavior</a:t>
                      </a:r>
                    </a:p>
                  </a:txBody>
                  <a:tcPr marL="62303" marR="62303" marT="31151" marB="31151" anchor="ctr"/>
                </a:tc>
                <a:extLst>
                  <a:ext uri="{0D108BD9-81ED-4DB2-BD59-A6C34878D82A}">
                    <a16:rowId xmlns:a16="http://schemas.microsoft.com/office/drawing/2014/main" val="604054439"/>
                  </a:ext>
                </a:extLst>
              </a:tr>
              <a:tr h="824459">
                <a:tc>
                  <a:txBody>
                    <a:bodyPr/>
                    <a:lstStyle/>
                    <a:p>
                      <a:r>
                        <a:rPr lang="en-US" sz="1400" b="1"/>
                        <a:t>Best for</a:t>
                      </a:r>
                      <a:endParaRPr lang="en-US" sz="1400"/>
                    </a:p>
                  </a:txBody>
                  <a:tcPr marL="62303" marR="62303" marT="31151" marB="3115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Rapidly changing requirements</a:t>
                      </a:r>
                    </a:p>
                  </a:txBody>
                  <a:tcPr marL="62303" marR="62303" marT="31151" marB="3115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Well-defined, stable projects</a:t>
                      </a:r>
                    </a:p>
                  </a:txBody>
                  <a:tcPr marL="62303" marR="62303" marT="31151" marB="31151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Complex, long-term, scalable systems</a:t>
                      </a:r>
                    </a:p>
                  </a:txBody>
                  <a:tcPr marL="62303" marR="62303" marT="31151" marB="31151" anchor="ctr"/>
                </a:tc>
                <a:extLst>
                  <a:ext uri="{0D108BD9-81ED-4DB2-BD59-A6C34878D82A}">
                    <a16:rowId xmlns:a16="http://schemas.microsoft.com/office/drawing/2014/main" val="1996106214"/>
                  </a:ext>
                </a:extLst>
              </a:tr>
            </a:tbl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6AEB0CCA-8BDC-383C-232C-6A4ACF4E3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6263" y="19542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7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4756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76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105"/>
              </a:spcBef>
            </a:pPr>
            <a:r>
              <a:rPr dirty="0"/>
              <a:t>Open</a:t>
            </a:r>
            <a:r>
              <a:rPr spc="-30" dirty="0"/>
              <a:t> </a:t>
            </a:r>
            <a:r>
              <a:rPr dirty="0"/>
              <a:t>Source</a:t>
            </a:r>
            <a:r>
              <a:rPr spc="-35" dirty="0"/>
              <a:t> </a:t>
            </a:r>
            <a:r>
              <a:rPr spc="-10" dirty="0"/>
              <a:t>Software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733753"/>
            <a:ext cx="8179434" cy="475805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4330" marR="800100" indent="-342265">
              <a:lnSpc>
                <a:spcPct val="90000"/>
              </a:lnSpc>
              <a:spcBef>
                <a:spcPts val="49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An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alternative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traditional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software 	</a:t>
            </a:r>
            <a:r>
              <a:rPr sz="3200" dirty="0">
                <a:latin typeface="Tahoma"/>
                <a:cs typeface="Tahoma"/>
              </a:rPr>
              <a:t>development</a:t>
            </a:r>
            <a:r>
              <a:rPr sz="3200" spc="-9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where</a:t>
            </a:r>
            <a:r>
              <a:rPr sz="3200" spc="-10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proprietary</a:t>
            </a:r>
            <a:r>
              <a:rPr sz="3200" spc="-10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code</a:t>
            </a:r>
            <a:r>
              <a:rPr sz="3200" spc="-9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is 	</a:t>
            </a:r>
            <a:r>
              <a:rPr sz="3200" dirty="0">
                <a:latin typeface="Tahoma"/>
                <a:cs typeface="Tahoma"/>
              </a:rPr>
              <a:t>hidden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from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users</a:t>
            </a:r>
            <a:endParaRPr sz="3200">
              <a:latin typeface="Tahoma"/>
              <a:cs typeface="Tahoma"/>
            </a:endParaRPr>
          </a:p>
          <a:p>
            <a:pPr marL="354330" marR="239395" indent="-342265">
              <a:lnSpc>
                <a:spcPts val="3460"/>
              </a:lnSpc>
              <a:spcBef>
                <a:spcPts val="81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Open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source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software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is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free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10" dirty="0">
                <a:latin typeface="Tahoma"/>
                <a:cs typeface="Tahoma"/>
              </a:rPr>
              <a:t> distribute, 	</a:t>
            </a:r>
            <a:r>
              <a:rPr sz="3200" dirty="0">
                <a:latin typeface="Tahoma"/>
                <a:cs typeface="Tahoma"/>
              </a:rPr>
              <a:t>share,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and </a:t>
            </a:r>
            <a:r>
              <a:rPr sz="3200" spc="-10" dirty="0">
                <a:latin typeface="Tahoma"/>
                <a:cs typeface="Tahoma"/>
              </a:rPr>
              <a:t>modify</a:t>
            </a:r>
            <a:endParaRPr sz="3200">
              <a:latin typeface="Tahoma"/>
              <a:cs typeface="Tahoma"/>
            </a:endParaRPr>
          </a:p>
          <a:p>
            <a:pPr marL="355600" marR="330835" indent="-343535">
              <a:lnSpc>
                <a:spcPct val="90000"/>
              </a:lnSpc>
              <a:spcBef>
                <a:spcPts val="71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Characterized</a:t>
            </a:r>
            <a:r>
              <a:rPr sz="3200" spc="-9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as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philosophy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rather</a:t>
            </a:r>
            <a:r>
              <a:rPr sz="3200" spc="-9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than </a:t>
            </a:r>
            <a:r>
              <a:rPr sz="3200" dirty="0">
                <a:latin typeface="Tahoma"/>
                <a:cs typeface="Tahoma"/>
              </a:rPr>
              <a:t>simply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process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creating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new </a:t>
            </a:r>
            <a:r>
              <a:rPr sz="3200" spc="-10" dirty="0">
                <a:latin typeface="Tahoma"/>
                <a:cs typeface="Tahoma"/>
              </a:rPr>
              <a:t>software</a:t>
            </a:r>
            <a:endParaRPr sz="3200">
              <a:latin typeface="Tahoma"/>
              <a:cs typeface="Tahoma"/>
            </a:endParaRPr>
          </a:p>
          <a:p>
            <a:pPr marL="355600" marR="5080" indent="-343535">
              <a:lnSpc>
                <a:spcPts val="3460"/>
              </a:lnSpc>
              <a:spcBef>
                <a:spcPts val="81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Examples:</a:t>
            </a:r>
            <a:r>
              <a:rPr sz="3200" spc="-1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Linux</a:t>
            </a:r>
            <a:r>
              <a:rPr sz="3200" spc="-1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Operating</a:t>
            </a:r>
            <a:r>
              <a:rPr sz="3200" spc="-1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System,</a:t>
            </a:r>
            <a:r>
              <a:rPr sz="3200" spc="-12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Apache </a:t>
            </a:r>
            <a:r>
              <a:rPr sz="3200" dirty="0">
                <a:latin typeface="Tahoma"/>
                <a:cs typeface="Tahoma"/>
              </a:rPr>
              <a:t>Web</a:t>
            </a:r>
            <a:r>
              <a:rPr sz="3200" spc="-10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Server,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Mozilla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Firefox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77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412749"/>
            <a:ext cx="614362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Four</a:t>
            </a:r>
            <a:r>
              <a:rPr sz="4000" spc="-70" dirty="0"/>
              <a:t> </a:t>
            </a:r>
            <a:r>
              <a:rPr sz="4000" dirty="0"/>
              <a:t>Types</a:t>
            </a:r>
            <a:r>
              <a:rPr sz="4000" spc="-55" dirty="0"/>
              <a:t> </a:t>
            </a:r>
            <a:r>
              <a:rPr sz="4000" dirty="0"/>
              <a:t>of</a:t>
            </a:r>
            <a:r>
              <a:rPr sz="4000" spc="-70" dirty="0"/>
              <a:t> </a:t>
            </a:r>
            <a:r>
              <a:rPr sz="4000" dirty="0"/>
              <a:t>Open</a:t>
            </a:r>
            <a:r>
              <a:rPr sz="4000" spc="-65" dirty="0"/>
              <a:t> </a:t>
            </a:r>
            <a:r>
              <a:rPr sz="4000" spc="-10" dirty="0"/>
              <a:t>Source Communities: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261617" y="1950377"/>
            <a:ext cx="2961640" cy="236791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869"/>
              </a:spcBef>
              <a:buChar char="•"/>
              <a:tabLst>
                <a:tab pos="621665" algn="l"/>
              </a:tabLst>
            </a:pPr>
            <a:r>
              <a:rPr sz="3200" dirty="0">
                <a:latin typeface="Tahoma"/>
                <a:cs typeface="Tahoma"/>
              </a:rPr>
              <a:t>Ad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hoc</a:t>
            </a:r>
            <a:endParaRPr sz="3200">
              <a:latin typeface="Tahoma"/>
              <a:cs typeface="Tahoma"/>
            </a:endParaRPr>
          </a:p>
          <a:p>
            <a:pPr marL="621665" indent="-608965">
              <a:lnSpc>
                <a:spcPct val="100000"/>
              </a:lnSpc>
              <a:spcBef>
                <a:spcPts val="770"/>
              </a:spcBef>
              <a:buChar char="•"/>
              <a:tabLst>
                <a:tab pos="621665" algn="l"/>
              </a:tabLst>
            </a:pPr>
            <a:r>
              <a:rPr sz="3200" spc="-10" dirty="0">
                <a:latin typeface="Tahoma"/>
                <a:cs typeface="Tahoma"/>
              </a:rPr>
              <a:t>Standardized</a:t>
            </a:r>
            <a:endParaRPr sz="3200">
              <a:latin typeface="Tahoma"/>
              <a:cs typeface="Tahoma"/>
            </a:endParaRPr>
          </a:p>
          <a:p>
            <a:pPr marL="621665" indent="-608965">
              <a:lnSpc>
                <a:spcPct val="100000"/>
              </a:lnSpc>
              <a:spcBef>
                <a:spcPts val="770"/>
              </a:spcBef>
              <a:buChar char="•"/>
              <a:tabLst>
                <a:tab pos="621665" algn="l"/>
              </a:tabLst>
            </a:pPr>
            <a:r>
              <a:rPr sz="3200" spc="-10" dirty="0">
                <a:latin typeface="Tahoma"/>
                <a:cs typeface="Tahoma"/>
              </a:rPr>
              <a:t>Organized</a:t>
            </a:r>
            <a:endParaRPr sz="3200">
              <a:latin typeface="Tahoma"/>
              <a:cs typeface="Tahoma"/>
            </a:endParaRPr>
          </a:p>
          <a:p>
            <a:pPr marL="621665" indent="-608965">
              <a:lnSpc>
                <a:spcPct val="100000"/>
              </a:lnSpc>
              <a:spcBef>
                <a:spcPts val="770"/>
              </a:spcBef>
              <a:buChar char="•"/>
              <a:tabLst>
                <a:tab pos="621665" algn="l"/>
              </a:tabLst>
            </a:pPr>
            <a:r>
              <a:rPr sz="3200" spc="-10" dirty="0">
                <a:latin typeface="Tahoma"/>
                <a:cs typeface="Tahoma"/>
              </a:rPr>
              <a:t>Commercial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78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411226"/>
            <a:ext cx="75260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5016500" algn="l"/>
              </a:tabLst>
            </a:pPr>
            <a:r>
              <a:rPr sz="3600" dirty="0"/>
              <a:t>Six</a:t>
            </a:r>
            <a:r>
              <a:rPr sz="3600" spc="-95" dirty="0"/>
              <a:t> </a:t>
            </a:r>
            <a:r>
              <a:rPr sz="3600" dirty="0"/>
              <a:t>Key</a:t>
            </a:r>
            <a:r>
              <a:rPr sz="3600" spc="-95" dirty="0"/>
              <a:t> </a:t>
            </a:r>
            <a:r>
              <a:rPr sz="3600" dirty="0"/>
              <a:t>Dimensions</a:t>
            </a:r>
            <a:r>
              <a:rPr sz="3600" spc="-70" dirty="0"/>
              <a:t> </a:t>
            </a:r>
            <a:r>
              <a:rPr sz="3600" spc="-20" dirty="0"/>
              <a:t>that</a:t>
            </a:r>
            <a:r>
              <a:rPr sz="3600" dirty="0"/>
              <a:t>	</a:t>
            </a:r>
            <a:r>
              <a:rPr sz="3600" spc="-10" dirty="0"/>
              <a:t>Differentiate </a:t>
            </a:r>
            <a:r>
              <a:rPr sz="3600" dirty="0"/>
              <a:t>Open</a:t>
            </a:r>
            <a:r>
              <a:rPr sz="3600" spc="-110" dirty="0"/>
              <a:t> </a:t>
            </a:r>
            <a:r>
              <a:rPr sz="3600" dirty="0"/>
              <a:t>Source</a:t>
            </a:r>
            <a:r>
              <a:rPr sz="3600" spc="-100" dirty="0"/>
              <a:t> </a:t>
            </a:r>
            <a:r>
              <a:rPr sz="3600" spc="-10" dirty="0"/>
              <a:t>Communities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261617" y="1950377"/>
            <a:ext cx="3744595" cy="353822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869"/>
              </a:spcBef>
              <a:buChar char="•"/>
              <a:tabLst>
                <a:tab pos="621665" algn="l"/>
              </a:tabLst>
            </a:pPr>
            <a:r>
              <a:rPr sz="3200" dirty="0">
                <a:latin typeface="Tahoma"/>
                <a:cs typeface="Tahoma"/>
              </a:rPr>
              <a:t>General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structure</a:t>
            </a:r>
            <a:endParaRPr sz="3200">
              <a:latin typeface="Tahoma"/>
              <a:cs typeface="Tahoma"/>
            </a:endParaRPr>
          </a:p>
          <a:p>
            <a:pPr marL="621665" indent="-608965">
              <a:lnSpc>
                <a:spcPct val="100000"/>
              </a:lnSpc>
              <a:spcBef>
                <a:spcPts val="770"/>
              </a:spcBef>
              <a:buChar char="•"/>
              <a:tabLst>
                <a:tab pos="621665" algn="l"/>
              </a:tabLst>
            </a:pPr>
            <a:r>
              <a:rPr sz="3200" spc="-10" dirty="0">
                <a:latin typeface="Tahoma"/>
                <a:cs typeface="Tahoma"/>
              </a:rPr>
              <a:t>Environment</a:t>
            </a:r>
            <a:endParaRPr sz="3200">
              <a:latin typeface="Tahoma"/>
              <a:cs typeface="Tahoma"/>
            </a:endParaRPr>
          </a:p>
          <a:p>
            <a:pPr marL="621665" indent="-608965">
              <a:lnSpc>
                <a:spcPct val="100000"/>
              </a:lnSpc>
              <a:spcBef>
                <a:spcPts val="770"/>
              </a:spcBef>
              <a:buChar char="•"/>
              <a:tabLst>
                <a:tab pos="621665" algn="l"/>
              </a:tabLst>
            </a:pPr>
            <a:r>
              <a:rPr sz="3200" spc="-10" dirty="0">
                <a:latin typeface="Tahoma"/>
                <a:cs typeface="Tahoma"/>
              </a:rPr>
              <a:t>Goals</a:t>
            </a:r>
            <a:endParaRPr sz="3200">
              <a:latin typeface="Tahoma"/>
              <a:cs typeface="Tahoma"/>
            </a:endParaRPr>
          </a:p>
          <a:p>
            <a:pPr marL="621665" indent="-608965">
              <a:lnSpc>
                <a:spcPct val="100000"/>
              </a:lnSpc>
              <a:spcBef>
                <a:spcPts val="770"/>
              </a:spcBef>
              <a:buChar char="•"/>
              <a:tabLst>
                <a:tab pos="621665" algn="l"/>
              </a:tabLst>
            </a:pPr>
            <a:r>
              <a:rPr sz="3200" spc="-10" dirty="0">
                <a:latin typeface="Tahoma"/>
                <a:cs typeface="Tahoma"/>
              </a:rPr>
              <a:t>Methods</a:t>
            </a:r>
            <a:endParaRPr sz="3200">
              <a:latin typeface="Tahoma"/>
              <a:cs typeface="Tahoma"/>
            </a:endParaRPr>
          </a:p>
          <a:p>
            <a:pPr marL="621665" indent="-608965">
              <a:lnSpc>
                <a:spcPct val="100000"/>
              </a:lnSpc>
              <a:spcBef>
                <a:spcPts val="770"/>
              </a:spcBef>
              <a:buChar char="•"/>
              <a:tabLst>
                <a:tab pos="621665" algn="l"/>
              </a:tabLst>
            </a:pPr>
            <a:r>
              <a:rPr sz="3200" dirty="0">
                <a:latin typeface="Tahoma"/>
                <a:cs typeface="Tahoma"/>
              </a:rPr>
              <a:t>User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community</a:t>
            </a:r>
            <a:endParaRPr sz="3200">
              <a:latin typeface="Tahoma"/>
              <a:cs typeface="Tahoma"/>
            </a:endParaRPr>
          </a:p>
          <a:p>
            <a:pPr marL="621665" indent="-608965">
              <a:lnSpc>
                <a:spcPct val="100000"/>
              </a:lnSpc>
              <a:spcBef>
                <a:spcPts val="765"/>
              </a:spcBef>
              <a:buChar char="•"/>
              <a:tabLst>
                <a:tab pos="621665" algn="l"/>
              </a:tabLst>
            </a:pPr>
            <a:r>
              <a:rPr sz="3200" spc="-10" dirty="0">
                <a:latin typeface="Tahoma"/>
                <a:cs typeface="Tahoma"/>
              </a:rPr>
              <a:t>Licensing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79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412749"/>
            <a:ext cx="7496809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Reasons</a:t>
            </a:r>
            <a:r>
              <a:rPr sz="4000" spc="-110" dirty="0"/>
              <a:t> </a:t>
            </a:r>
            <a:r>
              <a:rPr sz="4000" dirty="0"/>
              <a:t>for</a:t>
            </a:r>
            <a:r>
              <a:rPr sz="4000" spc="-95" dirty="0"/>
              <a:t> </a:t>
            </a:r>
            <a:r>
              <a:rPr sz="4000" dirty="0"/>
              <a:t>Participating</a:t>
            </a:r>
            <a:r>
              <a:rPr sz="4000" spc="-105" dirty="0"/>
              <a:t> </a:t>
            </a:r>
            <a:r>
              <a:rPr sz="4000" dirty="0"/>
              <a:t>in</a:t>
            </a:r>
            <a:r>
              <a:rPr sz="4000" spc="-105" dirty="0"/>
              <a:t> </a:t>
            </a:r>
            <a:r>
              <a:rPr sz="4000" spc="-20" dirty="0"/>
              <a:t>Open </a:t>
            </a:r>
            <a:r>
              <a:rPr sz="4000" dirty="0"/>
              <a:t>Source</a:t>
            </a:r>
            <a:r>
              <a:rPr sz="4000" spc="-60" dirty="0"/>
              <a:t> </a:t>
            </a:r>
            <a:r>
              <a:rPr sz="4000" spc="-10" dirty="0"/>
              <a:t>Communities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261617" y="2047697"/>
            <a:ext cx="7265670" cy="3733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1303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Rapidity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with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which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new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software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can </a:t>
            </a:r>
            <a:r>
              <a:rPr sz="3200" dirty="0">
                <a:latin typeface="Tahoma"/>
                <a:cs typeface="Tahoma"/>
              </a:rPr>
              <a:t>be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developed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and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tested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Faster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have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committed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group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of </a:t>
            </a:r>
            <a:r>
              <a:rPr sz="3200" dirty="0">
                <a:latin typeface="Tahoma"/>
                <a:cs typeface="Tahoma"/>
              </a:rPr>
              <a:t>experts</a:t>
            </a:r>
            <a:r>
              <a:rPr sz="3200" spc="-9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develop,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test,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and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debug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code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This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fosters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creativity</a:t>
            </a:r>
            <a:endParaRPr sz="3200">
              <a:latin typeface="Tahoma"/>
              <a:cs typeface="Tahoma"/>
            </a:endParaRPr>
          </a:p>
          <a:p>
            <a:pPr marL="355600" marR="788035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Have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many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good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minds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work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with </a:t>
            </a:r>
            <a:r>
              <a:rPr sz="3200" dirty="0">
                <a:latin typeface="Tahoma"/>
                <a:cs typeface="Tahoma"/>
              </a:rPr>
              <a:t>innovative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applications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80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412749"/>
            <a:ext cx="7496809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Reasons</a:t>
            </a:r>
            <a:r>
              <a:rPr sz="4000" spc="-110" dirty="0"/>
              <a:t> </a:t>
            </a:r>
            <a:r>
              <a:rPr sz="4000" dirty="0"/>
              <a:t>for</a:t>
            </a:r>
            <a:r>
              <a:rPr sz="4000" spc="-95" dirty="0"/>
              <a:t> </a:t>
            </a:r>
            <a:r>
              <a:rPr sz="4000" dirty="0"/>
              <a:t>Participating</a:t>
            </a:r>
            <a:r>
              <a:rPr sz="4000" spc="-105" dirty="0"/>
              <a:t> </a:t>
            </a:r>
            <a:r>
              <a:rPr sz="4000" dirty="0"/>
              <a:t>in</a:t>
            </a:r>
            <a:r>
              <a:rPr sz="4000" spc="-105" dirty="0"/>
              <a:t> </a:t>
            </a:r>
            <a:r>
              <a:rPr sz="4000" spc="-20" dirty="0"/>
              <a:t>Open </a:t>
            </a:r>
            <a:r>
              <a:rPr sz="4000" dirty="0"/>
              <a:t>Source</a:t>
            </a:r>
            <a:r>
              <a:rPr sz="4000" spc="-60" dirty="0"/>
              <a:t> </a:t>
            </a:r>
            <a:r>
              <a:rPr sz="4000" spc="-10" dirty="0"/>
              <a:t>Communities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080135" indent="-342265">
              <a:lnSpc>
                <a:spcPct val="100000"/>
              </a:lnSpc>
              <a:spcBef>
                <a:spcPts val="869"/>
              </a:spcBef>
              <a:buChar char="•"/>
              <a:tabLst>
                <a:tab pos="1080770" algn="l"/>
              </a:tabLst>
            </a:pPr>
            <a:r>
              <a:rPr dirty="0"/>
              <a:t>Potential</a:t>
            </a:r>
            <a:r>
              <a:rPr spc="-6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reduce</a:t>
            </a:r>
            <a:r>
              <a:rPr spc="-80" dirty="0"/>
              <a:t> </a:t>
            </a:r>
            <a:r>
              <a:rPr dirty="0"/>
              <a:t>development</a:t>
            </a:r>
            <a:r>
              <a:rPr spc="-90" dirty="0"/>
              <a:t> </a:t>
            </a:r>
            <a:r>
              <a:rPr spc="-10" dirty="0"/>
              <a:t>costs</a:t>
            </a:r>
          </a:p>
          <a:p>
            <a:pPr marL="108013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1080770" algn="l"/>
              </a:tabLst>
            </a:pPr>
            <a:r>
              <a:rPr dirty="0"/>
              <a:t>Bolster</a:t>
            </a:r>
            <a:r>
              <a:rPr spc="-60" dirty="0"/>
              <a:t> </a:t>
            </a:r>
            <a:r>
              <a:rPr dirty="0"/>
              <a:t>their</a:t>
            </a:r>
            <a:r>
              <a:rPr spc="-55" dirty="0"/>
              <a:t> </a:t>
            </a:r>
            <a:r>
              <a:rPr spc="-10" dirty="0"/>
              <a:t>self-image</a:t>
            </a:r>
          </a:p>
          <a:p>
            <a:pPr marL="1080770" marR="508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1081405" algn="l"/>
              </a:tabLst>
            </a:pPr>
            <a:r>
              <a:rPr dirty="0"/>
              <a:t>Contribute</a:t>
            </a:r>
            <a:r>
              <a:rPr spc="-130" dirty="0"/>
              <a:t> </a:t>
            </a:r>
            <a:r>
              <a:rPr dirty="0"/>
              <a:t>something</a:t>
            </a:r>
            <a:r>
              <a:rPr spc="-135" dirty="0"/>
              <a:t> </a:t>
            </a:r>
            <a:r>
              <a:rPr dirty="0"/>
              <a:t>worthwhile</a:t>
            </a:r>
            <a:r>
              <a:rPr spc="-135" dirty="0"/>
              <a:t> </a:t>
            </a:r>
            <a:r>
              <a:rPr dirty="0"/>
              <a:t>to</a:t>
            </a:r>
            <a:r>
              <a:rPr spc="-135" dirty="0"/>
              <a:t> </a:t>
            </a:r>
            <a:r>
              <a:rPr spc="-25" dirty="0"/>
              <a:t>the </a:t>
            </a:r>
            <a:r>
              <a:rPr dirty="0"/>
              <a:t>software</a:t>
            </a:r>
            <a:r>
              <a:rPr spc="-130" dirty="0"/>
              <a:t> </a:t>
            </a:r>
            <a:r>
              <a:rPr dirty="0"/>
              <a:t>development</a:t>
            </a:r>
            <a:r>
              <a:rPr spc="-125" dirty="0"/>
              <a:t> </a:t>
            </a:r>
            <a:r>
              <a:rPr spc="-10" dirty="0"/>
              <a:t>community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81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412749"/>
            <a:ext cx="6788784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Open</a:t>
            </a:r>
            <a:r>
              <a:rPr sz="4000" spc="-100" dirty="0"/>
              <a:t> </a:t>
            </a:r>
            <a:r>
              <a:rPr sz="4000" dirty="0"/>
              <a:t>Source</a:t>
            </a:r>
            <a:r>
              <a:rPr sz="4000" spc="-95" dirty="0"/>
              <a:t> </a:t>
            </a:r>
            <a:r>
              <a:rPr sz="4000" dirty="0"/>
              <a:t>Contribution</a:t>
            </a:r>
            <a:r>
              <a:rPr sz="4000" spc="-95" dirty="0"/>
              <a:t> </a:t>
            </a:r>
            <a:r>
              <a:rPr sz="4000" spc="-25" dirty="0"/>
              <a:t>and </a:t>
            </a:r>
            <a:r>
              <a:rPr sz="4000" spc="-10" dirty="0"/>
              <a:t>Differentiation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261617" y="1998929"/>
            <a:ext cx="7533640" cy="3624579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5600" marR="481330" indent="-342900">
              <a:lnSpc>
                <a:spcPct val="90000"/>
              </a:lnSpc>
              <a:spcBef>
                <a:spcPts val="49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Contributions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open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community </a:t>
            </a:r>
            <a:r>
              <a:rPr sz="3200" dirty="0">
                <a:latin typeface="Tahoma"/>
                <a:cs typeface="Tahoma"/>
              </a:rPr>
              <a:t>and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differentiation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from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open </a:t>
            </a:r>
            <a:r>
              <a:rPr sz="3200" dirty="0">
                <a:latin typeface="Tahoma"/>
                <a:cs typeface="Tahoma"/>
              </a:rPr>
              <a:t>community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are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for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following reasons:</a:t>
            </a:r>
            <a:endParaRPr sz="32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34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spc="-20" dirty="0">
                <a:latin typeface="Tahoma"/>
                <a:cs typeface="Tahoma"/>
              </a:rPr>
              <a:t>Cost</a:t>
            </a:r>
            <a:endParaRPr sz="28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335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Managing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resources</a:t>
            </a:r>
            <a:endParaRPr sz="2800">
              <a:latin typeface="Tahoma"/>
              <a:cs typeface="Tahoma"/>
            </a:endParaRPr>
          </a:p>
          <a:p>
            <a:pPr marL="756285" marR="5080" lvl="1" indent="-287020">
              <a:lnSpc>
                <a:spcPts val="3020"/>
              </a:lnSpc>
              <a:spcBef>
                <a:spcPts val="72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Time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it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takes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bring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new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product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the </a:t>
            </a:r>
            <a:r>
              <a:rPr sz="2800" spc="-10" dirty="0">
                <a:latin typeface="Tahoma"/>
                <a:cs typeface="Tahoma"/>
              </a:rPr>
              <a:t>market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82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412749"/>
            <a:ext cx="736092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Reasons</a:t>
            </a:r>
            <a:r>
              <a:rPr sz="4000" spc="-125" dirty="0"/>
              <a:t> </a:t>
            </a:r>
            <a:r>
              <a:rPr sz="4000" dirty="0"/>
              <a:t>for</a:t>
            </a:r>
            <a:r>
              <a:rPr sz="4000" spc="-110" dirty="0"/>
              <a:t> </a:t>
            </a:r>
            <a:r>
              <a:rPr sz="4000" dirty="0"/>
              <a:t>Analyst</a:t>
            </a:r>
            <a:r>
              <a:rPr sz="4000" spc="-125" dirty="0"/>
              <a:t> </a:t>
            </a:r>
            <a:r>
              <a:rPr sz="4000" spc="-10" dirty="0"/>
              <a:t>Participation </a:t>
            </a:r>
            <a:r>
              <a:rPr sz="4000" dirty="0"/>
              <a:t>in</a:t>
            </a:r>
            <a:r>
              <a:rPr sz="4000" spc="-20" dirty="0"/>
              <a:t> </a:t>
            </a:r>
            <a:r>
              <a:rPr sz="4000" dirty="0"/>
              <a:t>the</a:t>
            </a:r>
            <a:r>
              <a:rPr sz="4000" spc="-20" dirty="0"/>
              <a:t> </a:t>
            </a:r>
            <a:r>
              <a:rPr sz="4000" dirty="0"/>
              <a:t>Open</a:t>
            </a:r>
            <a:r>
              <a:rPr sz="4000" spc="-40" dirty="0"/>
              <a:t> </a:t>
            </a:r>
            <a:r>
              <a:rPr sz="4000" dirty="0"/>
              <a:t>Source</a:t>
            </a:r>
            <a:r>
              <a:rPr sz="4000" spc="-20" dirty="0"/>
              <a:t> </a:t>
            </a:r>
            <a:r>
              <a:rPr sz="4000" spc="-10" dirty="0"/>
              <a:t>Community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261617" y="1950377"/>
            <a:ext cx="7216140" cy="389318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9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Curiosity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about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software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benefits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Achieve</a:t>
            </a:r>
            <a:r>
              <a:rPr sz="3200" spc="-1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collective</a:t>
            </a:r>
            <a:r>
              <a:rPr sz="3200" spc="-15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design</a:t>
            </a:r>
            <a:endParaRPr sz="3200">
              <a:latin typeface="Tahoma"/>
              <a:cs typeface="Tahom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8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Incorporate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open</a:t>
            </a:r>
            <a:r>
              <a:rPr sz="2800" spc="-11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source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software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design into:</a:t>
            </a:r>
            <a:endParaRPr sz="2800">
              <a:latin typeface="Tahoma"/>
              <a:cs typeface="Tahoma"/>
            </a:endParaRPr>
          </a:p>
          <a:p>
            <a:pPr marL="1155065" lvl="2" indent="-227965">
              <a:lnSpc>
                <a:spcPct val="100000"/>
              </a:lnSpc>
              <a:spcBef>
                <a:spcPts val="580"/>
              </a:spcBef>
              <a:buClr>
                <a:srgbClr val="97867C"/>
              </a:buClr>
              <a:buChar char="•"/>
              <a:tabLst>
                <a:tab pos="1155065" algn="l"/>
              </a:tabLst>
            </a:pPr>
            <a:r>
              <a:rPr sz="2400" dirty="0">
                <a:latin typeface="Tahoma"/>
                <a:cs typeface="Tahoma"/>
              </a:rPr>
              <a:t>Proprietary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products</a:t>
            </a:r>
            <a:endParaRPr sz="2400">
              <a:latin typeface="Tahoma"/>
              <a:cs typeface="Tahoma"/>
            </a:endParaRPr>
          </a:p>
          <a:p>
            <a:pPr marL="1155065" lvl="2" indent="-227965">
              <a:lnSpc>
                <a:spcPct val="100000"/>
              </a:lnSpc>
              <a:spcBef>
                <a:spcPts val="575"/>
              </a:spcBef>
              <a:buClr>
                <a:srgbClr val="97867C"/>
              </a:buClr>
              <a:buChar char="•"/>
              <a:tabLst>
                <a:tab pos="1155065" algn="l"/>
              </a:tabLst>
            </a:pPr>
            <a:r>
              <a:rPr sz="2400" spc="-10" dirty="0">
                <a:latin typeface="Tahoma"/>
                <a:cs typeface="Tahoma"/>
              </a:rPr>
              <a:t>Processes</a:t>
            </a:r>
            <a:endParaRPr sz="2400">
              <a:latin typeface="Tahoma"/>
              <a:cs typeface="Tahoma"/>
            </a:endParaRPr>
          </a:p>
          <a:p>
            <a:pPr marL="1155065" lvl="2" indent="-227965">
              <a:lnSpc>
                <a:spcPct val="100000"/>
              </a:lnSpc>
              <a:spcBef>
                <a:spcPts val="575"/>
              </a:spcBef>
              <a:buClr>
                <a:srgbClr val="97867C"/>
              </a:buClr>
              <a:buChar char="•"/>
              <a:tabLst>
                <a:tab pos="1155065" algn="l"/>
              </a:tabLst>
            </a:pPr>
            <a:r>
              <a:rPr sz="2400" spc="-10" dirty="0">
                <a:latin typeface="Tahoma"/>
                <a:cs typeface="Tahoma"/>
              </a:rPr>
              <a:t>Knowledge</a:t>
            </a:r>
            <a:endParaRPr sz="2400">
              <a:latin typeface="Tahoma"/>
              <a:cs typeface="Tahoma"/>
            </a:endParaRPr>
          </a:p>
          <a:p>
            <a:pPr marL="1155065" lvl="2" indent="-227965">
              <a:lnSpc>
                <a:spcPct val="100000"/>
              </a:lnSpc>
              <a:spcBef>
                <a:spcPts val="580"/>
              </a:spcBef>
              <a:buClr>
                <a:srgbClr val="97867C"/>
              </a:buClr>
              <a:buChar char="•"/>
              <a:tabLst>
                <a:tab pos="1155065" algn="l"/>
              </a:tabLst>
            </a:pPr>
            <a:r>
              <a:rPr sz="2400" dirty="0">
                <a:latin typeface="Tahoma"/>
                <a:cs typeface="Tahoma"/>
              </a:rPr>
              <a:t>IT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artifacts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83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105"/>
              </a:spcBef>
            </a:pPr>
            <a:r>
              <a:rPr dirty="0"/>
              <a:t>Collective</a:t>
            </a:r>
            <a:r>
              <a:rPr spc="-100" dirty="0"/>
              <a:t> </a:t>
            </a:r>
            <a:r>
              <a:rPr spc="-10" dirty="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1617" y="2047697"/>
            <a:ext cx="7244715" cy="2539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Through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process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collective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design </a:t>
            </a:r>
            <a:r>
              <a:rPr sz="3200" dirty="0">
                <a:latin typeface="Tahoma"/>
                <a:cs typeface="Tahoma"/>
              </a:rPr>
              <a:t>the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IT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artifact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is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imbued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with</a:t>
            </a:r>
            <a:endParaRPr sz="32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680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Community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and</a:t>
            </a:r>
            <a:r>
              <a:rPr sz="2800" spc="-12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organizational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structures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E11738"/>
              </a:buClr>
              <a:buChar char="•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Knowledge</a:t>
            </a:r>
            <a:endParaRPr sz="28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Clr>
                <a:srgbClr val="E11738"/>
              </a:buClr>
              <a:buChar char="•"/>
              <a:tabLst>
                <a:tab pos="756285" algn="l"/>
              </a:tabLst>
            </a:pPr>
            <a:r>
              <a:rPr sz="2800" spc="-10" dirty="0">
                <a:latin typeface="Tahoma"/>
                <a:cs typeface="Tahoma"/>
              </a:rPr>
              <a:t>Practices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84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1617" y="1970226"/>
            <a:ext cx="6636384" cy="387096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15"/>
              </a:spcBef>
              <a:buChar char="•"/>
              <a:tabLst>
                <a:tab pos="354965" algn="l"/>
              </a:tabLst>
            </a:pPr>
            <a:r>
              <a:rPr sz="2600" dirty="0">
                <a:latin typeface="Tahoma"/>
                <a:cs typeface="Tahoma"/>
              </a:rPr>
              <a:t>Information</a:t>
            </a:r>
            <a:r>
              <a:rPr sz="2600" spc="-3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is</a:t>
            </a:r>
            <a:r>
              <a:rPr sz="2600" spc="-2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a</a:t>
            </a:r>
            <a:r>
              <a:rPr sz="2600" spc="-2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key</a:t>
            </a:r>
            <a:r>
              <a:rPr sz="2600" spc="-35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resource</a:t>
            </a:r>
            <a:endParaRPr sz="2600">
              <a:latin typeface="Tahoma"/>
              <a:cs typeface="Tahoma"/>
            </a:endParaRPr>
          </a:p>
          <a:p>
            <a:pPr marL="355600" marR="5080" indent="-342900">
              <a:lnSpc>
                <a:spcPts val="2810"/>
              </a:lnSpc>
              <a:spcBef>
                <a:spcPts val="665"/>
              </a:spcBef>
              <a:buChar char="•"/>
              <a:tabLst>
                <a:tab pos="355600" algn="l"/>
              </a:tabLst>
            </a:pPr>
            <a:r>
              <a:rPr sz="2600" dirty="0">
                <a:latin typeface="Tahoma"/>
                <a:cs typeface="Tahoma"/>
              </a:rPr>
              <a:t>Integration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of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traditional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systems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with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spc="-25" dirty="0">
                <a:latin typeface="Tahoma"/>
                <a:cs typeface="Tahoma"/>
              </a:rPr>
              <a:t>new </a:t>
            </a:r>
            <a:r>
              <a:rPr sz="2600" spc="-10" dirty="0">
                <a:latin typeface="Tahoma"/>
                <a:cs typeface="Tahoma"/>
              </a:rPr>
              <a:t>technologies</a:t>
            </a:r>
            <a:endParaRPr sz="2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270"/>
              </a:spcBef>
              <a:buChar char="•"/>
              <a:tabLst>
                <a:tab pos="354965" algn="l"/>
              </a:tabLst>
            </a:pPr>
            <a:r>
              <a:rPr sz="2600" dirty="0">
                <a:latin typeface="Tahoma"/>
                <a:cs typeface="Tahoma"/>
              </a:rPr>
              <a:t>Roles</a:t>
            </a:r>
            <a:r>
              <a:rPr sz="2600" spc="-5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and</a:t>
            </a:r>
            <a:r>
              <a:rPr sz="2600" spc="-3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qualities</a:t>
            </a:r>
            <a:r>
              <a:rPr sz="2600" spc="-4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of</a:t>
            </a:r>
            <a:r>
              <a:rPr sz="2600" spc="-3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the</a:t>
            </a:r>
            <a:r>
              <a:rPr sz="2600" spc="-2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systems</a:t>
            </a:r>
            <a:r>
              <a:rPr sz="2600" spc="-25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analyst</a:t>
            </a:r>
            <a:endParaRPr sz="2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10"/>
              </a:spcBef>
              <a:buChar char="•"/>
              <a:tabLst>
                <a:tab pos="354965" algn="l"/>
              </a:tabLst>
            </a:pPr>
            <a:r>
              <a:rPr sz="2600" dirty="0">
                <a:latin typeface="Tahoma"/>
                <a:cs typeface="Tahoma"/>
              </a:rPr>
              <a:t>The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systems</a:t>
            </a:r>
            <a:r>
              <a:rPr sz="2600" spc="-2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development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life</a:t>
            </a:r>
            <a:r>
              <a:rPr sz="2600" spc="-35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cycle</a:t>
            </a:r>
            <a:endParaRPr sz="2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15"/>
              </a:spcBef>
              <a:buChar char="•"/>
              <a:tabLst>
                <a:tab pos="354965" algn="l"/>
              </a:tabLst>
            </a:pPr>
            <a:r>
              <a:rPr sz="2600" dirty="0">
                <a:latin typeface="Tahoma"/>
                <a:cs typeface="Tahoma"/>
              </a:rPr>
              <a:t>CASE</a:t>
            </a:r>
            <a:r>
              <a:rPr sz="2600" spc="-15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tools</a:t>
            </a:r>
            <a:endParaRPr sz="2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15"/>
              </a:spcBef>
              <a:buChar char="•"/>
              <a:tabLst>
                <a:tab pos="354965" algn="l"/>
              </a:tabLst>
            </a:pPr>
            <a:r>
              <a:rPr sz="2600" dirty="0">
                <a:latin typeface="Tahoma"/>
                <a:cs typeface="Tahoma"/>
              </a:rPr>
              <a:t>Agile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systems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development</a:t>
            </a:r>
            <a:endParaRPr sz="2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10"/>
              </a:spcBef>
              <a:buChar char="•"/>
              <a:tabLst>
                <a:tab pos="354965" algn="l"/>
              </a:tabLst>
            </a:pPr>
            <a:r>
              <a:rPr sz="2600" spc="-10" dirty="0">
                <a:latin typeface="Tahoma"/>
                <a:cs typeface="Tahoma"/>
              </a:rPr>
              <a:t>Object-</a:t>
            </a:r>
            <a:r>
              <a:rPr sz="2600" dirty="0">
                <a:latin typeface="Tahoma"/>
                <a:cs typeface="Tahoma"/>
              </a:rPr>
              <a:t>oriented</a:t>
            </a:r>
            <a:r>
              <a:rPr sz="2600" spc="-4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systems</a:t>
            </a:r>
            <a:r>
              <a:rPr sz="2600" spc="-5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development</a:t>
            </a:r>
            <a:endParaRPr sz="2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15"/>
              </a:spcBef>
              <a:buChar char="•"/>
              <a:tabLst>
                <a:tab pos="354965" algn="l"/>
              </a:tabLst>
            </a:pPr>
            <a:r>
              <a:rPr sz="2600" dirty="0">
                <a:latin typeface="Tahoma"/>
                <a:cs typeface="Tahoma"/>
              </a:rPr>
              <a:t>Open</a:t>
            </a:r>
            <a:r>
              <a:rPr sz="2600" spc="-3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source</a:t>
            </a:r>
            <a:r>
              <a:rPr sz="2600" spc="-20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systems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914400"/>
            <a:ext cx="7242048" cy="236372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480948" y="5097598"/>
            <a:ext cx="4271645" cy="653415"/>
            <a:chOff x="2480948" y="5097598"/>
            <a:chExt cx="4271645" cy="6534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80948" y="5097598"/>
              <a:ext cx="4271324" cy="2419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18687" y="5239511"/>
              <a:ext cx="2948178" cy="51128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461641" y="5030800"/>
            <a:ext cx="4304030" cy="570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145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Copyright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©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2014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Pearson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Education,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Inc.</a:t>
            </a:r>
            <a:endParaRPr sz="1800">
              <a:latin typeface="Tahoma"/>
              <a:cs typeface="Tahoma"/>
            </a:endParaRPr>
          </a:p>
          <a:p>
            <a:pPr marL="142240" algn="ctr">
              <a:lnSpc>
                <a:spcPts val="2145"/>
              </a:lnSpc>
            </a:pPr>
            <a:r>
              <a:rPr sz="1800" dirty="0">
                <a:latin typeface="Tahoma"/>
                <a:cs typeface="Tahoma"/>
              </a:rPr>
              <a:t>Publishing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as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Prentice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Hall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1-</a:t>
            </a:r>
            <a:r>
              <a:rPr spc="-35" dirty="0"/>
              <a:t>85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</TotalTime>
  <Words>2773</Words>
  <Application>Microsoft Office PowerPoint</Application>
  <PresentationFormat>On-screen Show (4:3)</PresentationFormat>
  <Paragraphs>579</Paragraphs>
  <Slides>85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3" baseType="lpstr">
      <vt:lpstr>Arial</vt:lpstr>
      <vt:lpstr>Arial MT</vt:lpstr>
      <vt:lpstr>Calibri</vt:lpstr>
      <vt:lpstr>Tahoma</vt:lpstr>
      <vt:lpstr>Times New Roman</vt:lpstr>
      <vt:lpstr>Verdana</vt:lpstr>
      <vt:lpstr>Wingdings</vt:lpstr>
      <vt:lpstr>Office Theme</vt:lpstr>
      <vt:lpstr>1</vt:lpstr>
      <vt:lpstr>Why Project Fails</vt:lpstr>
      <vt:lpstr>The Bad News</vt:lpstr>
      <vt:lpstr>Software Horror Stories</vt:lpstr>
      <vt:lpstr>PowerPoint Presentation</vt:lpstr>
      <vt:lpstr>Information—A Key Resource</vt:lpstr>
      <vt:lpstr>System</vt:lpstr>
      <vt:lpstr>PowerPoint Presentation</vt:lpstr>
      <vt:lpstr>Type of Systems</vt:lpstr>
      <vt:lpstr>Why study System Analysis Design</vt:lpstr>
      <vt:lpstr>Learning Objectives</vt:lpstr>
      <vt:lpstr>Need for Systems Analysis and Design</vt:lpstr>
      <vt:lpstr>PowerPoint Presentation</vt:lpstr>
      <vt:lpstr>What is Systems Analysis?</vt:lpstr>
      <vt:lpstr>Roles of the Systems Analyst</vt:lpstr>
      <vt:lpstr>Roles of the Systems Analyst</vt:lpstr>
      <vt:lpstr>Roles of the Systems Analyst</vt:lpstr>
      <vt:lpstr>Roles of the Systems Analyst</vt:lpstr>
      <vt:lpstr>Systems Analysts</vt:lpstr>
      <vt:lpstr>Qualities of the Systems Analyst</vt:lpstr>
      <vt:lpstr>PowerPoint Presentation</vt:lpstr>
      <vt:lpstr>Design Methodology</vt:lpstr>
      <vt:lpstr>PowerPoint Presentation</vt:lpstr>
      <vt:lpstr>The Seven Phases of the Systems Development Life Cycle (Figure 1.1)</vt:lpstr>
      <vt:lpstr>Incorporating Human-Computer Interaction (HCI) Considerations</vt:lpstr>
      <vt:lpstr>PowerPoint Presentation</vt:lpstr>
      <vt:lpstr>PowerPoint Presentation</vt:lpstr>
      <vt:lpstr>PowerPoint Presentation</vt:lpstr>
      <vt:lpstr>The primary purpose of Phase II is to understand what users need to perform their jobs. Formal process of using</vt:lpstr>
      <vt:lpstr>Activity:</vt:lpstr>
      <vt:lpstr>Determining Human Information Requirements (HCI)</vt:lpstr>
      <vt:lpstr>PowerPoint Presentation</vt:lpstr>
      <vt:lpstr>3) Analyzing System Needs</vt:lpstr>
      <vt:lpstr>3) Analyzing System Needs</vt:lpstr>
      <vt:lpstr>PowerPoint Presentation</vt:lpstr>
      <vt:lpstr>4) Designing the Recommended System</vt:lpstr>
      <vt:lpstr>4) Designing the Recommended System</vt:lpstr>
      <vt:lpstr>Deliverables:</vt:lpstr>
      <vt:lpstr>5) Developing and Documenting Software</vt:lpstr>
      <vt:lpstr>5) Developing and Documenting Software</vt:lpstr>
      <vt:lpstr>5) Developing and Documenting Software</vt:lpstr>
      <vt:lpstr>(5) Developing and Documenting Software</vt:lpstr>
      <vt:lpstr>(6) Testing and Maintaining the System</vt:lpstr>
      <vt:lpstr>(7) Implementing and Evaluating the System</vt:lpstr>
      <vt:lpstr>Some Researchers Estimate that the Amount of Time Spent on Systems Maintenance May Be as Much as 60 Percent of the Total Time Spent on Systems Projects (Figure 1.2)</vt:lpstr>
      <vt:lpstr>The Impact of Maintenance</vt:lpstr>
      <vt:lpstr>Resource Consumption over the System Life (Figure 1.3)</vt:lpstr>
      <vt:lpstr>Case Tools</vt:lpstr>
      <vt:lpstr>PowerPoint Presentation</vt:lpstr>
      <vt:lpstr>The Agile Approach</vt:lpstr>
      <vt:lpstr>PowerPoint Presentation</vt:lpstr>
      <vt:lpstr>The four values are</vt:lpstr>
      <vt:lpstr>Four Agile Resources</vt:lpstr>
      <vt:lpstr>PowerPoint Presentation</vt:lpstr>
      <vt:lpstr>Agile Project Development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Object-Oriented (O-O) Systems Analysis and Design</vt:lpstr>
      <vt:lpstr>PowerPoint Presentation</vt:lpstr>
      <vt:lpstr>Object-Oriented (O-O) Systems Analysis and Design</vt:lpstr>
      <vt:lpstr>PowerPoint Presentation</vt:lpstr>
      <vt:lpstr>Object-Oriented (O-O) Systems Analysis and Design </vt:lpstr>
      <vt:lpstr>PowerPoint Presentation</vt:lpstr>
      <vt:lpstr>PowerPoint Presentation</vt:lpstr>
      <vt:lpstr>Choosing a Method</vt:lpstr>
      <vt:lpstr>When to Use SDLC</vt:lpstr>
      <vt:lpstr>When to Use Agile</vt:lpstr>
      <vt:lpstr>When to Use Object- Oriented</vt:lpstr>
      <vt:lpstr>Difference</vt:lpstr>
      <vt:lpstr>Open Source Software</vt:lpstr>
      <vt:lpstr>Four Types of Open Source Communities:</vt:lpstr>
      <vt:lpstr>Six Key Dimensions that Differentiate Open Source Communities</vt:lpstr>
      <vt:lpstr>Reasons for Participating in Open Source Communities</vt:lpstr>
      <vt:lpstr>Reasons for Participating in Open Source Communities</vt:lpstr>
      <vt:lpstr>Open Source Contribution and Differentiation</vt:lpstr>
      <vt:lpstr>Reasons for Analyst Participation in the Open Source Community</vt:lpstr>
      <vt:lpstr>Collective Design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cp:lastModifiedBy>B2-906 Clss</cp:lastModifiedBy>
  <cp:revision>13</cp:revision>
  <dcterms:created xsi:type="dcterms:W3CDTF">2025-07-24T05:56:26Z</dcterms:created>
  <dcterms:modified xsi:type="dcterms:W3CDTF">2025-07-28T04:24:23Z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2023-07-31T00:00:00Z</vt:filetime>
  </property>
  <property fmtid="{D5CDD505-2E9C-101B-9397-08002B2CF9AE}" pid="3" name="LastSaved">
    <vt:filetime>2025-07-24T00:00:00Z</vt:filetime>
  </property>
  <property fmtid="{D5CDD505-2E9C-101B-9397-08002B2CF9AE}" pid="4" name="Producer">
    <vt:lpwstr>KamiHQ.com - document viewer and editor for the cloud 1.0.1 </vt:lpwstr>
  </property>
</Properties>
</file>